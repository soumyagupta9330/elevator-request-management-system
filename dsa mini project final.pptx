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6" r:id="rId24"/>
    <p:sldId id="275" r:id="rId25"/>
  </p:sldIdLst>
  <p:sldSz cx="18288000" cy="10287000"/>
  <p:notesSz cx="6858000" cy="9144000"/>
  <p:embeddedFontLst>
    <p:embeddedFont>
      <p:font typeface="IBM Plex Sans" panose="020B0503050203000203" pitchFamily="34" charset="0"/>
      <p:regular r:id="rId26"/>
    </p:embeddedFont>
    <p:embeddedFont>
      <p:font typeface="IBM Plex Sans Bold" panose="020B0604020202020204" charset="0"/>
      <p:regular r:id="rId27"/>
    </p:embeddedFont>
    <p:embeddedFont>
      <p:font typeface="JetBrains Mono" panose="020B0604020202020204" charset="0"/>
      <p:regular r:id="rId28"/>
    </p:embeddedFont>
    <p:embeddedFont>
      <p:font typeface="JetBrains Mono Bold" panose="020B0604020202020204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30F848-8B85-4509-A428-53A81CC80F0D}" v="13" dt="2026-10-15T06:54:00.8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66" d="100"/>
          <a:sy n="66" d="100"/>
        </p:scale>
        <p:origin x="38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1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3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2.fntdata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UMYA GUPTA - 70562500151" userId="74d5ae56-ae24-457b-a25f-7381f8081e6e" providerId="ADAL" clId="{B47E17FF-3201-4FB9-8615-B0E65F23BA76}"/>
    <pc:docChg chg="addSld modSld">
      <pc:chgData name="SOUMYA GUPTA - 70562500151" userId="74d5ae56-ae24-457b-a25f-7381f8081e6e" providerId="ADAL" clId="{B47E17FF-3201-4FB9-8615-B0E65F23BA76}" dt="2026-10-15T06:51:55.688" v="11" actId="767"/>
      <pc:docMkLst>
        <pc:docMk/>
      </pc:docMkLst>
      <pc:sldChg chg="addSp delSp modSp add setBg">
        <pc:chgData name="SOUMYA GUPTA - 70562500151" userId="74d5ae56-ae24-457b-a25f-7381f8081e6e" providerId="ADAL" clId="{B47E17FF-3201-4FB9-8615-B0E65F23BA76}" dt="2026-10-15T06:51:55.688" v="11" actId="767"/>
        <pc:sldMkLst>
          <pc:docMk/>
          <pc:sldMk cId="851667567" sldId="276"/>
        </pc:sldMkLst>
        <pc:spChg chg="add del mod">
          <ac:chgData name="SOUMYA GUPTA - 70562500151" userId="74d5ae56-ae24-457b-a25f-7381f8081e6e" providerId="ADAL" clId="{B47E17FF-3201-4FB9-8615-B0E65F23BA76}" dt="2026-10-15T06:49:19.891" v="2"/>
          <ac:spMkLst>
            <pc:docMk/>
            <pc:sldMk cId="851667567" sldId="276"/>
            <ac:spMk id="37" creationId="{631667A3-7508-1AA5-B51E-5DE6278C0CDC}"/>
          </ac:spMkLst>
        </pc:spChg>
        <pc:spChg chg="add del mod">
          <ac:chgData name="SOUMYA GUPTA - 70562500151" userId="74d5ae56-ae24-457b-a25f-7381f8081e6e" providerId="ADAL" clId="{B47E17FF-3201-4FB9-8615-B0E65F23BA76}" dt="2026-10-15T06:49:56.259" v="4"/>
          <ac:spMkLst>
            <pc:docMk/>
            <pc:sldMk cId="851667567" sldId="276"/>
            <ac:spMk id="38" creationId="{90DE96EB-71EC-2C05-03C7-706DCEBB403D}"/>
          </ac:spMkLst>
        </pc:spChg>
        <pc:spChg chg="add mod">
          <ac:chgData name="SOUMYA GUPTA - 70562500151" userId="74d5ae56-ae24-457b-a25f-7381f8081e6e" providerId="ADAL" clId="{B47E17FF-3201-4FB9-8615-B0E65F23BA76}" dt="2026-10-15T06:50:11.445" v="6" actId="767"/>
          <ac:spMkLst>
            <pc:docMk/>
            <pc:sldMk cId="851667567" sldId="276"/>
            <ac:spMk id="41" creationId="{EB2D877B-6E59-C376-7DAA-7F56092F0FAB}"/>
          </ac:spMkLst>
        </pc:spChg>
        <pc:spChg chg="add mod">
          <ac:chgData name="SOUMYA GUPTA - 70562500151" userId="74d5ae56-ae24-457b-a25f-7381f8081e6e" providerId="ADAL" clId="{B47E17FF-3201-4FB9-8615-B0E65F23BA76}" dt="2026-10-15T06:51:55.688" v="11" actId="767"/>
          <ac:spMkLst>
            <pc:docMk/>
            <pc:sldMk cId="851667567" sldId="276"/>
            <ac:spMk id="42" creationId="{D4E7118B-B20F-103B-5B47-753FFAC1DBB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19200" y="1423987"/>
            <a:ext cx="10791825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 spc="299">
                <a:solidFill>
                  <a:srgbClr val="E8A3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DSA MINI PROJECT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19200" y="2128837"/>
            <a:ext cx="10791825" cy="198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7200" b="1" dirty="0">
                <a:solidFill>
                  <a:srgbClr val="F5F3E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Elevator Request Management System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19200" y="4738687"/>
            <a:ext cx="10791825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B9C6D8"/>
                </a:solidFill>
                <a:latin typeface="IBM Plex Sans"/>
                <a:ea typeface="IBM Plex Sans"/>
                <a:cs typeface="IBM Plex Sans"/>
                <a:sym typeface="IBM Plex Sans"/>
              </a:rPr>
              <a:t>Implemented in C with Queue and Linked List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219200" y="5772152"/>
            <a:ext cx="2286000" cy="38100"/>
            <a:chOff x="0" y="0"/>
            <a:chExt cx="3048000" cy="50800"/>
          </a:xfrm>
        </p:grpSpPr>
        <p:sp>
          <p:nvSpPr>
            <p:cNvPr id="6" name="Freeform 6" descr="line"/>
            <p:cNvSpPr/>
            <p:nvPr/>
          </p:nvSpPr>
          <p:spPr>
            <a:xfrm>
              <a:off x="0" y="0"/>
              <a:ext cx="3048000" cy="50800"/>
            </a:xfrm>
            <a:custGeom>
              <a:avLst/>
              <a:gdLst/>
              <a:ahLst/>
              <a:cxnLst/>
              <a:rect l="l" t="t" r="r" b="b"/>
              <a:pathLst>
                <a:path w="3048000" h="50800">
                  <a:moveTo>
                    <a:pt x="0" y="0"/>
                  </a:moveTo>
                  <a:lnTo>
                    <a:pt x="3048000" y="0"/>
                  </a:lnTo>
                  <a:lnTo>
                    <a:pt x="3048000" y="50800"/>
                  </a:lnTo>
                  <a:lnTo>
                    <a:pt x="0" y="5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219200" y="6524625"/>
            <a:ext cx="11520826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F5F3E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Team:</a:t>
            </a:r>
            <a:r>
              <a:rPr lang="en-US" sz="2100">
                <a:solidFill>
                  <a:srgbClr val="B9C6D8"/>
                </a:solidFill>
                <a:latin typeface="IBM Plex Sans"/>
                <a:ea typeface="IBM Plex Sans"/>
                <a:cs typeface="IBM Plex Sans"/>
                <a:sym typeface="IBM Plex Sans"/>
              </a:rPr>
              <a:t> [Naihan A. Farooqui · 70562500026 · V035] · [Soumya Gupta · 70562500151 · V069]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19200" y="7200900"/>
            <a:ext cx="1079182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F5F3E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Guide:</a:t>
            </a:r>
            <a:r>
              <a:rPr lang="en-US" sz="2100">
                <a:solidFill>
                  <a:srgbClr val="B9C6D8"/>
                </a:solidFill>
                <a:latin typeface="IBM Plex Sans"/>
                <a:ea typeface="IBM Plex Sans"/>
                <a:cs typeface="IBM Plex Sans"/>
                <a:sym typeface="IBM Plex Sans"/>
              </a:rPr>
              <a:t> [Dr. Divya Gautam]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19200" y="7877175"/>
            <a:ext cx="1079182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B9C6D8"/>
                </a:solidFill>
                <a:latin typeface="IBM Plex Sans"/>
                <a:ea typeface="IBM Plex Sans"/>
                <a:cs typeface="IBM Plex Sans"/>
                <a:sym typeface="IBM Plex Sans"/>
              </a:rPr>
              <a:t>[B.Tech AI-DS] · [2nd Year] · [Sem III] 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3249280" y="1238252"/>
            <a:ext cx="3829050" cy="19047"/>
          </a:xfrm>
          <a:prstGeom prst="line">
            <a:avLst/>
          </a:prstGeom>
          <a:ln w="9525" cap="rnd">
            <a:solidFill>
              <a:srgbClr val="B9C6D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13449300" y="1433512"/>
            <a:ext cx="350634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7F93B2"/>
                </a:solidFill>
                <a:latin typeface="IBM Plex Sans"/>
                <a:ea typeface="IBM Plex Sans"/>
                <a:cs typeface="IBM Plex Sans"/>
                <a:sym typeface="IBM Plex Sans"/>
              </a:rPr>
              <a:t>10</a:t>
            </a:r>
          </a:p>
        </p:txBody>
      </p:sp>
      <p:sp>
        <p:nvSpPr>
          <p:cNvPr id="12" name="AutoShape 12"/>
          <p:cNvSpPr/>
          <p:nvPr/>
        </p:nvSpPr>
        <p:spPr>
          <a:xfrm rot="17100">
            <a:off x="13249256" y="2005012"/>
            <a:ext cx="3829098" cy="0"/>
          </a:xfrm>
          <a:prstGeom prst="line">
            <a:avLst/>
          </a:prstGeom>
          <a:ln w="9525" cap="rnd">
            <a:solidFill>
              <a:srgbClr val="B9C6D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Box 13"/>
          <p:cNvSpPr txBox="1"/>
          <p:nvPr/>
        </p:nvSpPr>
        <p:spPr>
          <a:xfrm>
            <a:off x="13449300" y="2195512"/>
            <a:ext cx="213417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7F93B2"/>
                </a:solidFill>
                <a:latin typeface="IBM Plex Sans"/>
                <a:ea typeface="IBM Plex Sans"/>
                <a:cs typeface="IBM Plex Sans"/>
                <a:sym typeface="IBM Plex Sans"/>
              </a:rPr>
              <a:t>9</a:t>
            </a:r>
          </a:p>
        </p:txBody>
      </p:sp>
      <p:sp>
        <p:nvSpPr>
          <p:cNvPr id="14" name="AutoShape 14"/>
          <p:cNvSpPr/>
          <p:nvPr/>
        </p:nvSpPr>
        <p:spPr>
          <a:xfrm rot="17100">
            <a:off x="13249256" y="2767012"/>
            <a:ext cx="3829098" cy="0"/>
          </a:xfrm>
          <a:prstGeom prst="line">
            <a:avLst/>
          </a:prstGeom>
          <a:ln w="9525" cap="rnd">
            <a:solidFill>
              <a:srgbClr val="B9C6D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13449300" y="2957512"/>
            <a:ext cx="213417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7F93B2"/>
                </a:solidFill>
                <a:latin typeface="IBM Plex Sans"/>
                <a:ea typeface="IBM Plex Sans"/>
                <a:cs typeface="IBM Plex Sans"/>
                <a:sym typeface="IBM Plex Sans"/>
              </a:rPr>
              <a:t>8</a:t>
            </a:r>
          </a:p>
        </p:txBody>
      </p:sp>
      <p:sp>
        <p:nvSpPr>
          <p:cNvPr id="16" name="AutoShape 16"/>
          <p:cNvSpPr/>
          <p:nvPr/>
        </p:nvSpPr>
        <p:spPr>
          <a:xfrm rot="17100">
            <a:off x="13249256" y="3529012"/>
            <a:ext cx="3829098" cy="0"/>
          </a:xfrm>
          <a:prstGeom prst="line">
            <a:avLst/>
          </a:prstGeom>
          <a:ln w="9525" cap="rnd">
            <a:solidFill>
              <a:srgbClr val="B9C6D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Box 17"/>
          <p:cNvSpPr txBox="1"/>
          <p:nvPr/>
        </p:nvSpPr>
        <p:spPr>
          <a:xfrm>
            <a:off x="13449300" y="3719512"/>
            <a:ext cx="213417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7F93B2"/>
                </a:solidFill>
                <a:latin typeface="IBM Plex Sans"/>
                <a:ea typeface="IBM Plex Sans"/>
                <a:cs typeface="IBM Plex Sans"/>
                <a:sym typeface="IBM Plex Sans"/>
              </a:rPr>
              <a:t>7</a:t>
            </a:r>
          </a:p>
        </p:txBody>
      </p:sp>
      <p:sp>
        <p:nvSpPr>
          <p:cNvPr id="18" name="AutoShape 18"/>
          <p:cNvSpPr/>
          <p:nvPr/>
        </p:nvSpPr>
        <p:spPr>
          <a:xfrm rot="17100">
            <a:off x="13249256" y="4291012"/>
            <a:ext cx="3829098" cy="0"/>
          </a:xfrm>
          <a:prstGeom prst="line">
            <a:avLst/>
          </a:prstGeom>
          <a:ln w="9525" cap="rnd">
            <a:solidFill>
              <a:srgbClr val="B9C6D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Box 19"/>
          <p:cNvSpPr txBox="1"/>
          <p:nvPr/>
        </p:nvSpPr>
        <p:spPr>
          <a:xfrm>
            <a:off x="13449300" y="4481512"/>
            <a:ext cx="213417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7F93B2"/>
                </a:solidFill>
                <a:latin typeface="IBM Plex Sans"/>
                <a:ea typeface="IBM Plex Sans"/>
                <a:cs typeface="IBM Plex Sans"/>
                <a:sym typeface="IBM Plex Sans"/>
              </a:rPr>
              <a:t>6</a:t>
            </a:r>
          </a:p>
        </p:txBody>
      </p:sp>
      <p:sp>
        <p:nvSpPr>
          <p:cNvPr id="20" name="AutoShape 20"/>
          <p:cNvSpPr/>
          <p:nvPr/>
        </p:nvSpPr>
        <p:spPr>
          <a:xfrm rot="17100">
            <a:off x="13249256" y="5053012"/>
            <a:ext cx="3829098" cy="0"/>
          </a:xfrm>
          <a:prstGeom prst="line">
            <a:avLst/>
          </a:prstGeom>
          <a:ln w="9525" cap="rnd">
            <a:solidFill>
              <a:srgbClr val="B9C6D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Box 21"/>
          <p:cNvSpPr txBox="1"/>
          <p:nvPr/>
        </p:nvSpPr>
        <p:spPr>
          <a:xfrm>
            <a:off x="13449300" y="5243512"/>
            <a:ext cx="213417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7F93B2"/>
                </a:solidFill>
                <a:latin typeface="IBM Plex Sans"/>
                <a:ea typeface="IBM Plex Sans"/>
                <a:cs typeface="IBM Plex Sans"/>
                <a:sym typeface="IBM Plex Sans"/>
              </a:rPr>
              <a:t>5</a:t>
            </a:r>
          </a:p>
        </p:txBody>
      </p:sp>
      <p:sp>
        <p:nvSpPr>
          <p:cNvPr id="22" name="AutoShape 22"/>
          <p:cNvSpPr/>
          <p:nvPr/>
        </p:nvSpPr>
        <p:spPr>
          <a:xfrm rot="17100">
            <a:off x="13249256" y="5815012"/>
            <a:ext cx="3829098" cy="0"/>
          </a:xfrm>
          <a:prstGeom prst="line">
            <a:avLst/>
          </a:prstGeom>
          <a:ln w="9525" cap="rnd">
            <a:solidFill>
              <a:srgbClr val="B9C6D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Box 23"/>
          <p:cNvSpPr txBox="1"/>
          <p:nvPr/>
        </p:nvSpPr>
        <p:spPr>
          <a:xfrm>
            <a:off x="13449300" y="6005512"/>
            <a:ext cx="213417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7F93B2"/>
                </a:solidFill>
                <a:latin typeface="IBM Plex Sans"/>
                <a:ea typeface="IBM Plex Sans"/>
                <a:cs typeface="IBM Plex Sans"/>
                <a:sym typeface="IBM Plex Sans"/>
              </a:rPr>
              <a:t>4</a:t>
            </a:r>
          </a:p>
        </p:txBody>
      </p:sp>
      <p:sp>
        <p:nvSpPr>
          <p:cNvPr id="24" name="AutoShape 24"/>
          <p:cNvSpPr/>
          <p:nvPr/>
        </p:nvSpPr>
        <p:spPr>
          <a:xfrm rot="17100">
            <a:off x="13249256" y="6577012"/>
            <a:ext cx="3829098" cy="0"/>
          </a:xfrm>
          <a:prstGeom prst="line">
            <a:avLst/>
          </a:prstGeom>
          <a:ln w="9525" cap="rnd">
            <a:solidFill>
              <a:srgbClr val="B9C6D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Box 25"/>
          <p:cNvSpPr txBox="1"/>
          <p:nvPr/>
        </p:nvSpPr>
        <p:spPr>
          <a:xfrm>
            <a:off x="13449300" y="6767512"/>
            <a:ext cx="213417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7F93B2"/>
                </a:solidFill>
                <a:latin typeface="IBM Plex Sans"/>
                <a:ea typeface="IBM Plex Sans"/>
                <a:cs typeface="IBM Plex Sans"/>
                <a:sym typeface="IBM Plex Sans"/>
              </a:rPr>
              <a:t>3</a:t>
            </a:r>
          </a:p>
        </p:txBody>
      </p:sp>
      <p:sp>
        <p:nvSpPr>
          <p:cNvPr id="26" name="AutoShape 26"/>
          <p:cNvSpPr/>
          <p:nvPr/>
        </p:nvSpPr>
        <p:spPr>
          <a:xfrm rot="17100">
            <a:off x="13249256" y="7339012"/>
            <a:ext cx="3829098" cy="0"/>
          </a:xfrm>
          <a:prstGeom prst="line">
            <a:avLst/>
          </a:prstGeom>
          <a:ln w="9525" cap="rnd">
            <a:solidFill>
              <a:srgbClr val="B9C6D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Box 27"/>
          <p:cNvSpPr txBox="1"/>
          <p:nvPr/>
        </p:nvSpPr>
        <p:spPr>
          <a:xfrm>
            <a:off x="13449300" y="7529512"/>
            <a:ext cx="213417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7F93B2"/>
                </a:solidFill>
                <a:latin typeface="IBM Plex Sans"/>
                <a:ea typeface="IBM Plex Sans"/>
                <a:cs typeface="IBM Plex Sans"/>
                <a:sym typeface="IBM Plex Sans"/>
              </a:rPr>
              <a:t>2</a:t>
            </a:r>
          </a:p>
        </p:txBody>
      </p:sp>
      <p:sp>
        <p:nvSpPr>
          <p:cNvPr id="28" name="AutoShape 28"/>
          <p:cNvSpPr/>
          <p:nvPr/>
        </p:nvSpPr>
        <p:spPr>
          <a:xfrm rot="17100">
            <a:off x="13249256" y="8101012"/>
            <a:ext cx="3829098" cy="0"/>
          </a:xfrm>
          <a:prstGeom prst="line">
            <a:avLst/>
          </a:prstGeom>
          <a:ln w="9525" cap="rnd">
            <a:solidFill>
              <a:srgbClr val="B9C6D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9" name="AutoShape 29"/>
          <p:cNvSpPr/>
          <p:nvPr/>
        </p:nvSpPr>
        <p:spPr>
          <a:xfrm rot="17100">
            <a:off x="13249256" y="8843962"/>
            <a:ext cx="3829098" cy="0"/>
          </a:xfrm>
          <a:prstGeom prst="line">
            <a:avLst/>
          </a:prstGeom>
          <a:ln w="9525" cap="rnd">
            <a:solidFill>
              <a:srgbClr val="B9C6D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Box 30"/>
          <p:cNvSpPr txBox="1"/>
          <p:nvPr/>
        </p:nvSpPr>
        <p:spPr>
          <a:xfrm>
            <a:off x="13449300" y="8281988"/>
            <a:ext cx="213417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7F93B2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4447049" y="8153402"/>
            <a:ext cx="1428750" cy="685800"/>
            <a:chOff x="0" y="0"/>
            <a:chExt cx="1905000" cy="9144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905000" cy="914400"/>
            </a:xfrm>
            <a:custGeom>
              <a:avLst/>
              <a:gdLst/>
              <a:ahLst/>
              <a:cxnLst/>
              <a:rect l="l" t="t" r="r" b="b"/>
              <a:pathLst>
                <a:path w="1905000" h="9144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1778000" y="0"/>
                  </a:lnTo>
                  <a:cubicBezTo>
                    <a:pt x="1848104" y="0"/>
                    <a:pt x="1905000" y="56896"/>
                    <a:pt x="1905000" y="127000"/>
                  </a:cubicBezTo>
                  <a:lnTo>
                    <a:pt x="1905000" y="787400"/>
                  </a:lnTo>
                  <a:cubicBezTo>
                    <a:pt x="1905000" y="857504"/>
                    <a:pt x="1848104" y="914400"/>
                    <a:pt x="1778000" y="914400"/>
                  </a:cubicBezTo>
                  <a:lnTo>
                    <a:pt x="127000" y="914400"/>
                  </a:lnTo>
                  <a:cubicBezTo>
                    <a:pt x="56896" y="914400"/>
                    <a:pt x="0" y="857504"/>
                    <a:pt x="0" y="787400"/>
                  </a:cubicBezTo>
                  <a:close/>
                </a:path>
              </a:pathLst>
            </a:custGeom>
            <a:solidFill>
              <a:srgbClr val="B9C6D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3" name="AutoShape 33"/>
          <p:cNvSpPr/>
          <p:nvPr/>
        </p:nvSpPr>
        <p:spPr>
          <a:xfrm flipV="1">
            <a:off x="13249280" y="1238252"/>
            <a:ext cx="0" cy="7600950"/>
          </a:xfrm>
          <a:prstGeom prst="line">
            <a:avLst/>
          </a:prstGeom>
          <a:ln w="9525" cap="rnd">
            <a:solidFill>
              <a:srgbClr val="B9C6D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4" name="AutoShape 34"/>
          <p:cNvSpPr/>
          <p:nvPr/>
        </p:nvSpPr>
        <p:spPr>
          <a:xfrm flipH="1" flipV="1">
            <a:off x="17073567" y="1266823"/>
            <a:ext cx="4762" cy="7591425"/>
          </a:xfrm>
          <a:prstGeom prst="line">
            <a:avLst/>
          </a:prstGeom>
          <a:ln w="9525" cap="rnd">
            <a:solidFill>
              <a:srgbClr val="B9C6D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19200" y="1181100"/>
            <a:ext cx="16325088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225">
                <a:solidFill>
                  <a:srgbClr val="E8A3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 PROBLEM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19200" y="1819275"/>
            <a:ext cx="16325088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4200" b="1">
                <a:solidFill>
                  <a:srgbClr val="F5F3E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Problem Statement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219200" y="2676525"/>
            <a:ext cx="7353300" cy="1362075"/>
            <a:chOff x="0" y="0"/>
            <a:chExt cx="9804400" cy="1816100"/>
          </a:xfrm>
        </p:grpSpPr>
        <p:sp>
          <p:nvSpPr>
            <p:cNvPr id="5" name="Freeform 5"/>
            <p:cNvSpPr/>
            <p:nvPr/>
          </p:nvSpPr>
          <p:spPr>
            <a:xfrm>
              <a:off x="6350" y="6350"/>
              <a:ext cx="9791700" cy="1803400"/>
            </a:xfrm>
            <a:custGeom>
              <a:avLst/>
              <a:gdLst/>
              <a:ahLst/>
              <a:cxnLst/>
              <a:rect l="l" t="t" r="r" b="b"/>
              <a:pathLst>
                <a:path w="9791700" h="1803400">
                  <a:moveTo>
                    <a:pt x="0" y="196850"/>
                  </a:moveTo>
                  <a:cubicBezTo>
                    <a:pt x="0" y="88138"/>
                    <a:pt x="88646" y="0"/>
                    <a:pt x="197993" y="0"/>
                  </a:cubicBezTo>
                  <a:lnTo>
                    <a:pt x="9593707" y="0"/>
                  </a:lnTo>
                  <a:cubicBezTo>
                    <a:pt x="9703054" y="0"/>
                    <a:pt x="9791700" y="88138"/>
                    <a:pt x="9791700" y="196850"/>
                  </a:cubicBezTo>
                  <a:lnTo>
                    <a:pt x="9791700" y="1606550"/>
                  </a:lnTo>
                  <a:cubicBezTo>
                    <a:pt x="9791700" y="1715262"/>
                    <a:pt x="9703054" y="1803400"/>
                    <a:pt x="9593707" y="1803400"/>
                  </a:cubicBezTo>
                  <a:lnTo>
                    <a:pt x="197993" y="1803400"/>
                  </a:lnTo>
                  <a:cubicBezTo>
                    <a:pt x="88646" y="1803400"/>
                    <a:pt x="0" y="1715262"/>
                    <a:pt x="0" y="1606550"/>
                  </a:cubicBezTo>
                  <a:close/>
                </a:path>
              </a:pathLst>
            </a:custGeom>
            <a:solidFill>
              <a:srgbClr val="1A2A4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Freeform 6"/>
            <p:cNvSpPr/>
            <p:nvPr/>
          </p:nvSpPr>
          <p:spPr>
            <a:xfrm>
              <a:off x="0" y="0"/>
              <a:ext cx="9804400" cy="1816100"/>
            </a:xfrm>
            <a:custGeom>
              <a:avLst/>
              <a:gdLst/>
              <a:ahLst/>
              <a:cxnLst/>
              <a:rect l="l" t="t" r="r" b="b"/>
              <a:pathLst>
                <a:path w="9804400" h="1816100">
                  <a:moveTo>
                    <a:pt x="0" y="203200"/>
                  </a:moveTo>
                  <a:cubicBezTo>
                    <a:pt x="0" y="90932"/>
                    <a:pt x="91567" y="0"/>
                    <a:pt x="204343" y="0"/>
                  </a:cubicBezTo>
                  <a:lnTo>
                    <a:pt x="9600057" y="0"/>
                  </a:lnTo>
                  <a:lnTo>
                    <a:pt x="9600057" y="6350"/>
                  </a:lnTo>
                  <a:lnTo>
                    <a:pt x="9600057" y="0"/>
                  </a:lnTo>
                  <a:cubicBezTo>
                    <a:pt x="9712833" y="0"/>
                    <a:pt x="9804400" y="90932"/>
                    <a:pt x="9804400" y="203200"/>
                  </a:cubicBezTo>
                  <a:lnTo>
                    <a:pt x="9798050" y="203200"/>
                  </a:lnTo>
                  <a:lnTo>
                    <a:pt x="9804400" y="203200"/>
                  </a:lnTo>
                  <a:lnTo>
                    <a:pt x="9804400" y="1612900"/>
                  </a:lnTo>
                  <a:lnTo>
                    <a:pt x="9798050" y="1612900"/>
                  </a:lnTo>
                  <a:lnTo>
                    <a:pt x="9804400" y="1612900"/>
                  </a:lnTo>
                  <a:cubicBezTo>
                    <a:pt x="9804400" y="1725168"/>
                    <a:pt x="9712833" y="1816100"/>
                    <a:pt x="9600057" y="1816100"/>
                  </a:cubicBezTo>
                  <a:lnTo>
                    <a:pt x="9600057" y="1809750"/>
                  </a:lnTo>
                  <a:lnTo>
                    <a:pt x="9600057" y="1816100"/>
                  </a:lnTo>
                  <a:lnTo>
                    <a:pt x="204343" y="1816100"/>
                  </a:lnTo>
                  <a:lnTo>
                    <a:pt x="204343" y="1809750"/>
                  </a:lnTo>
                  <a:lnTo>
                    <a:pt x="204343" y="1816100"/>
                  </a:lnTo>
                  <a:cubicBezTo>
                    <a:pt x="91567" y="1816100"/>
                    <a:pt x="0" y="1725168"/>
                    <a:pt x="0" y="1612900"/>
                  </a:cubicBezTo>
                  <a:lnTo>
                    <a:pt x="0" y="203200"/>
                  </a:lnTo>
                  <a:lnTo>
                    <a:pt x="6350" y="203200"/>
                  </a:lnTo>
                  <a:lnTo>
                    <a:pt x="0" y="203200"/>
                  </a:lnTo>
                  <a:moveTo>
                    <a:pt x="12700" y="203200"/>
                  </a:moveTo>
                  <a:lnTo>
                    <a:pt x="12700" y="1612900"/>
                  </a:lnTo>
                  <a:lnTo>
                    <a:pt x="6350" y="1612900"/>
                  </a:lnTo>
                  <a:lnTo>
                    <a:pt x="12700" y="1612900"/>
                  </a:lnTo>
                  <a:cubicBezTo>
                    <a:pt x="12700" y="1718056"/>
                    <a:pt x="98425" y="1803400"/>
                    <a:pt x="204343" y="1803400"/>
                  </a:cubicBezTo>
                  <a:lnTo>
                    <a:pt x="9600057" y="1803400"/>
                  </a:lnTo>
                  <a:cubicBezTo>
                    <a:pt x="9705975" y="1803400"/>
                    <a:pt x="9791700" y="1718056"/>
                    <a:pt x="9791700" y="1612900"/>
                  </a:cubicBezTo>
                  <a:lnTo>
                    <a:pt x="9791700" y="203200"/>
                  </a:lnTo>
                  <a:cubicBezTo>
                    <a:pt x="9791700" y="98044"/>
                    <a:pt x="9705975" y="12700"/>
                    <a:pt x="9600057" y="12700"/>
                  </a:cubicBezTo>
                  <a:lnTo>
                    <a:pt x="204343" y="12700"/>
                  </a:lnTo>
                  <a:lnTo>
                    <a:pt x="204343" y="6350"/>
                  </a:lnTo>
                  <a:lnTo>
                    <a:pt x="204343" y="12700"/>
                  </a:lnTo>
                  <a:cubicBezTo>
                    <a:pt x="98425" y="12700"/>
                    <a:pt x="12700" y="98044"/>
                    <a:pt x="12700" y="203200"/>
                  </a:cubicBezTo>
                  <a:close/>
                </a:path>
              </a:pathLst>
            </a:custGeom>
            <a:solidFill>
              <a:srgbClr val="2C4062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495425" y="2952750"/>
            <a:ext cx="7004875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5F3E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Multi-floor building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95425" y="3343275"/>
            <a:ext cx="7004875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B9C6D8"/>
                </a:solidFill>
                <a:latin typeface="IBM Plex Sans"/>
                <a:ea typeface="IBM Plex Sans"/>
                <a:cs typeface="IBM Plex Sans"/>
                <a:sym typeface="IBM Plex Sans"/>
              </a:rPr>
              <a:t>People ask for the elevator from different floors.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219200" y="4229100"/>
            <a:ext cx="7353300" cy="1362075"/>
            <a:chOff x="0" y="0"/>
            <a:chExt cx="9804400" cy="1816100"/>
          </a:xfrm>
        </p:grpSpPr>
        <p:sp>
          <p:nvSpPr>
            <p:cNvPr id="10" name="Freeform 10"/>
            <p:cNvSpPr/>
            <p:nvPr/>
          </p:nvSpPr>
          <p:spPr>
            <a:xfrm>
              <a:off x="6350" y="6350"/>
              <a:ext cx="9791700" cy="1803400"/>
            </a:xfrm>
            <a:custGeom>
              <a:avLst/>
              <a:gdLst/>
              <a:ahLst/>
              <a:cxnLst/>
              <a:rect l="l" t="t" r="r" b="b"/>
              <a:pathLst>
                <a:path w="9791700" h="1803400">
                  <a:moveTo>
                    <a:pt x="0" y="196850"/>
                  </a:moveTo>
                  <a:cubicBezTo>
                    <a:pt x="0" y="88138"/>
                    <a:pt x="88646" y="0"/>
                    <a:pt x="197993" y="0"/>
                  </a:cubicBezTo>
                  <a:lnTo>
                    <a:pt x="9593707" y="0"/>
                  </a:lnTo>
                  <a:cubicBezTo>
                    <a:pt x="9703054" y="0"/>
                    <a:pt x="9791700" y="88138"/>
                    <a:pt x="9791700" y="196850"/>
                  </a:cubicBezTo>
                  <a:lnTo>
                    <a:pt x="9791700" y="1606550"/>
                  </a:lnTo>
                  <a:cubicBezTo>
                    <a:pt x="9791700" y="1715262"/>
                    <a:pt x="9703054" y="1803400"/>
                    <a:pt x="9593707" y="1803400"/>
                  </a:cubicBezTo>
                  <a:lnTo>
                    <a:pt x="197993" y="1803400"/>
                  </a:lnTo>
                  <a:cubicBezTo>
                    <a:pt x="88646" y="1803400"/>
                    <a:pt x="0" y="1715262"/>
                    <a:pt x="0" y="1606550"/>
                  </a:cubicBezTo>
                  <a:close/>
                </a:path>
              </a:pathLst>
            </a:custGeom>
            <a:solidFill>
              <a:srgbClr val="1A2A4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0"/>
              <a:ext cx="9804400" cy="1816100"/>
            </a:xfrm>
            <a:custGeom>
              <a:avLst/>
              <a:gdLst/>
              <a:ahLst/>
              <a:cxnLst/>
              <a:rect l="l" t="t" r="r" b="b"/>
              <a:pathLst>
                <a:path w="9804400" h="1816100">
                  <a:moveTo>
                    <a:pt x="0" y="203200"/>
                  </a:moveTo>
                  <a:cubicBezTo>
                    <a:pt x="0" y="90932"/>
                    <a:pt x="91567" y="0"/>
                    <a:pt x="204343" y="0"/>
                  </a:cubicBezTo>
                  <a:lnTo>
                    <a:pt x="9600057" y="0"/>
                  </a:lnTo>
                  <a:lnTo>
                    <a:pt x="9600057" y="6350"/>
                  </a:lnTo>
                  <a:lnTo>
                    <a:pt x="9600057" y="0"/>
                  </a:lnTo>
                  <a:cubicBezTo>
                    <a:pt x="9712833" y="0"/>
                    <a:pt x="9804400" y="90932"/>
                    <a:pt x="9804400" y="203200"/>
                  </a:cubicBezTo>
                  <a:lnTo>
                    <a:pt x="9798050" y="203200"/>
                  </a:lnTo>
                  <a:lnTo>
                    <a:pt x="9804400" y="203200"/>
                  </a:lnTo>
                  <a:lnTo>
                    <a:pt x="9804400" y="1612900"/>
                  </a:lnTo>
                  <a:lnTo>
                    <a:pt x="9798050" y="1612900"/>
                  </a:lnTo>
                  <a:lnTo>
                    <a:pt x="9804400" y="1612900"/>
                  </a:lnTo>
                  <a:cubicBezTo>
                    <a:pt x="9804400" y="1725168"/>
                    <a:pt x="9712833" y="1816100"/>
                    <a:pt x="9600057" y="1816100"/>
                  </a:cubicBezTo>
                  <a:lnTo>
                    <a:pt x="9600057" y="1809750"/>
                  </a:lnTo>
                  <a:lnTo>
                    <a:pt x="9600057" y="1816100"/>
                  </a:lnTo>
                  <a:lnTo>
                    <a:pt x="204343" y="1816100"/>
                  </a:lnTo>
                  <a:lnTo>
                    <a:pt x="204343" y="1809750"/>
                  </a:lnTo>
                  <a:lnTo>
                    <a:pt x="204343" y="1816100"/>
                  </a:lnTo>
                  <a:cubicBezTo>
                    <a:pt x="91567" y="1816100"/>
                    <a:pt x="0" y="1725168"/>
                    <a:pt x="0" y="1612900"/>
                  </a:cubicBezTo>
                  <a:lnTo>
                    <a:pt x="0" y="203200"/>
                  </a:lnTo>
                  <a:lnTo>
                    <a:pt x="6350" y="203200"/>
                  </a:lnTo>
                  <a:lnTo>
                    <a:pt x="0" y="203200"/>
                  </a:lnTo>
                  <a:moveTo>
                    <a:pt x="12700" y="203200"/>
                  </a:moveTo>
                  <a:lnTo>
                    <a:pt x="12700" y="1612900"/>
                  </a:lnTo>
                  <a:lnTo>
                    <a:pt x="6350" y="1612900"/>
                  </a:lnTo>
                  <a:lnTo>
                    <a:pt x="12700" y="1612900"/>
                  </a:lnTo>
                  <a:cubicBezTo>
                    <a:pt x="12700" y="1718056"/>
                    <a:pt x="98425" y="1803400"/>
                    <a:pt x="204343" y="1803400"/>
                  </a:cubicBezTo>
                  <a:lnTo>
                    <a:pt x="9600057" y="1803400"/>
                  </a:lnTo>
                  <a:cubicBezTo>
                    <a:pt x="9705975" y="1803400"/>
                    <a:pt x="9791700" y="1718056"/>
                    <a:pt x="9791700" y="1612900"/>
                  </a:cubicBezTo>
                  <a:lnTo>
                    <a:pt x="9791700" y="203200"/>
                  </a:lnTo>
                  <a:cubicBezTo>
                    <a:pt x="9791700" y="98044"/>
                    <a:pt x="9705975" y="12700"/>
                    <a:pt x="9600057" y="12700"/>
                  </a:cubicBezTo>
                  <a:lnTo>
                    <a:pt x="204343" y="12700"/>
                  </a:lnTo>
                  <a:lnTo>
                    <a:pt x="204343" y="6350"/>
                  </a:lnTo>
                  <a:lnTo>
                    <a:pt x="204343" y="12700"/>
                  </a:lnTo>
                  <a:cubicBezTo>
                    <a:pt x="98425" y="12700"/>
                    <a:pt x="12700" y="98044"/>
                    <a:pt x="12700" y="203200"/>
                  </a:cubicBezTo>
                  <a:close/>
                </a:path>
              </a:pathLst>
            </a:custGeom>
            <a:solidFill>
              <a:srgbClr val="2C4062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495425" y="4505325"/>
            <a:ext cx="7004875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5F3E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Every request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95425" y="4895850"/>
            <a:ext cx="7004875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B9C6D8"/>
                </a:solidFill>
                <a:latin typeface="IBM Plex Sans"/>
                <a:ea typeface="IBM Plex Sans"/>
                <a:cs typeface="IBM Plex Sans"/>
                <a:sym typeface="IBM Plex Sans"/>
              </a:rPr>
              <a:t>Request ID + source floor + destination floor.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219200" y="5781675"/>
            <a:ext cx="7353300" cy="1733550"/>
            <a:chOff x="0" y="0"/>
            <a:chExt cx="9804400" cy="2311400"/>
          </a:xfrm>
        </p:grpSpPr>
        <p:sp>
          <p:nvSpPr>
            <p:cNvPr id="15" name="Freeform 15"/>
            <p:cNvSpPr/>
            <p:nvPr/>
          </p:nvSpPr>
          <p:spPr>
            <a:xfrm>
              <a:off x="6350" y="6350"/>
              <a:ext cx="9791700" cy="2298700"/>
            </a:xfrm>
            <a:custGeom>
              <a:avLst/>
              <a:gdLst/>
              <a:ahLst/>
              <a:cxnLst/>
              <a:rect l="l" t="t" r="r" b="b"/>
              <a:pathLst>
                <a:path w="9791700" h="2298700">
                  <a:moveTo>
                    <a:pt x="0" y="196850"/>
                  </a:moveTo>
                  <a:cubicBezTo>
                    <a:pt x="0" y="88138"/>
                    <a:pt x="88519" y="0"/>
                    <a:pt x="197739" y="0"/>
                  </a:cubicBezTo>
                  <a:lnTo>
                    <a:pt x="9593961" y="0"/>
                  </a:lnTo>
                  <a:cubicBezTo>
                    <a:pt x="9703181" y="0"/>
                    <a:pt x="9791700" y="88138"/>
                    <a:pt x="9791700" y="196850"/>
                  </a:cubicBezTo>
                  <a:lnTo>
                    <a:pt x="9791700" y="2101850"/>
                  </a:lnTo>
                  <a:cubicBezTo>
                    <a:pt x="9791700" y="2210562"/>
                    <a:pt x="9703181" y="2298700"/>
                    <a:pt x="9593961" y="2298700"/>
                  </a:cubicBezTo>
                  <a:lnTo>
                    <a:pt x="197739" y="2298700"/>
                  </a:lnTo>
                  <a:cubicBezTo>
                    <a:pt x="88519" y="2298700"/>
                    <a:pt x="0" y="2210562"/>
                    <a:pt x="0" y="2101850"/>
                  </a:cubicBezTo>
                  <a:close/>
                </a:path>
              </a:pathLst>
            </a:custGeom>
            <a:solidFill>
              <a:srgbClr val="1A2A4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9804400" cy="2311400"/>
            </a:xfrm>
            <a:custGeom>
              <a:avLst/>
              <a:gdLst/>
              <a:ahLst/>
              <a:cxnLst/>
              <a:rect l="l" t="t" r="r" b="b"/>
              <a:pathLst>
                <a:path w="9804400" h="2311400">
                  <a:moveTo>
                    <a:pt x="0" y="203200"/>
                  </a:moveTo>
                  <a:cubicBezTo>
                    <a:pt x="0" y="90932"/>
                    <a:pt x="91440" y="0"/>
                    <a:pt x="204089" y="0"/>
                  </a:cubicBezTo>
                  <a:lnTo>
                    <a:pt x="9600311" y="0"/>
                  </a:lnTo>
                  <a:lnTo>
                    <a:pt x="9600311" y="6350"/>
                  </a:lnTo>
                  <a:lnTo>
                    <a:pt x="9600311" y="0"/>
                  </a:lnTo>
                  <a:cubicBezTo>
                    <a:pt x="9712960" y="0"/>
                    <a:pt x="9804400" y="90932"/>
                    <a:pt x="9804400" y="203200"/>
                  </a:cubicBezTo>
                  <a:lnTo>
                    <a:pt x="9798050" y="203200"/>
                  </a:lnTo>
                  <a:lnTo>
                    <a:pt x="9804400" y="203200"/>
                  </a:lnTo>
                  <a:lnTo>
                    <a:pt x="9804400" y="2108200"/>
                  </a:lnTo>
                  <a:lnTo>
                    <a:pt x="9798050" y="2108200"/>
                  </a:lnTo>
                  <a:lnTo>
                    <a:pt x="9804400" y="2108200"/>
                  </a:lnTo>
                  <a:cubicBezTo>
                    <a:pt x="9804400" y="2220468"/>
                    <a:pt x="9712960" y="2311400"/>
                    <a:pt x="9600311" y="2311400"/>
                  </a:cubicBezTo>
                  <a:lnTo>
                    <a:pt x="9600311" y="2305050"/>
                  </a:lnTo>
                  <a:lnTo>
                    <a:pt x="9600311" y="2311400"/>
                  </a:lnTo>
                  <a:lnTo>
                    <a:pt x="204089" y="2311400"/>
                  </a:lnTo>
                  <a:lnTo>
                    <a:pt x="204089" y="2305050"/>
                  </a:lnTo>
                  <a:lnTo>
                    <a:pt x="204089" y="2311400"/>
                  </a:lnTo>
                  <a:cubicBezTo>
                    <a:pt x="91440" y="2311400"/>
                    <a:pt x="0" y="2220468"/>
                    <a:pt x="0" y="2108200"/>
                  </a:cubicBezTo>
                  <a:lnTo>
                    <a:pt x="0" y="203200"/>
                  </a:lnTo>
                  <a:lnTo>
                    <a:pt x="6350" y="203200"/>
                  </a:lnTo>
                  <a:lnTo>
                    <a:pt x="0" y="203200"/>
                  </a:lnTo>
                  <a:moveTo>
                    <a:pt x="12700" y="203200"/>
                  </a:moveTo>
                  <a:lnTo>
                    <a:pt x="12700" y="2108200"/>
                  </a:lnTo>
                  <a:lnTo>
                    <a:pt x="6350" y="2108200"/>
                  </a:lnTo>
                  <a:lnTo>
                    <a:pt x="12700" y="2108200"/>
                  </a:lnTo>
                  <a:cubicBezTo>
                    <a:pt x="12700" y="2213356"/>
                    <a:pt x="98298" y="2298700"/>
                    <a:pt x="204089" y="2298700"/>
                  </a:cubicBezTo>
                  <a:lnTo>
                    <a:pt x="9600311" y="2298700"/>
                  </a:lnTo>
                  <a:cubicBezTo>
                    <a:pt x="9705975" y="2298700"/>
                    <a:pt x="9791700" y="2213356"/>
                    <a:pt x="9791700" y="2108200"/>
                  </a:cubicBezTo>
                  <a:lnTo>
                    <a:pt x="9791700" y="203200"/>
                  </a:lnTo>
                  <a:cubicBezTo>
                    <a:pt x="9791700" y="98044"/>
                    <a:pt x="9706102" y="12700"/>
                    <a:pt x="9600311" y="12700"/>
                  </a:cubicBezTo>
                  <a:lnTo>
                    <a:pt x="204089" y="12700"/>
                  </a:lnTo>
                  <a:lnTo>
                    <a:pt x="204089" y="6350"/>
                  </a:lnTo>
                  <a:lnTo>
                    <a:pt x="204089" y="12700"/>
                  </a:lnTo>
                  <a:cubicBezTo>
                    <a:pt x="98298" y="12700"/>
                    <a:pt x="12700" y="98044"/>
                    <a:pt x="12700" y="203200"/>
                  </a:cubicBezTo>
                  <a:close/>
                </a:path>
              </a:pathLst>
            </a:custGeom>
            <a:solidFill>
              <a:srgbClr val="2C4062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495425" y="6057900"/>
            <a:ext cx="7004875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5F3E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Simultaneous demand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95425" y="6448425"/>
            <a:ext cx="7004875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B9C6D8"/>
                </a:solidFill>
                <a:latin typeface="IBM Plex Sans"/>
                <a:ea typeface="IBM Plex Sans"/>
                <a:cs typeface="IBM Plex Sans"/>
                <a:sym typeface="IBM Plex Sans"/>
              </a:rPr>
              <a:t>Several people request together, so handling them manually is inefficient and error-prone.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029700" y="2676525"/>
            <a:ext cx="8039100" cy="4838700"/>
            <a:chOff x="0" y="0"/>
            <a:chExt cx="10718800" cy="64516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718800" cy="6451600"/>
            </a:xfrm>
            <a:custGeom>
              <a:avLst/>
              <a:gdLst/>
              <a:ahLst/>
              <a:cxnLst/>
              <a:rect l="l" t="t" r="r" b="b"/>
              <a:pathLst>
                <a:path w="10718800" h="64516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10515600" y="0"/>
                  </a:lnTo>
                  <a:cubicBezTo>
                    <a:pt x="10627868" y="0"/>
                    <a:pt x="10718800" y="90932"/>
                    <a:pt x="10718800" y="203200"/>
                  </a:cubicBezTo>
                  <a:lnTo>
                    <a:pt x="10718800" y="6248400"/>
                  </a:lnTo>
                  <a:cubicBezTo>
                    <a:pt x="10718800" y="6360668"/>
                    <a:pt x="10627868" y="6451600"/>
                    <a:pt x="10515600" y="6451600"/>
                  </a:cubicBezTo>
                  <a:lnTo>
                    <a:pt x="203200" y="6451600"/>
                  </a:lnTo>
                  <a:cubicBezTo>
                    <a:pt x="90932" y="6451600"/>
                    <a:pt x="0" y="6360668"/>
                    <a:pt x="0" y="6248400"/>
                  </a:cubicBezTo>
                  <a:close/>
                </a:path>
              </a:pathLst>
            </a:custGeom>
            <a:solidFill>
              <a:srgbClr val="B9C6D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9372600" y="3019425"/>
            <a:ext cx="7573899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0F1B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 computational problem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89948" y="3505200"/>
            <a:ext cx="7445121" cy="2505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0048" lvl="1" indent="-190024" algn="l">
              <a:lnSpc>
                <a:spcPts val="3150"/>
              </a:lnSpc>
              <a:buFont typeface="Arial"/>
              <a:buChar char="•"/>
            </a:pPr>
            <a:r>
              <a:rPr lang="en-US" sz="2100">
                <a:solidFill>
                  <a:srgbClr val="0F1B2D"/>
                </a:solidFill>
                <a:latin typeface="IBM Plex Sans"/>
                <a:ea typeface="IBM Plex Sans"/>
                <a:cs typeface="IBM Plex Sans"/>
                <a:sym typeface="IBM Plex Sans"/>
              </a:rPr>
              <a:t>Store requests as they arrive</a:t>
            </a:r>
          </a:p>
          <a:p>
            <a:pPr marL="380048" lvl="1" indent="-190024" algn="l">
              <a:lnSpc>
                <a:spcPts val="3150"/>
              </a:lnSpc>
              <a:buFont typeface="Arial"/>
              <a:buChar char="•"/>
            </a:pPr>
            <a:r>
              <a:rPr lang="en-US" sz="2100">
                <a:solidFill>
                  <a:srgbClr val="0F1B2D"/>
                </a:solidFill>
                <a:latin typeface="IBM Plex Sans"/>
                <a:ea typeface="IBM Plex Sans"/>
                <a:cs typeface="IBM Plex Sans"/>
                <a:sym typeface="IBM Plex Sans"/>
              </a:rPr>
              <a:t>Serve them in a fixed, fair order</a:t>
            </a:r>
          </a:p>
          <a:p>
            <a:pPr marL="380048" lvl="1" indent="-190024" algn="l">
              <a:lnSpc>
                <a:spcPts val="3150"/>
              </a:lnSpc>
              <a:buFont typeface="Arial"/>
              <a:buChar char="•"/>
            </a:pPr>
            <a:r>
              <a:rPr lang="en-US" sz="2100">
                <a:solidFill>
                  <a:srgbClr val="0F1B2D"/>
                </a:solidFill>
                <a:latin typeface="IBM Plex Sans"/>
                <a:ea typeface="IBM Plex Sans"/>
                <a:cs typeface="IBM Plex Sans"/>
                <a:sym typeface="IBM Plex Sans"/>
              </a:rPr>
              <a:t>Cancel a pending request</a:t>
            </a:r>
          </a:p>
          <a:p>
            <a:pPr marL="380048" lvl="1" indent="-190024" algn="l">
              <a:lnSpc>
                <a:spcPts val="3150"/>
              </a:lnSpc>
              <a:buFont typeface="Arial"/>
              <a:buChar char="•"/>
            </a:pPr>
            <a:r>
              <a:rPr lang="en-US" sz="2100">
                <a:solidFill>
                  <a:srgbClr val="0F1B2D"/>
                </a:solidFill>
                <a:latin typeface="IBM Plex Sans"/>
                <a:ea typeface="IBM Plex Sans"/>
                <a:cs typeface="IBM Plex Sans"/>
                <a:sym typeface="IBM Plex Sans"/>
              </a:rPr>
              <a:t>Keep a record of completed requests</a:t>
            </a:r>
          </a:p>
          <a:p>
            <a:pPr marL="380048" lvl="1" indent="-190024" algn="l">
              <a:lnSpc>
                <a:spcPts val="3150"/>
              </a:lnSpc>
              <a:buFont typeface="Arial"/>
              <a:buChar char="•"/>
            </a:pPr>
            <a:r>
              <a:rPr lang="en-US" sz="2100">
                <a:solidFill>
                  <a:srgbClr val="0F1B2D"/>
                </a:solidFill>
                <a:latin typeface="IBM Plex Sans"/>
                <a:ea typeface="IBM Plex Sans"/>
                <a:cs typeface="IBM Plex Sans"/>
                <a:sym typeface="IBM Plex Sans"/>
              </a:rPr>
              <a:t>Show pending requests and the current floor</a:t>
            </a:r>
          </a:p>
          <a:p>
            <a:pPr marL="380048" lvl="1" indent="-190024" algn="l">
              <a:lnSpc>
                <a:spcPts val="3150"/>
              </a:lnSpc>
              <a:buFont typeface="Arial"/>
              <a:buChar char="•"/>
            </a:pPr>
            <a:r>
              <a:rPr lang="en-US" sz="2100">
                <a:solidFill>
                  <a:srgbClr val="0F1B2D"/>
                </a:solidFill>
                <a:latin typeface="IBM Plex Sans"/>
                <a:ea typeface="IBM Plex Sans"/>
                <a:cs typeface="IBM Plex Sans"/>
                <a:sym typeface="IBM Plex Sans"/>
              </a:rPr>
              <a:t>Reject invalid input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19200" y="9324975"/>
            <a:ext cx="16325088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7F93B2"/>
                </a:solidFill>
                <a:latin typeface="IBM Plex Sans"/>
                <a:ea typeface="IBM Plex Sans"/>
                <a:cs typeface="IBM Plex Sans"/>
                <a:sym typeface="IBM Plex Sans"/>
              </a:rPr>
              <a:t>Elevator Request Management System ·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19200" y="9324975"/>
            <a:ext cx="16325088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B7A8F"/>
                </a:solidFill>
                <a:latin typeface="IBM Plex Sans"/>
                <a:ea typeface="IBM Plex Sans"/>
                <a:cs typeface="IBM Plex Sans"/>
                <a:sym typeface="IBM Plex Sans"/>
              </a:rPr>
              <a:t>Elevator Request Management System · 2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19200" y="1181100"/>
            <a:ext cx="16325088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225">
                <a:solidFill>
                  <a:srgbClr val="2F6FB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INTRODUCTION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19200" y="1819275"/>
            <a:ext cx="16325088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4200" b="1">
                <a:solidFill>
                  <a:srgbClr val="0F1B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Project Overview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219200" y="4857750"/>
            <a:ext cx="5130851" cy="2219325"/>
            <a:chOff x="0" y="0"/>
            <a:chExt cx="6841134" cy="2959100"/>
          </a:xfrm>
        </p:grpSpPr>
        <p:sp>
          <p:nvSpPr>
            <p:cNvPr id="6" name="Freeform 6"/>
            <p:cNvSpPr/>
            <p:nvPr/>
          </p:nvSpPr>
          <p:spPr>
            <a:xfrm>
              <a:off x="6350" y="6350"/>
              <a:ext cx="6828536" cy="2946400"/>
            </a:xfrm>
            <a:custGeom>
              <a:avLst/>
              <a:gdLst/>
              <a:ahLst/>
              <a:cxnLst/>
              <a:rect l="l" t="t" r="r" b="b"/>
              <a:pathLst>
                <a:path w="6828536" h="2946400">
                  <a:moveTo>
                    <a:pt x="0" y="196850"/>
                  </a:moveTo>
                  <a:cubicBezTo>
                    <a:pt x="0" y="88138"/>
                    <a:pt x="88392" y="0"/>
                    <a:pt x="197358" y="0"/>
                  </a:cubicBezTo>
                  <a:lnTo>
                    <a:pt x="6631178" y="0"/>
                  </a:lnTo>
                  <a:cubicBezTo>
                    <a:pt x="6740144" y="0"/>
                    <a:pt x="6828536" y="88138"/>
                    <a:pt x="6828536" y="196850"/>
                  </a:cubicBezTo>
                  <a:lnTo>
                    <a:pt x="6828536" y="2749550"/>
                  </a:lnTo>
                  <a:cubicBezTo>
                    <a:pt x="6828536" y="2858262"/>
                    <a:pt x="6740144" y="2946400"/>
                    <a:pt x="6631178" y="2946400"/>
                  </a:cubicBezTo>
                  <a:lnTo>
                    <a:pt x="197358" y="2946400"/>
                  </a:lnTo>
                  <a:cubicBezTo>
                    <a:pt x="88392" y="2946400"/>
                    <a:pt x="0" y="2858262"/>
                    <a:pt x="0" y="2749550"/>
                  </a:cubicBezTo>
                  <a:close/>
                </a:path>
              </a:pathLst>
            </a:custGeom>
            <a:solidFill>
              <a:srgbClr val="FDFCF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6841236" cy="2959100"/>
            </a:xfrm>
            <a:custGeom>
              <a:avLst/>
              <a:gdLst/>
              <a:ahLst/>
              <a:cxnLst/>
              <a:rect l="l" t="t" r="r" b="b"/>
              <a:pathLst>
                <a:path w="6841236" h="2959100">
                  <a:moveTo>
                    <a:pt x="0" y="203200"/>
                  </a:moveTo>
                  <a:cubicBezTo>
                    <a:pt x="0" y="90932"/>
                    <a:pt x="91186" y="0"/>
                    <a:pt x="203708" y="0"/>
                  </a:cubicBezTo>
                  <a:lnTo>
                    <a:pt x="6637528" y="0"/>
                  </a:lnTo>
                  <a:lnTo>
                    <a:pt x="6637528" y="6350"/>
                  </a:lnTo>
                  <a:lnTo>
                    <a:pt x="6637528" y="0"/>
                  </a:lnTo>
                  <a:cubicBezTo>
                    <a:pt x="6750050" y="0"/>
                    <a:pt x="6841236" y="90932"/>
                    <a:pt x="6841236" y="203200"/>
                  </a:cubicBezTo>
                  <a:lnTo>
                    <a:pt x="6834886" y="203200"/>
                  </a:lnTo>
                  <a:lnTo>
                    <a:pt x="6841236" y="203200"/>
                  </a:lnTo>
                  <a:lnTo>
                    <a:pt x="6841236" y="2755900"/>
                  </a:lnTo>
                  <a:lnTo>
                    <a:pt x="6834886" y="2755900"/>
                  </a:lnTo>
                  <a:lnTo>
                    <a:pt x="6841236" y="2755900"/>
                  </a:lnTo>
                  <a:cubicBezTo>
                    <a:pt x="6841236" y="2868168"/>
                    <a:pt x="6750050" y="2959100"/>
                    <a:pt x="6637528" y="2959100"/>
                  </a:cubicBezTo>
                  <a:lnTo>
                    <a:pt x="6637528" y="2952750"/>
                  </a:lnTo>
                  <a:lnTo>
                    <a:pt x="6637528" y="2959100"/>
                  </a:lnTo>
                  <a:lnTo>
                    <a:pt x="203708" y="2959100"/>
                  </a:lnTo>
                  <a:lnTo>
                    <a:pt x="203708" y="2952750"/>
                  </a:lnTo>
                  <a:lnTo>
                    <a:pt x="203708" y="2959100"/>
                  </a:lnTo>
                  <a:cubicBezTo>
                    <a:pt x="91186" y="2959100"/>
                    <a:pt x="0" y="2868168"/>
                    <a:pt x="0" y="2755900"/>
                  </a:cubicBezTo>
                  <a:lnTo>
                    <a:pt x="0" y="203200"/>
                  </a:lnTo>
                  <a:lnTo>
                    <a:pt x="6350" y="203200"/>
                  </a:lnTo>
                  <a:lnTo>
                    <a:pt x="0" y="203200"/>
                  </a:lnTo>
                  <a:moveTo>
                    <a:pt x="12700" y="203200"/>
                  </a:moveTo>
                  <a:lnTo>
                    <a:pt x="12700" y="2755900"/>
                  </a:lnTo>
                  <a:lnTo>
                    <a:pt x="6350" y="2755900"/>
                  </a:lnTo>
                  <a:lnTo>
                    <a:pt x="12700" y="2755900"/>
                  </a:lnTo>
                  <a:cubicBezTo>
                    <a:pt x="12700" y="2861056"/>
                    <a:pt x="98171" y="2946400"/>
                    <a:pt x="203708" y="2946400"/>
                  </a:cubicBezTo>
                  <a:lnTo>
                    <a:pt x="6637528" y="2946400"/>
                  </a:lnTo>
                  <a:cubicBezTo>
                    <a:pt x="6743065" y="2946400"/>
                    <a:pt x="6828536" y="2861056"/>
                    <a:pt x="6828536" y="2755900"/>
                  </a:cubicBezTo>
                  <a:lnTo>
                    <a:pt x="6828536" y="203200"/>
                  </a:lnTo>
                  <a:cubicBezTo>
                    <a:pt x="6828536" y="98044"/>
                    <a:pt x="6743065" y="12700"/>
                    <a:pt x="6637528" y="12700"/>
                  </a:cubicBezTo>
                  <a:lnTo>
                    <a:pt x="203708" y="12700"/>
                  </a:lnTo>
                  <a:lnTo>
                    <a:pt x="203708" y="6350"/>
                  </a:lnTo>
                  <a:lnTo>
                    <a:pt x="203708" y="12700"/>
                  </a:lnTo>
                  <a:cubicBezTo>
                    <a:pt x="98171" y="12700"/>
                    <a:pt x="12700" y="98044"/>
                    <a:pt x="12700" y="203200"/>
                  </a:cubicBezTo>
                  <a:close/>
                </a:path>
              </a:pathLst>
            </a:custGeom>
            <a:solidFill>
              <a:srgbClr val="DAD6C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533525" y="5172075"/>
            <a:ext cx="4637265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0F1B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What it is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33525" y="5600700"/>
            <a:ext cx="4637265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B4A5E"/>
                </a:solidFill>
                <a:latin typeface="IBM Plex Sans"/>
                <a:ea typeface="IBM Plex Sans"/>
                <a:cs typeface="IBM Plex Sans"/>
                <a:sym typeface="IBM Plex Sans"/>
              </a:rPr>
              <a:t>A menu-driven C program that simulates one elevator in a 10-floor building.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578651" y="4857750"/>
            <a:ext cx="5130851" cy="2219325"/>
            <a:chOff x="0" y="0"/>
            <a:chExt cx="6841134" cy="2959100"/>
          </a:xfrm>
        </p:grpSpPr>
        <p:sp>
          <p:nvSpPr>
            <p:cNvPr id="11" name="Freeform 11"/>
            <p:cNvSpPr/>
            <p:nvPr/>
          </p:nvSpPr>
          <p:spPr>
            <a:xfrm>
              <a:off x="6350" y="6350"/>
              <a:ext cx="6828536" cy="2946400"/>
            </a:xfrm>
            <a:custGeom>
              <a:avLst/>
              <a:gdLst/>
              <a:ahLst/>
              <a:cxnLst/>
              <a:rect l="l" t="t" r="r" b="b"/>
              <a:pathLst>
                <a:path w="6828536" h="2946400">
                  <a:moveTo>
                    <a:pt x="0" y="196850"/>
                  </a:moveTo>
                  <a:cubicBezTo>
                    <a:pt x="0" y="88138"/>
                    <a:pt x="88392" y="0"/>
                    <a:pt x="197358" y="0"/>
                  </a:cubicBezTo>
                  <a:lnTo>
                    <a:pt x="6631178" y="0"/>
                  </a:lnTo>
                  <a:cubicBezTo>
                    <a:pt x="6740144" y="0"/>
                    <a:pt x="6828536" y="88138"/>
                    <a:pt x="6828536" y="196850"/>
                  </a:cubicBezTo>
                  <a:lnTo>
                    <a:pt x="6828536" y="2749550"/>
                  </a:lnTo>
                  <a:cubicBezTo>
                    <a:pt x="6828536" y="2858262"/>
                    <a:pt x="6740144" y="2946400"/>
                    <a:pt x="6631178" y="2946400"/>
                  </a:cubicBezTo>
                  <a:lnTo>
                    <a:pt x="197358" y="2946400"/>
                  </a:lnTo>
                  <a:cubicBezTo>
                    <a:pt x="88392" y="2946400"/>
                    <a:pt x="0" y="2858262"/>
                    <a:pt x="0" y="2749550"/>
                  </a:cubicBezTo>
                  <a:close/>
                </a:path>
              </a:pathLst>
            </a:custGeom>
            <a:solidFill>
              <a:srgbClr val="FDFCF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0" y="0"/>
              <a:ext cx="6841236" cy="2959100"/>
            </a:xfrm>
            <a:custGeom>
              <a:avLst/>
              <a:gdLst/>
              <a:ahLst/>
              <a:cxnLst/>
              <a:rect l="l" t="t" r="r" b="b"/>
              <a:pathLst>
                <a:path w="6841236" h="2959100">
                  <a:moveTo>
                    <a:pt x="0" y="203200"/>
                  </a:moveTo>
                  <a:cubicBezTo>
                    <a:pt x="0" y="90932"/>
                    <a:pt x="91186" y="0"/>
                    <a:pt x="203708" y="0"/>
                  </a:cubicBezTo>
                  <a:lnTo>
                    <a:pt x="6637528" y="0"/>
                  </a:lnTo>
                  <a:lnTo>
                    <a:pt x="6637528" y="6350"/>
                  </a:lnTo>
                  <a:lnTo>
                    <a:pt x="6637528" y="0"/>
                  </a:lnTo>
                  <a:cubicBezTo>
                    <a:pt x="6750050" y="0"/>
                    <a:pt x="6841236" y="90932"/>
                    <a:pt x="6841236" y="203200"/>
                  </a:cubicBezTo>
                  <a:lnTo>
                    <a:pt x="6834886" y="203200"/>
                  </a:lnTo>
                  <a:lnTo>
                    <a:pt x="6841236" y="203200"/>
                  </a:lnTo>
                  <a:lnTo>
                    <a:pt x="6841236" y="2755900"/>
                  </a:lnTo>
                  <a:lnTo>
                    <a:pt x="6834886" y="2755900"/>
                  </a:lnTo>
                  <a:lnTo>
                    <a:pt x="6841236" y="2755900"/>
                  </a:lnTo>
                  <a:cubicBezTo>
                    <a:pt x="6841236" y="2868168"/>
                    <a:pt x="6750050" y="2959100"/>
                    <a:pt x="6637528" y="2959100"/>
                  </a:cubicBezTo>
                  <a:lnTo>
                    <a:pt x="6637528" y="2952750"/>
                  </a:lnTo>
                  <a:lnTo>
                    <a:pt x="6637528" y="2959100"/>
                  </a:lnTo>
                  <a:lnTo>
                    <a:pt x="203708" y="2959100"/>
                  </a:lnTo>
                  <a:lnTo>
                    <a:pt x="203708" y="2952750"/>
                  </a:lnTo>
                  <a:lnTo>
                    <a:pt x="203708" y="2959100"/>
                  </a:lnTo>
                  <a:cubicBezTo>
                    <a:pt x="91186" y="2959100"/>
                    <a:pt x="0" y="2868168"/>
                    <a:pt x="0" y="2755900"/>
                  </a:cubicBezTo>
                  <a:lnTo>
                    <a:pt x="0" y="203200"/>
                  </a:lnTo>
                  <a:lnTo>
                    <a:pt x="6350" y="203200"/>
                  </a:lnTo>
                  <a:lnTo>
                    <a:pt x="0" y="203200"/>
                  </a:lnTo>
                  <a:moveTo>
                    <a:pt x="12700" y="203200"/>
                  </a:moveTo>
                  <a:lnTo>
                    <a:pt x="12700" y="2755900"/>
                  </a:lnTo>
                  <a:lnTo>
                    <a:pt x="6350" y="2755900"/>
                  </a:lnTo>
                  <a:lnTo>
                    <a:pt x="12700" y="2755900"/>
                  </a:lnTo>
                  <a:cubicBezTo>
                    <a:pt x="12700" y="2861056"/>
                    <a:pt x="98171" y="2946400"/>
                    <a:pt x="203708" y="2946400"/>
                  </a:cubicBezTo>
                  <a:lnTo>
                    <a:pt x="6637528" y="2946400"/>
                  </a:lnTo>
                  <a:cubicBezTo>
                    <a:pt x="6743065" y="2946400"/>
                    <a:pt x="6828536" y="2861056"/>
                    <a:pt x="6828536" y="2755900"/>
                  </a:cubicBezTo>
                  <a:lnTo>
                    <a:pt x="6828536" y="203200"/>
                  </a:lnTo>
                  <a:cubicBezTo>
                    <a:pt x="6828536" y="98044"/>
                    <a:pt x="6743065" y="12700"/>
                    <a:pt x="6637528" y="12700"/>
                  </a:cubicBezTo>
                  <a:lnTo>
                    <a:pt x="203708" y="12700"/>
                  </a:lnTo>
                  <a:lnTo>
                    <a:pt x="203708" y="6350"/>
                  </a:lnTo>
                  <a:lnTo>
                    <a:pt x="203708" y="12700"/>
                  </a:lnTo>
                  <a:cubicBezTo>
                    <a:pt x="98171" y="12700"/>
                    <a:pt x="12700" y="98044"/>
                    <a:pt x="12700" y="203200"/>
                  </a:cubicBezTo>
                  <a:close/>
                </a:path>
              </a:pathLst>
            </a:custGeom>
            <a:solidFill>
              <a:srgbClr val="DAD6C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892976" y="5172075"/>
            <a:ext cx="4637265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0F1B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What it manages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92976" y="5600700"/>
            <a:ext cx="4637265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B4A5E"/>
                </a:solidFill>
                <a:latin typeface="IBM Plex Sans"/>
                <a:ea typeface="IBM Plex Sans"/>
                <a:cs typeface="IBM Plex Sans"/>
                <a:sym typeface="IBM Plex Sans"/>
              </a:rPr>
              <a:t>Elevator requests, each with a Request ID, a source floor and a destination floor.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1938102" y="4857750"/>
            <a:ext cx="5130851" cy="2219325"/>
            <a:chOff x="0" y="0"/>
            <a:chExt cx="6841134" cy="2959100"/>
          </a:xfrm>
        </p:grpSpPr>
        <p:sp>
          <p:nvSpPr>
            <p:cNvPr id="16" name="Freeform 16"/>
            <p:cNvSpPr/>
            <p:nvPr/>
          </p:nvSpPr>
          <p:spPr>
            <a:xfrm>
              <a:off x="6350" y="6350"/>
              <a:ext cx="6828536" cy="2946400"/>
            </a:xfrm>
            <a:custGeom>
              <a:avLst/>
              <a:gdLst/>
              <a:ahLst/>
              <a:cxnLst/>
              <a:rect l="l" t="t" r="r" b="b"/>
              <a:pathLst>
                <a:path w="6828536" h="2946400">
                  <a:moveTo>
                    <a:pt x="0" y="196850"/>
                  </a:moveTo>
                  <a:cubicBezTo>
                    <a:pt x="0" y="88138"/>
                    <a:pt x="88392" y="0"/>
                    <a:pt x="197358" y="0"/>
                  </a:cubicBezTo>
                  <a:lnTo>
                    <a:pt x="6631178" y="0"/>
                  </a:lnTo>
                  <a:cubicBezTo>
                    <a:pt x="6740144" y="0"/>
                    <a:pt x="6828536" y="88138"/>
                    <a:pt x="6828536" y="196850"/>
                  </a:cubicBezTo>
                  <a:lnTo>
                    <a:pt x="6828536" y="2749550"/>
                  </a:lnTo>
                  <a:cubicBezTo>
                    <a:pt x="6828536" y="2858262"/>
                    <a:pt x="6740144" y="2946400"/>
                    <a:pt x="6631178" y="2946400"/>
                  </a:cubicBezTo>
                  <a:lnTo>
                    <a:pt x="197358" y="2946400"/>
                  </a:lnTo>
                  <a:cubicBezTo>
                    <a:pt x="88392" y="2946400"/>
                    <a:pt x="0" y="2858262"/>
                    <a:pt x="0" y="2749550"/>
                  </a:cubicBezTo>
                  <a:close/>
                </a:path>
              </a:pathLst>
            </a:custGeom>
            <a:solidFill>
              <a:srgbClr val="FDFCF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0"/>
              <a:ext cx="6841236" cy="2959100"/>
            </a:xfrm>
            <a:custGeom>
              <a:avLst/>
              <a:gdLst/>
              <a:ahLst/>
              <a:cxnLst/>
              <a:rect l="l" t="t" r="r" b="b"/>
              <a:pathLst>
                <a:path w="6841236" h="2959100">
                  <a:moveTo>
                    <a:pt x="0" y="203200"/>
                  </a:moveTo>
                  <a:cubicBezTo>
                    <a:pt x="0" y="90932"/>
                    <a:pt x="91186" y="0"/>
                    <a:pt x="203708" y="0"/>
                  </a:cubicBezTo>
                  <a:lnTo>
                    <a:pt x="6637528" y="0"/>
                  </a:lnTo>
                  <a:lnTo>
                    <a:pt x="6637528" y="6350"/>
                  </a:lnTo>
                  <a:lnTo>
                    <a:pt x="6637528" y="0"/>
                  </a:lnTo>
                  <a:cubicBezTo>
                    <a:pt x="6750050" y="0"/>
                    <a:pt x="6841236" y="90932"/>
                    <a:pt x="6841236" y="203200"/>
                  </a:cubicBezTo>
                  <a:lnTo>
                    <a:pt x="6834886" y="203200"/>
                  </a:lnTo>
                  <a:lnTo>
                    <a:pt x="6841236" y="203200"/>
                  </a:lnTo>
                  <a:lnTo>
                    <a:pt x="6841236" y="2755900"/>
                  </a:lnTo>
                  <a:lnTo>
                    <a:pt x="6834886" y="2755900"/>
                  </a:lnTo>
                  <a:lnTo>
                    <a:pt x="6841236" y="2755900"/>
                  </a:lnTo>
                  <a:cubicBezTo>
                    <a:pt x="6841236" y="2868168"/>
                    <a:pt x="6750050" y="2959100"/>
                    <a:pt x="6637528" y="2959100"/>
                  </a:cubicBezTo>
                  <a:lnTo>
                    <a:pt x="6637528" y="2952750"/>
                  </a:lnTo>
                  <a:lnTo>
                    <a:pt x="6637528" y="2959100"/>
                  </a:lnTo>
                  <a:lnTo>
                    <a:pt x="203708" y="2959100"/>
                  </a:lnTo>
                  <a:lnTo>
                    <a:pt x="203708" y="2952750"/>
                  </a:lnTo>
                  <a:lnTo>
                    <a:pt x="203708" y="2959100"/>
                  </a:lnTo>
                  <a:cubicBezTo>
                    <a:pt x="91186" y="2959100"/>
                    <a:pt x="0" y="2868168"/>
                    <a:pt x="0" y="2755900"/>
                  </a:cubicBezTo>
                  <a:lnTo>
                    <a:pt x="0" y="203200"/>
                  </a:lnTo>
                  <a:lnTo>
                    <a:pt x="6350" y="203200"/>
                  </a:lnTo>
                  <a:lnTo>
                    <a:pt x="0" y="203200"/>
                  </a:lnTo>
                  <a:moveTo>
                    <a:pt x="12700" y="203200"/>
                  </a:moveTo>
                  <a:lnTo>
                    <a:pt x="12700" y="2755900"/>
                  </a:lnTo>
                  <a:lnTo>
                    <a:pt x="6350" y="2755900"/>
                  </a:lnTo>
                  <a:lnTo>
                    <a:pt x="12700" y="2755900"/>
                  </a:lnTo>
                  <a:cubicBezTo>
                    <a:pt x="12700" y="2861056"/>
                    <a:pt x="98171" y="2946400"/>
                    <a:pt x="203708" y="2946400"/>
                  </a:cubicBezTo>
                  <a:lnTo>
                    <a:pt x="6637528" y="2946400"/>
                  </a:lnTo>
                  <a:cubicBezTo>
                    <a:pt x="6743065" y="2946400"/>
                    <a:pt x="6828536" y="2861056"/>
                    <a:pt x="6828536" y="2755900"/>
                  </a:cubicBezTo>
                  <a:lnTo>
                    <a:pt x="6828536" y="203200"/>
                  </a:lnTo>
                  <a:cubicBezTo>
                    <a:pt x="6828536" y="98044"/>
                    <a:pt x="6743065" y="12700"/>
                    <a:pt x="6637528" y="12700"/>
                  </a:cubicBezTo>
                  <a:lnTo>
                    <a:pt x="203708" y="12700"/>
                  </a:lnTo>
                  <a:lnTo>
                    <a:pt x="203708" y="6350"/>
                  </a:lnTo>
                  <a:lnTo>
                    <a:pt x="203708" y="12700"/>
                  </a:lnTo>
                  <a:cubicBezTo>
                    <a:pt x="98171" y="12700"/>
                    <a:pt x="12700" y="98044"/>
                    <a:pt x="12700" y="203200"/>
                  </a:cubicBezTo>
                  <a:close/>
                </a:path>
              </a:pathLst>
            </a:custGeom>
            <a:solidFill>
              <a:srgbClr val="DAD6C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2252427" y="5172075"/>
            <a:ext cx="4637265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0F1B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Core objective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252427" y="5600700"/>
            <a:ext cx="4637265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B4A5E"/>
                </a:solidFill>
                <a:latin typeface="IBM Plex Sans"/>
                <a:ea typeface="IBM Plex Sans"/>
                <a:cs typeface="IBM Plex Sans"/>
                <a:sym typeface="IBM Plex Sans"/>
              </a:rPr>
              <a:t>Handle many requests efficiently using basic data structures.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219200" y="7343775"/>
            <a:ext cx="15849600" cy="714375"/>
            <a:chOff x="0" y="0"/>
            <a:chExt cx="21132800" cy="9525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132800" cy="952500"/>
            </a:xfrm>
            <a:custGeom>
              <a:avLst/>
              <a:gdLst/>
              <a:ahLst/>
              <a:cxnLst/>
              <a:rect l="l" t="t" r="r" b="b"/>
              <a:pathLst>
                <a:path w="21132800" h="9525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20980400" y="0"/>
                  </a:lnTo>
                  <a:cubicBezTo>
                    <a:pt x="21064601" y="0"/>
                    <a:pt x="21132800" y="68199"/>
                    <a:pt x="21132800" y="152400"/>
                  </a:cubicBezTo>
                  <a:lnTo>
                    <a:pt x="21132800" y="800100"/>
                  </a:lnTo>
                  <a:cubicBezTo>
                    <a:pt x="21132800" y="884301"/>
                    <a:pt x="21064601" y="952500"/>
                    <a:pt x="20980400" y="952500"/>
                  </a:cubicBezTo>
                  <a:lnTo>
                    <a:pt x="152400" y="952500"/>
                  </a:lnTo>
                  <a:cubicBezTo>
                    <a:pt x="68199" y="952500"/>
                    <a:pt x="0" y="884301"/>
                    <a:pt x="0" y="800100"/>
                  </a:cubicBezTo>
                  <a:close/>
                </a:path>
              </a:pathLst>
            </a:custGeom>
            <a:solidFill>
              <a:srgbClr val="B9C6D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21132800" cy="1009650"/>
            </a:xfrm>
            <a:prstGeom prst="rect">
              <a:avLst/>
            </a:prstGeom>
          </p:spPr>
          <p:txBody>
            <a:bodyPr lIns="127000" tIns="127000" rIns="127000" bIns="127000" rtlCol="0" anchor="t"/>
            <a:lstStyle/>
            <a:p>
              <a:pPr algn="ctr">
                <a:lnSpc>
                  <a:spcPts val="3087"/>
                </a:lnSpc>
              </a:pPr>
              <a:r>
                <a:rPr lang="en-US" sz="2100" b="1" spc="279">
                  <a:solidFill>
                    <a:srgbClr val="0F1B2D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Scope: up to 20 pending requests · elevator starts at floor 1 · Request IDs start at 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19200" y="2838450"/>
            <a:ext cx="3343275" cy="1600200"/>
            <a:chOff x="0" y="0"/>
            <a:chExt cx="4457700" cy="21336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457700" cy="2133600"/>
            </a:xfrm>
            <a:custGeom>
              <a:avLst/>
              <a:gdLst/>
              <a:ahLst/>
              <a:cxnLst/>
              <a:rect l="l" t="t" r="r" b="b"/>
              <a:pathLst>
                <a:path w="4457700" h="21336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4254500" y="0"/>
                  </a:lnTo>
                  <a:cubicBezTo>
                    <a:pt x="4366768" y="0"/>
                    <a:pt x="4457700" y="90932"/>
                    <a:pt x="4457700" y="203200"/>
                  </a:cubicBezTo>
                  <a:lnTo>
                    <a:pt x="4457700" y="1930400"/>
                  </a:lnTo>
                  <a:cubicBezTo>
                    <a:pt x="4457700" y="2042668"/>
                    <a:pt x="4366768" y="2133600"/>
                    <a:pt x="4254500" y="2133600"/>
                  </a:cubicBezTo>
                  <a:lnTo>
                    <a:pt x="203200" y="2133600"/>
                  </a:lnTo>
                  <a:cubicBezTo>
                    <a:pt x="90932" y="2133600"/>
                    <a:pt x="0" y="2042668"/>
                    <a:pt x="0" y="1930400"/>
                  </a:cubicBezTo>
                  <a:close/>
                </a:path>
              </a:pathLst>
            </a:custGeom>
            <a:solidFill>
              <a:srgbClr val="0F1B2D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485900" y="3105150"/>
            <a:ext cx="2894171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5F3E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1 · Requested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85900" y="3505200"/>
            <a:ext cx="2894171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B9C6D8"/>
                </a:solidFill>
                <a:latin typeface="IBM Plex Sans"/>
                <a:ea typeface="IBM Plex Sans"/>
                <a:cs typeface="IBM Plex Sans"/>
                <a:sym typeface="IBM Plex Sans"/>
              </a:rPr>
              <a:t>Source and destination entered and validated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4714875" y="3467100"/>
            <a:ext cx="533400" cy="342900"/>
            <a:chOff x="0" y="0"/>
            <a:chExt cx="711200" cy="457200"/>
          </a:xfrm>
        </p:grpSpPr>
        <p:sp>
          <p:nvSpPr>
            <p:cNvPr id="28" name="Freeform 28" descr="arrow-right"/>
            <p:cNvSpPr/>
            <p:nvPr/>
          </p:nvSpPr>
          <p:spPr>
            <a:xfrm>
              <a:off x="0" y="0"/>
              <a:ext cx="711200" cy="457200"/>
            </a:xfrm>
            <a:custGeom>
              <a:avLst/>
              <a:gdLst/>
              <a:ahLst/>
              <a:cxnLst/>
              <a:rect l="l" t="t" r="r" b="b"/>
              <a:pathLst>
                <a:path w="711200" h="457200">
                  <a:moveTo>
                    <a:pt x="0" y="0"/>
                  </a:moveTo>
                  <a:lnTo>
                    <a:pt x="711200" y="0"/>
                  </a:lnTo>
                  <a:lnTo>
                    <a:pt x="711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400675" y="2838450"/>
            <a:ext cx="3343275" cy="1600200"/>
            <a:chOff x="0" y="0"/>
            <a:chExt cx="4457700" cy="21336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457700" cy="2133600"/>
            </a:xfrm>
            <a:custGeom>
              <a:avLst/>
              <a:gdLst/>
              <a:ahLst/>
              <a:cxnLst/>
              <a:rect l="l" t="t" r="r" b="b"/>
              <a:pathLst>
                <a:path w="4457700" h="21336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4254500" y="0"/>
                  </a:lnTo>
                  <a:cubicBezTo>
                    <a:pt x="4366768" y="0"/>
                    <a:pt x="4457700" y="90932"/>
                    <a:pt x="4457700" y="203200"/>
                  </a:cubicBezTo>
                  <a:lnTo>
                    <a:pt x="4457700" y="1930400"/>
                  </a:lnTo>
                  <a:cubicBezTo>
                    <a:pt x="4457700" y="2042668"/>
                    <a:pt x="4366768" y="2133600"/>
                    <a:pt x="4254500" y="2133600"/>
                  </a:cubicBezTo>
                  <a:lnTo>
                    <a:pt x="203200" y="2133600"/>
                  </a:lnTo>
                  <a:cubicBezTo>
                    <a:pt x="90932" y="2133600"/>
                    <a:pt x="0" y="2042668"/>
                    <a:pt x="0" y="1930400"/>
                  </a:cubicBezTo>
                  <a:close/>
                </a:path>
              </a:pathLst>
            </a:custGeom>
            <a:solidFill>
              <a:srgbClr val="2F6FB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5667375" y="3105150"/>
            <a:ext cx="2894171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2 · Pending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7375" y="3505200"/>
            <a:ext cx="2894171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EAF1F9"/>
                </a:solidFill>
                <a:latin typeface="IBM Plex Sans"/>
                <a:ea typeface="IBM Plex Sans"/>
                <a:cs typeface="IBM Plex Sans"/>
                <a:sym typeface="IBM Plex Sans"/>
              </a:rPr>
              <a:t>Stored with a unique Request ID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8896350" y="3467100"/>
            <a:ext cx="533400" cy="342900"/>
            <a:chOff x="0" y="0"/>
            <a:chExt cx="711200" cy="457200"/>
          </a:xfrm>
        </p:grpSpPr>
        <p:sp>
          <p:nvSpPr>
            <p:cNvPr id="34" name="Freeform 34" descr="arrow-right"/>
            <p:cNvSpPr/>
            <p:nvPr/>
          </p:nvSpPr>
          <p:spPr>
            <a:xfrm>
              <a:off x="0" y="0"/>
              <a:ext cx="711200" cy="457200"/>
            </a:xfrm>
            <a:custGeom>
              <a:avLst/>
              <a:gdLst/>
              <a:ahLst/>
              <a:cxnLst/>
              <a:rect l="l" t="t" r="r" b="b"/>
              <a:pathLst>
                <a:path w="711200" h="457200">
                  <a:moveTo>
                    <a:pt x="0" y="0"/>
                  </a:moveTo>
                  <a:lnTo>
                    <a:pt x="711200" y="0"/>
                  </a:lnTo>
                  <a:lnTo>
                    <a:pt x="711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666980" y="2833688"/>
            <a:ext cx="3220193" cy="1604962"/>
            <a:chOff x="0" y="0"/>
            <a:chExt cx="4293591" cy="213995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293616" cy="2139950"/>
            </a:xfrm>
            <a:custGeom>
              <a:avLst/>
              <a:gdLst/>
              <a:ahLst/>
              <a:cxnLst/>
              <a:rect l="l" t="t" r="r" b="b"/>
              <a:pathLst>
                <a:path w="4293616" h="213995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4090416" y="0"/>
                  </a:lnTo>
                  <a:cubicBezTo>
                    <a:pt x="4202684" y="0"/>
                    <a:pt x="4293616" y="90932"/>
                    <a:pt x="4293616" y="203200"/>
                  </a:cubicBezTo>
                  <a:lnTo>
                    <a:pt x="4293616" y="1936750"/>
                  </a:lnTo>
                  <a:cubicBezTo>
                    <a:pt x="4293616" y="2049018"/>
                    <a:pt x="4202684" y="2139950"/>
                    <a:pt x="4090416" y="2139950"/>
                  </a:cubicBezTo>
                  <a:lnTo>
                    <a:pt x="203200" y="2139950"/>
                  </a:lnTo>
                  <a:cubicBezTo>
                    <a:pt x="90932" y="2139950"/>
                    <a:pt x="0" y="2049018"/>
                    <a:pt x="0" y="1936750"/>
                  </a:cubicBezTo>
                  <a:close/>
                </a:path>
              </a:pathLst>
            </a:custGeom>
            <a:solidFill>
              <a:srgbClr val="0F1B2D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9933680" y="3109913"/>
            <a:ext cx="2767394" cy="419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39"/>
              </a:lnSpc>
            </a:pPr>
            <a:r>
              <a:rPr lang="en-US" sz="2729" b="1">
                <a:solidFill>
                  <a:srgbClr val="F5F3E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3 · Served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933680" y="3538833"/>
            <a:ext cx="2767394" cy="671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6"/>
              </a:lnSpc>
            </a:pPr>
            <a:r>
              <a:rPr lang="en-US" sz="1704">
                <a:solidFill>
                  <a:srgbClr val="B9C6D8"/>
                </a:solidFill>
                <a:latin typeface="IBM Plex Sans"/>
                <a:ea typeface="IBM Plex Sans"/>
                <a:cs typeface="IBM Plex Sans"/>
                <a:sym typeface="IBM Plex Sans"/>
              </a:rPr>
              <a:t>Elevator goes to the source, then the destination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13039725" y="3467100"/>
            <a:ext cx="533400" cy="342900"/>
            <a:chOff x="0" y="0"/>
            <a:chExt cx="711200" cy="457200"/>
          </a:xfrm>
        </p:grpSpPr>
        <p:sp>
          <p:nvSpPr>
            <p:cNvPr id="40" name="Freeform 40" descr="arrow-right"/>
            <p:cNvSpPr/>
            <p:nvPr/>
          </p:nvSpPr>
          <p:spPr>
            <a:xfrm>
              <a:off x="0" y="0"/>
              <a:ext cx="711200" cy="457200"/>
            </a:xfrm>
            <a:custGeom>
              <a:avLst/>
              <a:gdLst/>
              <a:ahLst/>
              <a:cxnLst/>
              <a:rect l="l" t="t" r="r" b="b"/>
              <a:pathLst>
                <a:path w="711200" h="457200">
                  <a:moveTo>
                    <a:pt x="0" y="0"/>
                  </a:moveTo>
                  <a:lnTo>
                    <a:pt x="711200" y="0"/>
                  </a:lnTo>
                  <a:lnTo>
                    <a:pt x="711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3725525" y="2838450"/>
            <a:ext cx="3343275" cy="1600200"/>
            <a:chOff x="0" y="0"/>
            <a:chExt cx="4457700" cy="21336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457700" cy="2133600"/>
            </a:xfrm>
            <a:custGeom>
              <a:avLst/>
              <a:gdLst/>
              <a:ahLst/>
              <a:cxnLst/>
              <a:rect l="l" t="t" r="r" b="b"/>
              <a:pathLst>
                <a:path w="4457700" h="21336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4254500" y="0"/>
                  </a:lnTo>
                  <a:cubicBezTo>
                    <a:pt x="4366768" y="0"/>
                    <a:pt x="4457700" y="90932"/>
                    <a:pt x="4457700" y="203200"/>
                  </a:cubicBezTo>
                  <a:lnTo>
                    <a:pt x="4457700" y="1930400"/>
                  </a:lnTo>
                  <a:cubicBezTo>
                    <a:pt x="4457700" y="2042668"/>
                    <a:pt x="4366768" y="2133600"/>
                    <a:pt x="4254500" y="2133600"/>
                  </a:cubicBezTo>
                  <a:lnTo>
                    <a:pt x="203200" y="2133600"/>
                  </a:lnTo>
                  <a:cubicBezTo>
                    <a:pt x="90932" y="2133600"/>
                    <a:pt x="0" y="2042668"/>
                    <a:pt x="0" y="1930400"/>
                  </a:cubicBezTo>
                  <a:close/>
                </a:path>
              </a:pathLst>
            </a:custGeom>
            <a:solidFill>
              <a:srgbClr val="1F7A6D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3992225" y="3105150"/>
            <a:ext cx="2894171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4 · Completed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992225" y="3505200"/>
            <a:ext cx="2894171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E6F4F1"/>
                </a:solidFill>
                <a:latin typeface="IBM Plex Sans"/>
                <a:ea typeface="IBM Plex Sans"/>
                <a:cs typeface="IBM Plex Sans"/>
                <a:sym typeface="IBM Plex Sans"/>
              </a:rPr>
              <a:t>Recorded in the request history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19200" y="1181100"/>
            <a:ext cx="16325088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225">
                <a:solidFill>
                  <a:srgbClr val="2F6FB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 APPROACH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19200" y="1819275"/>
            <a:ext cx="16325088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4200" b="1">
                <a:solidFill>
                  <a:srgbClr val="0F1B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Proposed Solution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219200" y="2676525"/>
            <a:ext cx="2590800" cy="1647825"/>
            <a:chOff x="0" y="0"/>
            <a:chExt cx="3454400" cy="2197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454400" cy="2197100"/>
            </a:xfrm>
            <a:custGeom>
              <a:avLst/>
              <a:gdLst/>
              <a:ahLst/>
              <a:cxnLst/>
              <a:rect l="l" t="t" r="r" b="b"/>
              <a:pathLst>
                <a:path w="3454400" h="21971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3251200" y="0"/>
                  </a:lnTo>
                  <a:cubicBezTo>
                    <a:pt x="3363468" y="0"/>
                    <a:pt x="3454400" y="90932"/>
                    <a:pt x="3454400" y="203200"/>
                  </a:cubicBezTo>
                  <a:lnTo>
                    <a:pt x="3454400" y="1993900"/>
                  </a:lnTo>
                  <a:cubicBezTo>
                    <a:pt x="3454400" y="2106168"/>
                    <a:pt x="3363468" y="2197100"/>
                    <a:pt x="3251200" y="2197100"/>
                  </a:cubicBezTo>
                  <a:lnTo>
                    <a:pt x="203200" y="2197100"/>
                  </a:lnTo>
                  <a:cubicBezTo>
                    <a:pt x="90932" y="2197100"/>
                    <a:pt x="0" y="2106168"/>
                    <a:pt x="0" y="1993900"/>
                  </a:cubicBezTo>
                  <a:close/>
                </a:path>
              </a:pathLst>
            </a:custGeom>
            <a:solidFill>
              <a:srgbClr val="0F1B2D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409700" y="3124200"/>
            <a:ext cx="2286000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5F3E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Requests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09700" y="3524250"/>
            <a:ext cx="228600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B9C6D8"/>
                </a:solidFill>
                <a:latin typeface="IBM Plex Sans"/>
                <a:ea typeface="IBM Plex Sans"/>
                <a:cs typeface="IBM Plex Sans"/>
                <a:sym typeface="IBM Plex Sans"/>
              </a:rPr>
              <a:t>user input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3943350" y="3338512"/>
            <a:ext cx="457200" cy="323850"/>
            <a:chOff x="0" y="0"/>
            <a:chExt cx="609600" cy="431800"/>
          </a:xfrm>
        </p:grpSpPr>
        <p:sp>
          <p:nvSpPr>
            <p:cNvPr id="9" name="Freeform 9" descr="arrow-right"/>
            <p:cNvSpPr/>
            <p:nvPr/>
          </p:nvSpPr>
          <p:spPr>
            <a:xfrm>
              <a:off x="0" y="0"/>
              <a:ext cx="609600" cy="431800"/>
            </a:xfrm>
            <a:custGeom>
              <a:avLst/>
              <a:gdLst/>
              <a:ahLst/>
              <a:cxnLst/>
              <a:rect l="l" t="t" r="r" b="b"/>
              <a:pathLst>
                <a:path w="609600" h="431800">
                  <a:moveTo>
                    <a:pt x="0" y="0"/>
                  </a:moveTo>
                  <a:lnTo>
                    <a:pt x="609600" y="0"/>
                  </a:lnTo>
                  <a:lnTo>
                    <a:pt x="6096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33900" y="2676525"/>
            <a:ext cx="2590800" cy="1647825"/>
            <a:chOff x="0" y="0"/>
            <a:chExt cx="3454400" cy="21971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454400" cy="2197100"/>
            </a:xfrm>
            <a:custGeom>
              <a:avLst/>
              <a:gdLst/>
              <a:ahLst/>
              <a:cxnLst/>
              <a:rect l="l" t="t" r="r" b="b"/>
              <a:pathLst>
                <a:path w="3454400" h="21971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3251200" y="0"/>
                  </a:lnTo>
                  <a:cubicBezTo>
                    <a:pt x="3363468" y="0"/>
                    <a:pt x="3454400" y="90932"/>
                    <a:pt x="3454400" y="203200"/>
                  </a:cubicBezTo>
                  <a:lnTo>
                    <a:pt x="3454400" y="1993900"/>
                  </a:lnTo>
                  <a:cubicBezTo>
                    <a:pt x="3454400" y="2106168"/>
                    <a:pt x="3363468" y="2197100"/>
                    <a:pt x="3251200" y="2197100"/>
                  </a:cubicBezTo>
                  <a:lnTo>
                    <a:pt x="203200" y="2197100"/>
                  </a:lnTo>
                  <a:cubicBezTo>
                    <a:pt x="90932" y="2197100"/>
                    <a:pt x="0" y="2106168"/>
                    <a:pt x="0" y="1993900"/>
                  </a:cubicBezTo>
                  <a:close/>
                </a:path>
              </a:pathLst>
            </a:custGeom>
            <a:solidFill>
              <a:srgbClr val="2F6FB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4724400" y="3124200"/>
            <a:ext cx="2286000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Pending Queue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724400" y="3524250"/>
            <a:ext cx="228600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EAF1F9"/>
                </a:solidFill>
                <a:latin typeface="IBM Plex Sans"/>
                <a:ea typeface="IBM Plex Sans"/>
                <a:cs typeface="IBM Plex Sans"/>
                <a:sym typeface="IBM Plex Sans"/>
              </a:rPr>
              <a:t>array-based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7258050" y="3338512"/>
            <a:ext cx="457200" cy="323850"/>
            <a:chOff x="0" y="0"/>
            <a:chExt cx="609600" cy="431800"/>
          </a:xfrm>
        </p:grpSpPr>
        <p:sp>
          <p:nvSpPr>
            <p:cNvPr id="15" name="Freeform 15" descr="arrow-right"/>
            <p:cNvSpPr/>
            <p:nvPr/>
          </p:nvSpPr>
          <p:spPr>
            <a:xfrm>
              <a:off x="0" y="0"/>
              <a:ext cx="609600" cy="431800"/>
            </a:xfrm>
            <a:custGeom>
              <a:avLst/>
              <a:gdLst/>
              <a:ahLst/>
              <a:cxnLst/>
              <a:rect l="l" t="t" r="r" b="b"/>
              <a:pathLst>
                <a:path w="609600" h="431800">
                  <a:moveTo>
                    <a:pt x="0" y="0"/>
                  </a:moveTo>
                  <a:lnTo>
                    <a:pt x="609600" y="0"/>
                  </a:lnTo>
                  <a:lnTo>
                    <a:pt x="6096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848600" y="2676525"/>
            <a:ext cx="2590800" cy="1647825"/>
            <a:chOff x="0" y="0"/>
            <a:chExt cx="3454400" cy="21971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454400" cy="2197100"/>
            </a:xfrm>
            <a:custGeom>
              <a:avLst/>
              <a:gdLst/>
              <a:ahLst/>
              <a:cxnLst/>
              <a:rect l="l" t="t" r="r" b="b"/>
              <a:pathLst>
                <a:path w="3454400" h="21971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3251200" y="0"/>
                  </a:lnTo>
                  <a:cubicBezTo>
                    <a:pt x="3363468" y="0"/>
                    <a:pt x="3454400" y="90932"/>
                    <a:pt x="3454400" y="203200"/>
                  </a:cubicBezTo>
                  <a:lnTo>
                    <a:pt x="3454400" y="1993900"/>
                  </a:lnTo>
                  <a:cubicBezTo>
                    <a:pt x="3454400" y="2106168"/>
                    <a:pt x="3363468" y="2197100"/>
                    <a:pt x="3251200" y="2197100"/>
                  </a:cubicBezTo>
                  <a:lnTo>
                    <a:pt x="203200" y="2197100"/>
                  </a:lnTo>
                  <a:cubicBezTo>
                    <a:pt x="90932" y="2197100"/>
                    <a:pt x="0" y="2106168"/>
                    <a:pt x="0" y="1993900"/>
                  </a:cubicBezTo>
                  <a:close/>
                </a:path>
              </a:pathLst>
            </a:custGeom>
            <a:solidFill>
              <a:srgbClr val="0F1B2D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8039100" y="2943225"/>
            <a:ext cx="228600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5F3E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FIFO Processing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039100" y="3705225"/>
            <a:ext cx="228600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B9C6D8"/>
                </a:solidFill>
                <a:latin typeface="IBM Plex Sans"/>
                <a:ea typeface="IBM Plex Sans"/>
                <a:cs typeface="IBM Plex Sans"/>
                <a:sym typeface="IBM Plex Sans"/>
              </a:rPr>
              <a:t>front first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0572750" y="3338512"/>
            <a:ext cx="457200" cy="323850"/>
            <a:chOff x="0" y="0"/>
            <a:chExt cx="609600" cy="431800"/>
          </a:xfrm>
        </p:grpSpPr>
        <p:sp>
          <p:nvSpPr>
            <p:cNvPr id="21" name="Freeform 21" descr="arrow-right"/>
            <p:cNvSpPr/>
            <p:nvPr/>
          </p:nvSpPr>
          <p:spPr>
            <a:xfrm>
              <a:off x="0" y="0"/>
              <a:ext cx="609600" cy="431800"/>
            </a:xfrm>
            <a:custGeom>
              <a:avLst/>
              <a:gdLst/>
              <a:ahLst/>
              <a:cxnLst/>
              <a:rect l="l" t="t" r="r" b="b"/>
              <a:pathLst>
                <a:path w="609600" h="431800">
                  <a:moveTo>
                    <a:pt x="0" y="0"/>
                  </a:moveTo>
                  <a:lnTo>
                    <a:pt x="609600" y="0"/>
                  </a:lnTo>
                  <a:lnTo>
                    <a:pt x="6096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163300" y="2676525"/>
            <a:ext cx="2590800" cy="1647825"/>
            <a:chOff x="0" y="0"/>
            <a:chExt cx="3454400" cy="21971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454400" cy="2197100"/>
            </a:xfrm>
            <a:custGeom>
              <a:avLst/>
              <a:gdLst/>
              <a:ahLst/>
              <a:cxnLst/>
              <a:rect l="l" t="t" r="r" b="b"/>
              <a:pathLst>
                <a:path w="3454400" h="21971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3251200" y="0"/>
                  </a:lnTo>
                  <a:cubicBezTo>
                    <a:pt x="3363468" y="0"/>
                    <a:pt x="3454400" y="90932"/>
                    <a:pt x="3454400" y="203200"/>
                  </a:cubicBezTo>
                  <a:lnTo>
                    <a:pt x="3454400" y="1993900"/>
                  </a:lnTo>
                  <a:cubicBezTo>
                    <a:pt x="3454400" y="2106168"/>
                    <a:pt x="3363468" y="2197100"/>
                    <a:pt x="3251200" y="2197100"/>
                  </a:cubicBezTo>
                  <a:lnTo>
                    <a:pt x="203200" y="2197100"/>
                  </a:lnTo>
                  <a:cubicBezTo>
                    <a:pt x="90932" y="2197100"/>
                    <a:pt x="0" y="2106168"/>
                    <a:pt x="0" y="1993900"/>
                  </a:cubicBezTo>
                  <a:close/>
                </a:path>
              </a:pathLst>
            </a:custGeom>
            <a:solidFill>
              <a:srgbClr val="0F1B2D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1353800" y="2943225"/>
            <a:ext cx="228600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dirty="0">
                <a:solidFill>
                  <a:srgbClr val="F5F3E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Elevator Movement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353800" y="3705225"/>
            <a:ext cx="228600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B9C6D8"/>
                </a:solidFill>
                <a:latin typeface="IBM Plex Sans"/>
                <a:ea typeface="IBM Plex Sans"/>
                <a:cs typeface="IBM Plex Sans"/>
                <a:sym typeface="IBM Plex Sans"/>
              </a:rPr>
              <a:t>floor by floor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3887450" y="3338512"/>
            <a:ext cx="457200" cy="323850"/>
            <a:chOff x="0" y="0"/>
            <a:chExt cx="609600" cy="431800"/>
          </a:xfrm>
        </p:grpSpPr>
        <p:sp>
          <p:nvSpPr>
            <p:cNvPr id="27" name="Freeform 27" descr="arrow-right"/>
            <p:cNvSpPr/>
            <p:nvPr/>
          </p:nvSpPr>
          <p:spPr>
            <a:xfrm>
              <a:off x="0" y="0"/>
              <a:ext cx="609600" cy="431800"/>
            </a:xfrm>
            <a:custGeom>
              <a:avLst/>
              <a:gdLst/>
              <a:ahLst/>
              <a:cxnLst/>
              <a:rect l="l" t="t" r="r" b="b"/>
              <a:pathLst>
                <a:path w="609600" h="431800">
                  <a:moveTo>
                    <a:pt x="0" y="0"/>
                  </a:moveTo>
                  <a:lnTo>
                    <a:pt x="609600" y="0"/>
                  </a:lnTo>
                  <a:lnTo>
                    <a:pt x="6096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4478000" y="2676525"/>
            <a:ext cx="2590800" cy="1647825"/>
            <a:chOff x="0" y="0"/>
            <a:chExt cx="3454400" cy="21971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454400" cy="2197100"/>
            </a:xfrm>
            <a:custGeom>
              <a:avLst/>
              <a:gdLst/>
              <a:ahLst/>
              <a:cxnLst/>
              <a:rect l="l" t="t" r="r" b="b"/>
              <a:pathLst>
                <a:path w="3454400" h="21971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3251200" y="0"/>
                  </a:lnTo>
                  <a:cubicBezTo>
                    <a:pt x="3363468" y="0"/>
                    <a:pt x="3454400" y="90932"/>
                    <a:pt x="3454400" y="203200"/>
                  </a:cubicBezTo>
                  <a:lnTo>
                    <a:pt x="3454400" y="1993900"/>
                  </a:lnTo>
                  <a:cubicBezTo>
                    <a:pt x="3454400" y="2106168"/>
                    <a:pt x="3363468" y="2197100"/>
                    <a:pt x="3251200" y="2197100"/>
                  </a:cubicBezTo>
                  <a:lnTo>
                    <a:pt x="203200" y="2197100"/>
                  </a:lnTo>
                  <a:cubicBezTo>
                    <a:pt x="90932" y="2197100"/>
                    <a:pt x="0" y="2106168"/>
                    <a:pt x="0" y="1993900"/>
                  </a:cubicBezTo>
                  <a:close/>
                </a:path>
              </a:pathLst>
            </a:custGeom>
            <a:solidFill>
              <a:srgbClr val="1F7A6D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4668500" y="2943225"/>
            <a:ext cx="228600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Completed History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668500" y="3705225"/>
            <a:ext cx="228600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E6F4F1"/>
                </a:solidFill>
                <a:latin typeface="IBM Plex Sans"/>
                <a:ea typeface="IBM Plex Sans"/>
                <a:cs typeface="IBM Plex Sans"/>
                <a:sym typeface="IBM Plex Sans"/>
              </a:rPr>
              <a:t>linked list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219200" y="4591050"/>
            <a:ext cx="5156149" cy="1162050"/>
            <a:chOff x="0" y="0"/>
            <a:chExt cx="6874866" cy="1549400"/>
          </a:xfrm>
        </p:grpSpPr>
        <p:sp>
          <p:nvSpPr>
            <p:cNvPr id="33" name="Freeform 33"/>
            <p:cNvSpPr/>
            <p:nvPr/>
          </p:nvSpPr>
          <p:spPr>
            <a:xfrm>
              <a:off x="6350" y="6350"/>
              <a:ext cx="6862190" cy="1536700"/>
            </a:xfrm>
            <a:custGeom>
              <a:avLst/>
              <a:gdLst/>
              <a:ahLst/>
              <a:cxnLst/>
              <a:rect l="l" t="t" r="r" b="b"/>
              <a:pathLst>
                <a:path w="6862190" h="1536700">
                  <a:moveTo>
                    <a:pt x="0" y="196850"/>
                  </a:moveTo>
                  <a:cubicBezTo>
                    <a:pt x="0" y="88138"/>
                    <a:pt x="88646" y="0"/>
                    <a:pt x="198120" y="0"/>
                  </a:cubicBezTo>
                  <a:lnTo>
                    <a:pt x="6664071" y="0"/>
                  </a:lnTo>
                  <a:cubicBezTo>
                    <a:pt x="6773545" y="0"/>
                    <a:pt x="6862190" y="88138"/>
                    <a:pt x="6862190" y="196850"/>
                  </a:cubicBezTo>
                  <a:lnTo>
                    <a:pt x="6862190" y="1339850"/>
                  </a:lnTo>
                  <a:cubicBezTo>
                    <a:pt x="6862190" y="1448562"/>
                    <a:pt x="6773545" y="1536700"/>
                    <a:pt x="6664071" y="1536700"/>
                  </a:cubicBezTo>
                  <a:lnTo>
                    <a:pt x="198120" y="1536700"/>
                  </a:lnTo>
                  <a:cubicBezTo>
                    <a:pt x="88646" y="1536700"/>
                    <a:pt x="0" y="1448562"/>
                    <a:pt x="0" y="1339850"/>
                  </a:cubicBezTo>
                  <a:close/>
                </a:path>
              </a:pathLst>
            </a:custGeom>
            <a:solidFill>
              <a:srgbClr val="FDFCF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0" y="0"/>
              <a:ext cx="6874890" cy="1549400"/>
            </a:xfrm>
            <a:custGeom>
              <a:avLst/>
              <a:gdLst/>
              <a:ahLst/>
              <a:cxnLst/>
              <a:rect l="l" t="t" r="r" b="b"/>
              <a:pathLst>
                <a:path w="6874890" h="1549400">
                  <a:moveTo>
                    <a:pt x="0" y="203200"/>
                  </a:moveTo>
                  <a:cubicBezTo>
                    <a:pt x="0" y="90932"/>
                    <a:pt x="91567" y="0"/>
                    <a:pt x="204470" y="0"/>
                  </a:cubicBezTo>
                  <a:lnTo>
                    <a:pt x="6670421" y="0"/>
                  </a:lnTo>
                  <a:lnTo>
                    <a:pt x="6670421" y="6350"/>
                  </a:lnTo>
                  <a:lnTo>
                    <a:pt x="6670421" y="0"/>
                  </a:lnTo>
                  <a:cubicBezTo>
                    <a:pt x="6783324" y="0"/>
                    <a:pt x="6874890" y="90932"/>
                    <a:pt x="6874890" y="203200"/>
                  </a:cubicBezTo>
                  <a:lnTo>
                    <a:pt x="6868540" y="203200"/>
                  </a:lnTo>
                  <a:lnTo>
                    <a:pt x="6874890" y="203200"/>
                  </a:lnTo>
                  <a:lnTo>
                    <a:pt x="6874890" y="1346200"/>
                  </a:lnTo>
                  <a:lnTo>
                    <a:pt x="6868540" y="1346200"/>
                  </a:lnTo>
                  <a:lnTo>
                    <a:pt x="6874890" y="1346200"/>
                  </a:lnTo>
                  <a:cubicBezTo>
                    <a:pt x="6874890" y="1458468"/>
                    <a:pt x="6783324" y="1549400"/>
                    <a:pt x="6670421" y="1549400"/>
                  </a:cubicBezTo>
                  <a:lnTo>
                    <a:pt x="6670421" y="1543050"/>
                  </a:lnTo>
                  <a:lnTo>
                    <a:pt x="6670421" y="1549400"/>
                  </a:lnTo>
                  <a:lnTo>
                    <a:pt x="204470" y="1549400"/>
                  </a:lnTo>
                  <a:lnTo>
                    <a:pt x="204470" y="1543050"/>
                  </a:lnTo>
                  <a:lnTo>
                    <a:pt x="204470" y="1549400"/>
                  </a:lnTo>
                  <a:cubicBezTo>
                    <a:pt x="91567" y="1549400"/>
                    <a:pt x="0" y="1458468"/>
                    <a:pt x="0" y="1346200"/>
                  </a:cubicBezTo>
                  <a:lnTo>
                    <a:pt x="0" y="203200"/>
                  </a:lnTo>
                  <a:lnTo>
                    <a:pt x="6350" y="203200"/>
                  </a:lnTo>
                  <a:lnTo>
                    <a:pt x="0" y="203200"/>
                  </a:lnTo>
                  <a:moveTo>
                    <a:pt x="12700" y="203200"/>
                  </a:moveTo>
                  <a:lnTo>
                    <a:pt x="12700" y="1346200"/>
                  </a:lnTo>
                  <a:lnTo>
                    <a:pt x="6350" y="1346200"/>
                  </a:lnTo>
                  <a:lnTo>
                    <a:pt x="12700" y="1346200"/>
                  </a:lnTo>
                  <a:cubicBezTo>
                    <a:pt x="12700" y="1451356"/>
                    <a:pt x="98552" y="1536700"/>
                    <a:pt x="204470" y="1536700"/>
                  </a:cubicBezTo>
                  <a:lnTo>
                    <a:pt x="6670421" y="1536700"/>
                  </a:lnTo>
                  <a:cubicBezTo>
                    <a:pt x="6776339" y="1536700"/>
                    <a:pt x="6862190" y="1451356"/>
                    <a:pt x="6862190" y="1346200"/>
                  </a:cubicBezTo>
                  <a:lnTo>
                    <a:pt x="6862190" y="203200"/>
                  </a:lnTo>
                  <a:cubicBezTo>
                    <a:pt x="6862190" y="98044"/>
                    <a:pt x="6776339" y="12700"/>
                    <a:pt x="6670421" y="12700"/>
                  </a:cubicBezTo>
                  <a:lnTo>
                    <a:pt x="204470" y="12700"/>
                  </a:lnTo>
                  <a:lnTo>
                    <a:pt x="204470" y="6350"/>
                  </a:lnTo>
                  <a:lnTo>
                    <a:pt x="204470" y="12700"/>
                  </a:lnTo>
                  <a:cubicBezTo>
                    <a:pt x="98552" y="12700"/>
                    <a:pt x="12700" y="98044"/>
                    <a:pt x="12700" y="203200"/>
                  </a:cubicBezTo>
                  <a:close/>
                </a:path>
              </a:pathLst>
            </a:custGeom>
            <a:solidFill>
              <a:srgbClr val="DAD6C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495425" y="4819650"/>
            <a:ext cx="4741812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0F1B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Single elevator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95425" y="5162550"/>
            <a:ext cx="4741812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3B4A5E"/>
                </a:solidFill>
                <a:latin typeface="IBM Plex Sans"/>
                <a:ea typeface="IBM Plex Sans"/>
                <a:cs typeface="IBM Plex Sans"/>
                <a:sym typeface="IBM Plex Sans"/>
              </a:rPr>
              <a:t>One car serves every request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6565849" y="4591050"/>
            <a:ext cx="5156149" cy="1162050"/>
            <a:chOff x="0" y="0"/>
            <a:chExt cx="6874866" cy="1549400"/>
          </a:xfrm>
        </p:grpSpPr>
        <p:sp>
          <p:nvSpPr>
            <p:cNvPr id="38" name="Freeform 38"/>
            <p:cNvSpPr/>
            <p:nvPr/>
          </p:nvSpPr>
          <p:spPr>
            <a:xfrm>
              <a:off x="6350" y="6350"/>
              <a:ext cx="6862190" cy="1536700"/>
            </a:xfrm>
            <a:custGeom>
              <a:avLst/>
              <a:gdLst/>
              <a:ahLst/>
              <a:cxnLst/>
              <a:rect l="l" t="t" r="r" b="b"/>
              <a:pathLst>
                <a:path w="6862190" h="1536700">
                  <a:moveTo>
                    <a:pt x="0" y="196850"/>
                  </a:moveTo>
                  <a:cubicBezTo>
                    <a:pt x="0" y="88138"/>
                    <a:pt x="88646" y="0"/>
                    <a:pt x="198120" y="0"/>
                  </a:cubicBezTo>
                  <a:lnTo>
                    <a:pt x="6664071" y="0"/>
                  </a:lnTo>
                  <a:cubicBezTo>
                    <a:pt x="6773545" y="0"/>
                    <a:pt x="6862190" y="88138"/>
                    <a:pt x="6862190" y="196850"/>
                  </a:cubicBezTo>
                  <a:lnTo>
                    <a:pt x="6862190" y="1339850"/>
                  </a:lnTo>
                  <a:cubicBezTo>
                    <a:pt x="6862190" y="1448562"/>
                    <a:pt x="6773545" y="1536700"/>
                    <a:pt x="6664071" y="1536700"/>
                  </a:cubicBezTo>
                  <a:lnTo>
                    <a:pt x="198120" y="1536700"/>
                  </a:lnTo>
                  <a:cubicBezTo>
                    <a:pt x="88646" y="1536700"/>
                    <a:pt x="0" y="1448562"/>
                    <a:pt x="0" y="1339850"/>
                  </a:cubicBezTo>
                  <a:close/>
                </a:path>
              </a:pathLst>
            </a:custGeom>
            <a:solidFill>
              <a:srgbClr val="FDFCF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39"/>
            <p:cNvSpPr/>
            <p:nvPr/>
          </p:nvSpPr>
          <p:spPr>
            <a:xfrm>
              <a:off x="0" y="0"/>
              <a:ext cx="6874890" cy="1549400"/>
            </a:xfrm>
            <a:custGeom>
              <a:avLst/>
              <a:gdLst/>
              <a:ahLst/>
              <a:cxnLst/>
              <a:rect l="l" t="t" r="r" b="b"/>
              <a:pathLst>
                <a:path w="6874890" h="1549400">
                  <a:moveTo>
                    <a:pt x="0" y="203200"/>
                  </a:moveTo>
                  <a:cubicBezTo>
                    <a:pt x="0" y="90932"/>
                    <a:pt x="91567" y="0"/>
                    <a:pt x="204470" y="0"/>
                  </a:cubicBezTo>
                  <a:lnTo>
                    <a:pt x="6670421" y="0"/>
                  </a:lnTo>
                  <a:lnTo>
                    <a:pt x="6670421" y="6350"/>
                  </a:lnTo>
                  <a:lnTo>
                    <a:pt x="6670421" y="0"/>
                  </a:lnTo>
                  <a:cubicBezTo>
                    <a:pt x="6783324" y="0"/>
                    <a:pt x="6874890" y="90932"/>
                    <a:pt x="6874890" y="203200"/>
                  </a:cubicBezTo>
                  <a:lnTo>
                    <a:pt x="6868540" y="203200"/>
                  </a:lnTo>
                  <a:lnTo>
                    <a:pt x="6874890" y="203200"/>
                  </a:lnTo>
                  <a:lnTo>
                    <a:pt x="6874890" y="1346200"/>
                  </a:lnTo>
                  <a:lnTo>
                    <a:pt x="6868540" y="1346200"/>
                  </a:lnTo>
                  <a:lnTo>
                    <a:pt x="6874890" y="1346200"/>
                  </a:lnTo>
                  <a:cubicBezTo>
                    <a:pt x="6874890" y="1458468"/>
                    <a:pt x="6783324" y="1549400"/>
                    <a:pt x="6670421" y="1549400"/>
                  </a:cubicBezTo>
                  <a:lnTo>
                    <a:pt x="6670421" y="1543050"/>
                  </a:lnTo>
                  <a:lnTo>
                    <a:pt x="6670421" y="1549400"/>
                  </a:lnTo>
                  <a:lnTo>
                    <a:pt x="204470" y="1549400"/>
                  </a:lnTo>
                  <a:lnTo>
                    <a:pt x="204470" y="1543050"/>
                  </a:lnTo>
                  <a:lnTo>
                    <a:pt x="204470" y="1549400"/>
                  </a:lnTo>
                  <a:cubicBezTo>
                    <a:pt x="91567" y="1549400"/>
                    <a:pt x="0" y="1458468"/>
                    <a:pt x="0" y="1346200"/>
                  </a:cubicBezTo>
                  <a:lnTo>
                    <a:pt x="0" y="203200"/>
                  </a:lnTo>
                  <a:lnTo>
                    <a:pt x="6350" y="203200"/>
                  </a:lnTo>
                  <a:lnTo>
                    <a:pt x="0" y="203200"/>
                  </a:lnTo>
                  <a:moveTo>
                    <a:pt x="12700" y="203200"/>
                  </a:moveTo>
                  <a:lnTo>
                    <a:pt x="12700" y="1346200"/>
                  </a:lnTo>
                  <a:lnTo>
                    <a:pt x="6350" y="1346200"/>
                  </a:lnTo>
                  <a:lnTo>
                    <a:pt x="12700" y="1346200"/>
                  </a:lnTo>
                  <a:cubicBezTo>
                    <a:pt x="12700" y="1451356"/>
                    <a:pt x="98552" y="1536700"/>
                    <a:pt x="204470" y="1536700"/>
                  </a:cubicBezTo>
                  <a:lnTo>
                    <a:pt x="6670421" y="1536700"/>
                  </a:lnTo>
                  <a:cubicBezTo>
                    <a:pt x="6776339" y="1536700"/>
                    <a:pt x="6862190" y="1451356"/>
                    <a:pt x="6862190" y="1346200"/>
                  </a:cubicBezTo>
                  <a:lnTo>
                    <a:pt x="6862190" y="203200"/>
                  </a:lnTo>
                  <a:cubicBezTo>
                    <a:pt x="6862190" y="98044"/>
                    <a:pt x="6776339" y="12700"/>
                    <a:pt x="6670421" y="12700"/>
                  </a:cubicBezTo>
                  <a:lnTo>
                    <a:pt x="204470" y="12700"/>
                  </a:lnTo>
                  <a:lnTo>
                    <a:pt x="204470" y="6350"/>
                  </a:lnTo>
                  <a:lnTo>
                    <a:pt x="204470" y="12700"/>
                  </a:lnTo>
                  <a:cubicBezTo>
                    <a:pt x="98552" y="12700"/>
                    <a:pt x="12700" y="98044"/>
                    <a:pt x="12700" y="203200"/>
                  </a:cubicBezTo>
                  <a:close/>
                </a:path>
              </a:pathLst>
            </a:custGeom>
            <a:solidFill>
              <a:srgbClr val="DAD6C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6842074" y="4819650"/>
            <a:ext cx="4741812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0F1B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Fixed 10 floors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842074" y="5162550"/>
            <a:ext cx="4741812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3B4A5E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Constant FLOORS = 10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11912498" y="4591050"/>
            <a:ext cx="5156302" cy="1162050"/>
            <a:chOff x="0" y="0"/>
            <a:chExt cx="6875069" cy="1549400"/>
          </a:xfrm>
        </p:grpSpPr>
        <p:sp>
          <p:nvSpPr>
            <p:cNvPr id="43" name="Freeform 43"/>
            <p:cNvSpPr/>
            <p:nvPr/>
          </p:nvSpPr>
          <p:spPr>
            <a:xfrm>
              <a:off x="6350" y="6350"/>
              <a:ext cx="6862318" cy="1536700"/>
            </a:xfrm>
            <a:custGeom>
              <a:avLst/>
              <a:gdLst/>
              <a:ahLst/>
              <a:cxnLst/>
              <a:rect l="l" t="t" r="r" b="b"/>
              <a:pathLst>
                <a:path w="6862318" h="1536700">
                  <a:moveTo>
                    <a:pt x="0" y="196850"/>
                  </a:moveTo>
                  <a:cubicBezTo>
                    <a:pt x="0" y="88138"/>
                    <a:pt x="88646" y="0"/>
                    <a:pt x="198120" y="0"/>
                  </a:cubicBezTo>
                  <a:lnTo>
                    <a:pt x="6664198" y="0"/>
                  </a:lnTo>
                  <a:cubicBezTo>
                    <a:pt x="6773672" y="0"/>
                    <a:pt x="6862318" y="88138"/>
                    <a:pt x="6862318" y="196850"/>
                  </a:cubicBezTo>
                  <a:lnTo>
                    <a:pt x="6862318" y="1339850"/>
                  </a:lnTo>
                  <a:cubicBezTo>
                    <a:pt x="6862318" y="1448562"/>
                    <a:pt x="6773672" y="1536700"/>
                    <a:pt x="6664198" y="1536700"/>
                  </a:cubicBezTo>
                  <a:lnTo>
                    <a:pt x="198120" y="1536700"/>
                  </a:lnTo>
                  <a:cubicBezTo>
                    <a:pt x="88646" y="1536700"/>
                    <a:pt x="0" y="1448562"/>
                    <a:pt x="0" y="1339850"/>
                  </a:cubicBezTo>
                  <a:close/>
                </a:path>
              </a:pathLst>
            </a:custGeom>
            <a:solidFill>
              <a:srgbClr val="FDFCF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44"/>
            <p:cNvSpPr/>
            <p:nvPr/>
          </p:nvSpPr>
          <p:spPr>
            <a:xfrm>
              <a:off x="0" y="0"/>
              <a:ext cx="6875018" cy="1549400"/>
            </a:xfrm>
            <a:custGeom>
              <a:avLst/>
              <a:gdLst/>
              <a:ahLst/>
              <a:cxnLst/>
              <a:rect l="l" t="t" r="r" b="b"/>
              <a:pathLst>
                <a:path w="6875018" h="1549400">
                  <a:moveTo>
                    <a:pt x="0" y="203200"/>
                  </a:moveTo>
                  <a:cubicBezTo>
                    <a:pt x="0" y="90932"/>
                    <a:pt x="91567" y="0"/>
                    <a:pt x="204470" y="0"/>
                  </a:cubicBezTo>
                  <a:lnTo>
                    <a:pt x="6670548" y="0"/>
                  </a:lnTo>
                  <a:lnTo>
                    <a:pt x="6670548" y="6350"/>
                  </a:lnTo>
                  <a:lnTo>
                    <a:pt x="6670548" y="0"/>
                  </a:lnTo>
                  <a:cubicBezTo>
                    <a:pt x="6783451" y="0"/>
                    <a:pt x="6875018" y="90932"/>
                    <a:pt x="6875018" y="203200"/>
                  </a:cubicBezTo>
                  <a:lnTo>
                    <a:pt x="6868668" y="203200"/>
                  </a:lnTo>
                  <a:lnTo>
                    <a:pt x="6875018" y="203200"/>
                  </a:lnTo>
                  <a:lnTo>
                    <a:pt x="6875018" y="1346200"/>
                  </a:lnTo>
                  <a:lnTo>
                    <a:pt x="6868668" y="1346200"/>
                  </a:lnTo>
                  <a:lnTo>
                    <a:pt x="6875018" y="1346200"/>
                  </a:lnTo>
                  <a:cubicBezTo>
                    <a:pt x="6875018" y="1458468"/>
                    <a:pt x="6783451" y="1549400"/>
                    <a:pt x="6670548" y="1549400"/>
                  </a:cubicBezTo>
                  <a:lnTo>
                    <a:pt x="6670548" y="1543050"/>
                  </a:lnTo>
                  <a:lnTo>
                    <a:pt x="6670548" y="1549400"/>
                  </a:lnTo>
                  <a:lnTo>
                    <a:pt x="204470" y="1549400"/>
                  </a:lnTo>
                  <a:lnTo>
                    <a:pt x="204470" y="1543050"/>
                  </a:lnTo>
                  <a:lnTo>
                    <a:pt x="204470" y="1549400"/>
                  </a:lnTo>
                  <a:cubicBezTo>
                    <a:pt x="91567" y="1549400"/>
                    <a:pt x="0" y="1458468"/>
                    <a:pt x="0" y="1346200"/>
                  </a:cubicBezTo>
                  <a:lnTo>
                    <a:pt x="0" y="203200"/>
                  </a:lnTo>
                  <a:lnTo>
                    <a:pt x="6350" y="203200"/>
                  </a:lnTo>
                  <a:lnTo>
                    <a:pt x="0" y="203200"/>
                  </a:lnTo>
                  <a:moveTo>
                    <a:pt x="12700" y="203200"/>
                  </a:moveTo>
                  <a:lnTo>
                    <a:pt x="12700" y="1346200"/>
                  </a:lnTo>
                  <a:lnTo>
                    <a:pt x="6350" y="1346200"/>
                  </a:lnTo>
                  <a:lnTo>
                    <a:pt x="12700" y="1346200"/>
                  </a:lnTo>
                  <a:cubicBezTo>
                    <a:pt x="12700" y="1451356"/>
                    <a:pt x="98552" y="1536700"/>
                    <a:pt x="204470" y="1536700"/>
                  </a:cubicBezTo>
                  <a:lnTo>
                    <a:pt x="6670548" y="1536700"/>
                  </a:lnTo>
                  <a:cubicBezTo>
                    <a:pt x="6776466" y="1536700"/>
                    <a:pt x="6862318" y="1451356"/>
                    <a:pt x="6862318" y="1346200"/>
                  </a:cubicBezTo>
                  <a:lnTo>
                    <a:pt x="6862318" y="203200"/>
                  </a:lnTo>
                  <a:cubicBezTo>
                    <a:pt x="6862318" y="98044"/>
                    <a:pt x="6776466" y="12700"/>
                    <a:pt x="6670548" y="12700"/>
                  </a:cubicBezTo>
                  <a:lnTo>
                    <a:pt x="204470" y="12700"/>
                  </a:lnTo>
                  <a:lnTo>
                    <a:pt x="204470" y="6350"/>
                  </a:lnTo>
                  <a:lnTo>
                    <a:pt x="204470" y="12700"/>
                  </a:lnTo>
                  <a:cubicBezTo>
                    <a:pt x="98552" y="12700"/>
                    <a:pt x="12700" y="98044"/>
                    <a:pt x="12700" y="203200"/>
                  </a:cubicBezTo>
                  <a:close/>
                </a:path>
              </a:pathLst>
            </a:custGeom>
            <a:solidFill>
              <a:srgbClr val="DAD6C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2188723" y="4819650"/>
            <a:ext cx="4741964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0F1B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Queue + FIFO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2188723" y="5162550"/>
            <a:ext cx="4741964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3B4A5E"/>
                </a:solidFill>
                <a:latin typeface="IBM Plex Sans"/>
                <a:ea typeface="IBM Plex Sans"/>
                <a:cs typeface="IBM Plex Sans"/>
                <a:sym typeface="IBM Plex Sans"/>
              </a:rPr>
              <a:t>Pending work in arrival order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1219200" y="5943600"/>
            <a:ext cx="5156149" cy="1162050"/>
            <a:chOff x="0" y="0"/>
            <a:chExt cx="6874866" cy="1549400"/>
          </a:xfrm>
        </p:grpSpPr>
        <p:sp>
          <p:nvSpPr>
            <p:cNvPr id="48" name="Freeform 48"/>
            <p:cNvSpPr/>
            <p:nvPr/>
          </p:nvSpPr>
          <p:spPr>
            <a:xfrm>
              <a:off x="6350" y="6350"/>
              <a:ext cx="6862190" cy="1536700"/>
            </a:xfrm>
            <a:custGeom>
              <a:avLst/>
              <a:gdLst/>
              <a:ahLst/>
              <a:cxnLst/>
              <a:rect l="l" t="t" r="r" b="b"/>
              <a:pathLst>
                <a:path w="6862190" h="1536700">
                  <a:moveTo>
                    <a:pt x="0" y="196850"/>
                  </a:moveTo>
                  <a:cubicBezTo>
                    <a:pt x="0" y="88138"/>
                    <a:pt x="88646" y="0"/>
                    <a:pt x="198120" y="0"/>
                  </a:cubicBezTo>
                  <a:lnTo>
                    <a:pt x="6664071" y="0"/>
                  </a:lnTo>
                  <a:cubicBezTo>
                    <a:pt x="6773545" y="0"/>
                    <a:pt x="6862190" y="88138"/>
                    <a:pt x="6862190" y="196850"/>
                  </a:cubicBezTo>
                  <a:lnTo>
                    <a:pt x="6862190" y="1339850"/>
                  </a:lnTo>
                  <a:cubicBezTo>
                    <a:pt x="6862190" y="1448562"/>
                    <a:pt x="6773545" y="1536700"/>
                    <a:pt x="6664071" y="1536700"/>
                  </a:cubicBezTo>
                  <a:lnTo>
                    <a:pt x="198120" y="1536700"/>
                  </a:lnTo>
                  <a:cubicBezTo>
                    <a:pt x="88646" y="1536700"/>
                    <a:pt x="0" y="1448562"/>
                    <a:pt x="0" y="1339850"/>
                  </a:cubicBezTo>
                  <a:close/>
                </a:path>
              </a:pathLst>
            </a:custGeom>
            <a:solidFill>
              <a:srgbClr val="FDFCF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Freeform 49"/>
            <p:cNvSpPr/>
            <p:nvPr/>
          </p:nvSpPr>
          <p:spPr>
            <a:xfrm>
              <a:off x="0" y="0"/>
              <a:ext cx="6874890" cy="1549400"/>
            </a:xfrm>
            <a:custGeom>
              <a:avLst/>
              <a:gdLst/>
              <a:ahLst/>
              <a:cxnLst/>
              <a:rect l="l" t="t" r="r" b="b"/>
              <a:pathLst>
                <a:path w="6874890" h="1549400">
                  <a:moveTo>
                    <a:pt x="0" y="203200"/>
                  </a:moveTo>
                  <a:cubicBezTo>
                    <a:pt x="0" y="90932"/>
                    <a:pt x="91567" y="0"/>
                    <a:pt x="204470" y="0"/>
                  </a:cubicBezTo>
                  <a:lnTo>
                    <a:pt x="6670421" y="0"/>
                  </a:lnTo>
                  <a:lnTo>
                    <a:pt x="6670421" y="6350"/>
                  </a:lnTo>
                  <a:lnTo>
                    <a:pt x="6670421" y="0"/>
                  </a:lnTo>
                  <a:cubicBezTo>
                    <a:pt x="6783324" y="0"/>
                    <a:pt x="6874890" y="90932"/>
                    <a:pt x="6874890" y="203200"/>
                  </a:cubicBezTo>
                  <a:lnTo>
                    <a:pt x="6868540" y="203200"/>
                  </a:lnTo>
                  <a:lnTo>
                    <a:pt x="6874890" y="203200"/>
                  </a:lnTo>
                  <a:lnTo>
                    <a:pt x="6874890" y="1346200"/>
                  </a:lnTo>
                  <a:lnTo>
                    <a:pt x="6868540" y="1346200"/>
                  </a:lnTo>
                  <a:lnTo>
                    <a:pt x="6874890" y="1346200"/>
                  </a:lnTo>
                  <a:cubicBezTo>
                    <a:pt x="6874890" y="1458468"/>
                    <a:pt x="6783324" y="1549400"/>
                    <a:pt x="6670421" y="1549400"/>
                  </a:cubicBezTo>
                  <a:lnTo>
                    <a:pt x="6670421" y="1543050"/>
                  </a:lnTo>
                  <a:lnTo>
                    <a:pt x="6670421" y="1549400"/>
                  </a:lnTo>
                  <a:lnTo>
                    <a:pt x="204470" y="1549400"/>
                  </a:lnTo>
                  <a:lnTo>
                    <a:pt x="204470" y="1543050"/>
                  </a:lnTo>
                  <a:lnTo>
                    <a:pt x="204470" y="1549400"/>
                  </a:lnTo>
                  <a:cubicBezTo>
                    <a:pt x="91567" y="1549400"/>
                    <a:pt x="0" y="1458468"/>
                    <a:pt x="0" y="1346200"/>
                  </a:cubicBezTo>
                  <a:lnTo>
                    <a:pt x="0" y="203200"/>
                  </a:lnTo>
                  <a:lnTo>
                    <a:pt x="6350" y="203200"/>
                  </a:lnTo>
                  <a:lnTo>
                    <a:pt x="0" y="203200"/>
                  </a:lnTo>
                  <a:moveTo>
                    <a:pt x="12700" y="203200"/>
                  </a:moveTo>
                  <a:lnTo>
                    <a:pt x="12700" y="1346200"/>
                  </a:lnTo>
                  <a:lnTo>
                    <a:pt x="6350" y="1346200"/>
                  </a:lnTo>
                  <a:lnTo>
                    <a:pt x="12700" y="1346200"/>
                  </a:lnTo>
                  <a:cubicBezTo>
                    <a:pt x="12700" y="1451356"/>
                    <a:pt x="98552" y="1536700"/>
                    <a:pt x="204470" y="1536700"/>
                  </a:cubicBezTo>
                  <a:lnTo>
                    <a:pt x="6670421" y="1536700"/>
                  </a:lnTo>
                  <a:cubicBezTo>
                    <a:pt x="6776339" y="1536700"/>
                    <a:pt x="6862190" y="1451356"/>
                    <a:pt x="6862190" y="1346200"/>
                  </a:cubicBezTo>
                  <a:lnTo>
                    <a:pt x="6862190" y="203200"/>
                  </a:lnTo>
                  <a:cubicBezTo>
                    <a:pt x="6862190" y="98044"/>
                    <a:pt x="6776339" y="12700"/>
                    <a:pt x="6670421" y="12700"/>
                  </a:cubicBezTo>
                  <a:lnTo>
                    <a:pt x="204470" y="12700"/>
                  </a:lnTo>
                  <a:lnTo>
                    <a:pt x="204470" y="6350"/>
                  </a:lnTo>
                  <a:lnTo>
                    <a:pt x="204470" y="12700"/>
                  </a:lnTo>
                  <a:cubicBezTo>
                    <a:pt x="98552" y="12700"/>
                    <a:pt x="12700" y="98044"/>
                    <a:pt x="12700" y="203200"/>
                  </a:cubicBezTo>
                  <a:close/>
                </a:path>
              </a:pathLst>
            </a:custGeom>
            <a:solidFill>
              <a:srgbClr val="DAD6C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495425" y="6172200"/>
            <a:ext cx="4741812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0F1B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Linked-list history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495425" y="6515100"/>
            <a:ext cx="4741812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3B4A5E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Completed requests, in order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6565849" y="5943600"/>
            <a:ext cx="5156149" cy="1162050"/>
            <a:chOff x="0" y="0"/>
            <a:chExt cx="6874866" cy="1549400"/>
          </a:xfrm>
        </p:grpSpPr>
        <p:sp>
          <p:nvSpPr>
            <p:cNvPr id="53" name="Freeform 53"/>
            <p:cNvSpPr/>
            <p:nvPr/>
          </p:nvSpPr>
          <p:spPr>
            <a:xfrm>
              <a:off x="6350" y="6350"/>
              <a:ext cx="6862190" cy="1536700"/>
            </a:xfrm>
            <a:custGeom>
              <a:avLst/>
              <a:gdLst/>
              <a:ahLst/>
              <a:cxnLst/>
              <a:rect l="l" t="t" r="r" b="b"/>
              <a:pathLst>
                <a:path w="6862190" h="1536700">
                  <a:moveTo>
                    <a:pt x="0" y="196850"/>
                  </a:moveTo>
                  <a:cubicBezTo>
                    <a:pt x="0" y="88138"/>
                    <a:pt x="88646" y="0"/>
                    <a:pt x="198120" y="0"/>
                  </a:cubicBezTo>
                  <a:lnTo>
                    <a:pt x="6664071" y="0"/>
                  </a:lnTo>
                  <a:cubicBezTo>
                    <a:pt x="6773545" y="0"/>
                    <a:pt x="6862190" y="88138"/>
                    <a:pt x="6862190" y="196850"/>
                  </a:cubicBezTo>
                  <a:lnTo>
                    <a:pt x="6862190" y="1339850"/>
                  </a:lnTo>
                  <a:cubicBezTo>
                    <a:pt x="6862190" y="1448562"/>
                    <a:pt x="6773545" y="1536700"/>
                    <a:pt x="6664071" y="1536700"/>
                  </a:cubicBezTo>
                  <a:lnTo>
                    <a:pt x="198120" y="1536700"/>
                  </a:lnTo>
                  <a:cubicBezTo>
                    <a:pt x="88646" y="1536700"/>
                    <a:pt x="0" y="1448562"/>
                    <a:pt x="0" y="1339850"/>
                  </a:cubicBezTo>
                  <a:close/>
                </a:path>
              </a:pathLst>
            </a:custGeom>
            <a:solidFill>
              <a:srgbClr val="FDFCF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54"/>
            <p:cNvSpPr/>
            <p:nvPr/>
          </p:nvSpPr>
          <p:spPr>
            <a:xfrm>
              <a:off x="0" y="0"/>
              <a:ext cx="6874890" cy="1549400"/>
            </a:xfrm>
            <a:custGeom>
              <a:avLst/>
              <a:gdLst/>
              <a:ahLst/>
              <a:cxnLst/>
              <a:rect l="l" t="t" r="r" b="b"/>
              <a:pathLst>
                <a:path w="6874890" h="1549400">
                  <a:moveTo>
                    <a:pt x="0" y="203200"/>
                  </a:moveTo>
                  <a:cubicBezTo>
                    <a:pt x="0" y="90932"/>
                    <a:pt x="91567" y="0"/>
                    <a:pt x="204470" y="0"/>
                  </a:cubicBezTo>
                  <a:lnTo>
                    <a:pt x="6670421" y="0"/>
                  </a:lnTo>
                  <a:lnTo>
                    <a:pt x="6670421" y="6350"/>
                  </a:lnTo>
                  <a:lnTo>
                    <a:pt x="6670421" y="0"/>
                  </a:lnTo>
                  <a:cubicBezTo>
                    <a:pt x="6783324" y="0"/>
                    <a:pt x="6874890" y="90932"/>
                    <a:pt x="6874890" y="203200"/>
                  </a:cubicBezTo>
                  <a:lnTo>
                    <a:pt x="6868540" y="203200"/>
                  </a:lnTo>
                  <a:lnTo>
                    <a:pt x="6874890" y="203200"/>
                  </a:lnTo>
                  <a:lnTo>
                    <a:pt x="6874890" y="1346200"/>
                  </a:lnTo>
                  <a:lnTo>
                    <a:pt x="6868540" y="1346200"/>
                  </a:lnTo>
                  <a:lnTo>
                    <a:pt x="6874890" y="1346200"/>
                  </a:lnTo>
                  <a:cubicBezTo>
                    <a:pt x="6874890" y="1458468"/>
                    <a:pt x="6783324" y="1549400"/>
                    <a:pt x="6670421" y="1549400"/>
                  </a:cubicBezTo>
                  <a:lnTo>
                    <a:pt x="6670421" y="1543050"/>
                  </a:lnTo>
                  <a:lnTo>
                    <a:pt x="6670421" y="1549400"/>
                  </a:lnTo>
                  <a:lnTo>
                    <a:pt x="204470" y="1549400"/>
                  </a:lnTo>
                  <a:lnTo>
                    <a:pt x="204470" y="1543050"/>
                  </a:lnTo>
                  <a:lnTo>
                    <a:pt x="204470" y="1549400"/>
                  </a:lnTo>
                  <a:cubicBezTo>
                    <a:pt x="91567" y="1549400"/>
                    <a:pt x="0" y="1458468"/>
                    <a:pt x="0" y="1346200"/>
                  </a:cubicBezTo>
                  <a:lnTo>
                    <a:pt x="0" y="203200"/>
                  </a:lnTo>
                  <a:lnTo>
                    <a:pt x="6350" y="203200"/>
                  </a:lnTo>
                  <a:lnTo>
                    <a:pt x="0" y="203200"/>
                  </a:lnTo>
                  <a:moveTo>
                    <a:pt x="12700" y="203200"/>
                  </a:moveTo>
                  <a:lnTo>
                    <a:pt x="12700" y="1346200"/>
                  </a:lnTo>
                  <a:lnTo>
                    <a:pt x="6350" y="1346200"/>
                  </a:lnTo>
                  <a:lnTo>
                    <a:pt x="12700" y="1346200"/>
                  </a:lnTo>
                  <a:cubicBezTo>
                    <a:pt x="12700" y="1451356"/>
                    <a:pt x="98552" y="1536700"/>
                    <a:pt x="204470" y="1536700"/>
                  </a:cubicBezTo>
                  <a:lnTo>
                    <a:pt x="6670421" y="1536700"/>
                  </a:lnTo>
                  <a:cubicBezTo>
                    <a:pt x="6776339" y="1536700"/>
                    <a:pt x="6862190" y="1451356"/>
                    <a:pt x="6862190" y="1346200"/>
                  </a:cubicBezTo>
                  <a:lnTo>
                    <a:pt x="6862190" y="203200"/>
                  </a:lnTo>
                  <a:cubicBezTo>
                    <a:pt x="6862190" y="98044"/>
                    <a:pt x="6776339" y="12700"/>
                    <a:pt x="6670421" y="12700"/>
                  </a:cubicBezTo>
                  <a:lnTo>
                    <a:pt x="204470" y="12700"/>
                  </a:lnTo>
                  <a:lnTo>
                    <a:pt x="204470" y="6350"/>
                  </a:lnTo>
                  <a:lnTo>
                    <a:pt x="204470" y="12700"/>
                  </a:lnTo>
                  <a:cubicBezTo>
                    <a:pt x="98552" y="12700"/>
                    <a:pt x="12700" y="98044"/>
                    <a:pt x="12700" y="203200"/>
                  </a:cubicBezTo>
                  <a:close/>
                </a:path>
              </a:pathLst>
            </a:custGeom>
            <a:solidFill>
              <a:srgbClr val="DAD6C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6842074" y="6172200"/>
            <a:ext cx="4741812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0F1B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Floor-by-floor movement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842074" y="6515100"/>
            <a:ext cx="4741812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3B4A5E"/>
                </a:solidFill>
                <a:latin typeface="IBM Plex Sans"/>
                <a:ea typeface="IBM Plex Sans"/>
                <a:cs typeface="IBM Plex Sans"/>
                <a:sym typeface="IBM Plex Sans"/>
              </a:rPr>
              <a:t>Step-by-step simulation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11912498" y="5943600"/>
            <a:ext cx="5156302" cy="1162050"/>
            <a:chOff x="0" y="0"/>
            <a:chExt cx="6875069" cy="1549400"/>
          </a:xfrm>
        </p:grpSpPr>
        <p:sp>
          <p:nvSpPr>
            <p:cNvPr id="58" name="Freeform 58"/>
            <p:cNvSpPr/>
            <p:nvPr/>
          </p:nvSpPr>
          <p:spPr>
            <a:xfrm>
              <a:off x="6350" y="6350"/>
              <a:ext cx="6862318" cy="1536700"/>
            </a:xfrm>
            <a:custGeom>
              <a:avLst/>
              <a:gdLst/>
              <a:ahLst/>
              <a:cxnLst/>
              <a:rect l="l" t="t" r="r" b="b"/>
              <a:pathLst>
                <a:path w="6862318" h="1536700">
                  <a:moveTo>
                    <a:pt x="0" y="196850"/>
                  </a:moveTo>
                  <a:cubicBezTo>
                    <a:pt x="0" y="88138"/>
                    <a:pt x="88646" y="0"/>
                    <a:pt x="198120" y="0"/>
                  </a:cubicBezTo>
                  <a:lnTo>
                    <a:pt x="6664198" y="0"/>
                  </a:lnTo>
                  <a:cubicBezTo>
                    <a:pt x="6773672" y="0"/>
                    <a:pt x="6862318" y="88138"/>
                    <a:pt x="6862318" y="196850"/>
                  </a:cubicBezTo>
                  <a:lnTo>
                    <a:pt x="6862318" y="1339850"/>
                  </a:lnTo>
                  <a:cubicBezTo>
                    <a:pt x="6862318" y="1448562"/>
                    <a:pt x="6773672" y="1536700"/>
                    <a:pt x="6664198" y="1536700"/>
                  </a:cubicBezTo>
                  <a:lnTo>
                    <a:pt x="198120" y="1536700"/>
                  </a:lnTo>
                  <a:cubicBezTo>
                    <a:pt x="88646" y="1536700"/>
                    <a:pt x="0" y="1448562"/>
                    <a:pt x="0" y="1339850"/>
                  </a:cubicBezTo>
                  <a:close/>
                </a:path>
              </a:pathLst>
            </a:custGeom>
            <a:solidFill>
              <a:srgbClr val="FDFCF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59"/>
            <p:cNvSpPr/>
            <p:nvPr/>
          </p:nvSpPr>
          <p:spPr>
            <a:xfrm>
              <a:off x="0" y="0"/>
              <a:ext cx="6875018" cy="1549400"/>
            </a:xfrm>
            <a:custGeom>
              <a:avLst/>
              <a:gdLst/>
              <a:ahLst/>
              <a:cxnLst/>
              <a:rect l="l" t="t" r="r" b="b"/>
              <a:pathLst>
                <a:path w="6875018" h="1549400">
                  <a:moveTo>
                    <a:pt x="0" y="203200"/>
                  </a:moveTo>
                  <a:cubicBezTo>
                    <a:pt x="0" y="90932"/>
                    <a:pt x="91567" y="0"/>
                    <a:pt x="204470" y="0"/>
                  </a:cubicBezTo>
                  <a:lnTo>
                    <a:pt x="6670548" y="0"/>
                  </a:lnTo>
                  <a:lnTo>
                    <a:pt x="6670548" y="6350"/>
                  </a:lnTo>
                  <a:lnTo>
                    <a:pt x="6670548" y="0"/>
                  </a:lnTo>
                  <a:cubicBezTo>
                    <a:pt x="6783451" y="0"/>
                    <a:pt x="6875018" y="90932"/>
                    <a:pt x="6875018" y="203200"/>
                  </a:cubicBezTo>
                  <a:lnTo>
                    <a:pt x="6868668" y="203200"/>
                  </a:lnTo>
                  <a:lnTo>
                    <a:pt x="6875018" y="203200"/>
                  </a:lnTo>
                  <a:lnTo>
                    <a:pt x="6875018" y="1346200"/>
                  </a:lnTo>
                  <a:lnTo>
                    <a:pt x="6868668" y="1346200"/>
                  </a:lnTo>
                  <a:lnTo>
                    <a:pt x="6875018" y="1346200"/>
                  </a:lnTo>
                  <a:cubicBezTo>
                    <a:pt x="6875018" y="1458468"/>
                    <a:pt x="6783451" y="1549400"/>
                    <a:pt x="6670548" y="1549400"/>
                  </a:cubicBezTo>
                  <a:lnTo>
                    <a:pt x="6670548" y="1543050"/>
                  </a:lnTo>
                  <a:lnTo>
                    <a:pt x="6670548" y="1549400"/>
                  </a:lnTo>
                  <a:lnTo>
                    <a:pt x="204470" y="1549400"/>
                  </a:lnTo>
                  <a:lnTo>
                    <a:pt x="204470" y="1543050"/>
                  </a:lnTo>
                  <a:lnTo>
                    <a:pt x="204470" y="1549400"/>
                  </a:lnTo>
                  <a:cubicBezTo>
                    <a:pt x="91567" y="1549400"/>
                    <a:pt x="0" y="1458468"/>
                    <a:pt x="0" y="1346200"/>
                  </a:cubicBezTo>
                  <a:lnTo>
                    <a:pt x="0" y="203200"/>
                  </a:lnTo>
                  <a:lnTo>
                    <a:pt x="6350" y="203200"/>
                  </a:lnTo>
                  <a:lnTo>
                    <a:pt x="0" y="203200"/>
                  </a:lnTo>
                  <a:moveTo>
                    <a:pt x="12700" y="203200"/>
                  </a:moveTo>
                  <a:lnTo>
                    <a:pt x="12700" y="1346200"/>
                  </a:lnTo>
                  <a:lnTo>
                    <a:pt x="6350" y="1346200"/>
                  </a:lnTo>
                  <a:lnTo>
                    <a:pt x="12700" y="1346200"/>
                  </a:lnTo>
                  <a:cubicBezTo>
                    <a:pt x="12700" y="1451356"/>
                    <a:pt x="98552" y="1536700"/>
                    <a:pt x="204470" y="1536700"/>
                  </a:cubicBezTo>
                  <a:lnTo>
                    <a:pt x="6670548" y="1536700"/>
                  </a:lnTo>
                  <a:cubicBezTo>
                    <a:pt x="6776466" y="1536700"/>
                    <a:pt x="6862318" y="1451356"/>
                    <a:pt x="6862318" y="1346200"/>
                  </a:cubicBezTo>
                  <a:lnTo>
                    <a:pt x="6862318" y="203200"/>
                  </a:lnTo>
                  <a:cubicBezTo>
                    <a:pt x="6862318" y="98044"/>
                    <a:pt x="6776466" y="12700"/>
                    <a:pt x="6670548" y="12700"/>
                  </a:cubicBezTo>
                  <a:lnTo>
                    <a:pt x="204470" y="12700"/>
                  </a:lnTo>
                  <a:lnTo>
                    <a:pt x="204470" y="6350"/>
                  </a:lnTo>
                  <a:lnTo>
                    <a:pt x="204470" y="12700"/>
                  </a:lnTo>
                  <a:cubicBezTo>
                    <a:pt x="98552" y="12700"/>
                    <a:pt x="12700" y="98044"/>
                    <a:pt x="12700" y="203200"/>
                  </a:cubicBezTo>
                  <a:close/>
                </a:path>
              </a:pathLst>
            </a:custGeom>
            <a:solidFill>
              <a:srgbClr val="DAD6C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12188723" y="6172200"/>
            <a:ext cx="4741964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0F1B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Menu-driven C program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2188723" y="6515100"/>
            <a:ext cx="4741964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3B4A5E"/>
                </a:solidFill>
                <a:latin typeface="IBM Plex Sans"/>
                <a:ea typeface="IBM Plex Sans"/>
                <a:cs typeface="IBM Plex Sans"/>
                <a:sym typeface="IBM Plex Sans"/>
              </a:rPr>
              <a:t>switch-case console interface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219200" y="9324975"/>
            <a:ext cx="16325088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B7A8F"/>
                </a:solidFill>
                <a:latin typeface="IBM Plex Sans"/>
                <a:ea typeface="IBM Plex Sans"/>
                <a:cs typeface="IBM Plex Sans"/>
                <a:sym typeface="IBM Plex Sans"/>
              </a:rPr>
              <a:t>Elevator Request Management System ·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19200" y="1181100"/>
            <a:ext cx="16325088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225">
                <a:solidFill>
                  <a:srgbClr val="E8A3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END TO END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19200" y="1819275"/>
            <a:ext cx="16325088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4200" b="1">
                <a:solidFill>
                  <a:srgbClr val="F5F3E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System Workflow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219200" y="2676525"/>
            <a:ext cx="4775149" cy="5172075"/>
            <a:chOff x="0" y="0"/>
            <a:chExt cx="6366866" cy="6896100"/>
          </a:xfrm>
        </p:grpSpPr>
        <p:sp>
          <p:nvSpPr>
            <p:cNvPr id="5" name="Freeform 5"/>
            <p:cNvSpPr/>
            <p:nvPr/>
          </p:nvSpPr>
          <p:spPr>
            <a:xfrm>
              <a:off x="6350" y="6350"/>
              <a:ext cx="6354191" cy="6883400"/>
            </a:xfrm>
            <a:custGeom>
              <a:avLst/>
              <a:gdLst/>
              <a:ahLst/>
              <a:cxnLst/>
              <a:rect l="l" t="t" r="r" b="b"/>
              <a:pathLst>
                <a:path w="6354191" h="6883400">
                  <a:moveTo>
                    <a:pt x="0" y="196850"/>
                  </a:moveTo>
                  <a:cubicBezTo>
                    <a:pt x="0" y="88138"/>
                    <a:pt x="88138" y="0"/>
                    <a:pt x="196850" y="0"/>
                  </a:cubicBezTo>
                  <a:lnTo>
                    <a:pt x="6157341" y="0"/>
                  </a:lnTo>
                  <a:cubicBezTo>
                    <a:pt x="6266053" y="0"/>
                    <a:pt x="6354191" y="88138"/>
                    <a:pt x="6354191" y="196850"/>
                  </a:cubicBezTo>
                  <a:lnTo>
                    <a:pt x="6354191" y="6686550"/>
                  </a:lnTo>
                  <a:cubicBezTo>
                    <a:pt x="6354191" y="6795262"/>
                    <a:pt x="6266053" y="6883400"/>
                    <a:pt x="6157341" y="6883400"/>
                  </a:cubicBezTo>
                  <a:lnTo>
                    <a:pt x="196850" y="6883400"/>
                  </a:lnTo>
                  <a:cubicBezTo>
                    <a:pt x="88138" y="6883400"/>
                    <a:pt x="0" y="6795262"/>
                    <a:pt x="0" y="6686550"/>
                  </a:cubicBezTo>
                  <a:close/>
                </a:path>
              </a:pathLst>
            </a:custGeom>
            <a:solidFill>
              <a:srgbClr val="1A2A4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Freeform 6"/>
            <p:cNvSpPr/>
            <p:nvPr/>
          </p:nvSpPr>
          <p:spPr>
            <a:xfrm>
              <a:off x="0" y="0"/>
              <a:ext cx="6366891" cy="6896100"/>
            </a:xfrm>
            <a:custGeom>
              <a:avLst/>
              <a:gdLst/>
              <a:ahLst/>
              <a:cxnLst/>
              <a:rect l="l" t="t" r="r" b="b"/>
              <a:pathLst>
                <a:path w="6366891" h="68961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6163691" y="0"/>
                  </a:lnTo>
                  <a:lnTo>
                    <a:pt x="6163691" y="6350"/>
                  </a:lnTo>
                  <a:lnTo>
                    <a:pt x="6163691" y="0"/>
                  </a:lnTo>
                  <a:cubicBezTo>
                    <a:pt x="6275959" y="0"/>
                    <a:pt x="6366891" y="90932"/>
                    <a:pt x="6366891" y="203200"/>
                  </a:cubicBezTo>
                  <a:lnTo>
                    <a:pt x="6360541" y="203200"/>
                  </a:lnTo>
                  <a:lnTo>
                    <a:pt x="6366891" y="203200"/>
                  </a:lnTo>
                  <a:lnTo>
                    <a:pt x="6366891" y="6692900"/>
                  </a:lnTo>
                  <a:lnTo>
                    <a:pt x="6360541" y="6692900"/>
                  </a:lnTo>
                  <a:lnTo>
                    <a:pt x="6366891" y="6692900"/>
                  </a:lnTo>
                  <a:cubicBezTo>
                    <a:pt x="6366891" y="6805168"/>
                    <a:pt x="6275959" y="6896100"/>
                    <a:pt x="6163691" y="6896100"/>
                  </a:cubicBezTo>
                  <a:lnTo>
                    <a:pt x="6163691" y="6889750"/>
                  </a:lnTo>
                  <a:lnTo>
                    <a:pt x="6163691" y="6896100"/>
                  </a:lnTo>
                  <a:lnTo>
                    <a:pt x="203200" y="6896100"/>
                  </a:lnTo>
                  <a:lnTo>
                    <a:pt x="203200" y="6889750"/>
                  </a:lnTo>
                  <a:lnTo>
                    <a:pt x="203200" y="6896100"/>
                  </a:lnTo>
                  <a:cubicBezTo>
                    <a:pt x="90932" y="6896100"/>
                    <a:pt x="0" y="6805168"/>
                    <a:pt x="0" y="6692900"/>
                  </a:cubicBezTo>
                  <a:lnTo>
                    <a:pt x="0" y="203200"/>
                  </a:lnTo>
                  <a:lnTo>
                    <a:pt x="6350" y="203200"/>
                  </a:lnTo>
                  <a:lnTo>
                    <a:pt x="0" y="203200"/>
                  </a:lnTo>
                  <a:moveTo>
                    <a:pt x="12700" y="203200"/>
                  </a:moveTo>
                  <a:lnTo>
                    <a:pt x="12700" y="6692900"/>
                  </a:lnTo>
                  <a:lnTo>
                    <a:pt x="6350" y="6692900"/>
                  </a:lnTo>
                  <a:lnTo>
                    <a:pt x="12700" y="6692900"/>
                  </a:lnTo>
                  <a:cubicBezTo>
                    <a:pt x="12700" y="6798183"/>
                    <a:pt x="98044" y="6883400"/>
                    <a:pt x="203200" y="6883400"/>
                  </a:cubicBezTo>
                  <a:lnTo>
                    <a:pt x="6163691" y="6883400"/>
                  </a:lnTo>
                  <a:cubicBezTo>
                    <a:pt x="6268847" y="6883400"/>
                    <a:pt x="6354191" y="6798056"/>
                    <a:pt x="6354191" y="6692900"/>
                  </a:cubicBezTo>
                  <a:lnTo>
                    <a:pt x="6354191" y="203200"/>
                  </a:lnTo>
                  <a:cubicBezTo>
                    <a:pt x="6354191" y="97917"/>
                    <a:pt x="6268847" y="12700"/>
                    <a:pt x="6163691" y="12700"/>
                  </a:cubicBezTo>
                  <a:lnTo>
                    <a:pt x="203200" y="12700"/>
                  </a:lnTo>
                  <a:lnTo>
                    <a:pt x="203200" y="6350"/>
                  </a:lnTo>
                  <a:lnTo>
                    <a:pt x="203200" y="12700"/>
                  </a:lnTo>
                  <a:cubicBezTo>
                    <a:pt x="98044" y="12700"/>
                    <a:pt x="12700" y="98044"/>
                    <a:pt x="12700" y="203200"/>
                  </a:cubicBezTo>
                  <a:close/>
                </a:path>
              </a:pathLst>
            </a:custGeom>
            <a:solidFill>
              <a:srgbClr val="2C4062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495425" y="2914650"/>
            <a:ext cx="4349382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149">
                <a:solidFill>
                  <a:srgbClr val="E8A3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INTAKE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95425" y="3286125"/>
            <a:ext cx="4349382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B9C6D8"/>
                </a:solidFill>
                <a:latin typeface="IBM Plex Sans"/>
                <a:ea typeface="IBM Plex Sans"/>
                <a:cs typeface="IBM Plex Sans"/>
                <a:sym typeface="IBM Plex Sans"/>
              </a:rPr>
              <a:t>Validate, assign an ID, enqueue at the rear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892198" y="4143375"/>
            <a:ext cx="3429000" cy="600075"/>
            <a:chOff x="0" y="0"/>
            <a:chExt cx="4572000" cy="8001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572000" cy="800100"/>
            </a:xfrm>
            <a:custGeom>
              <a:avLst/>
              <a:gdLst/>
              <a:ahLst/>
              <a:cxnLst/>
              <a:rect l="l" t="t" r="r" b="b"/>
              <a:pathLst>
                <a:path w="4572000" h="8001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4445000" y="0"/>
                  </a:lnTo>
                  <a:cubicBezTo>
                    <a:pt x="4515104" y="0"/>
                    <a:pt x="4572000" y="56896"/>
                    <a:pt x="4572000" y="127000"/>
                  </a:cubicBezTo>
                  <a:lnTo>
                    <a:pt x="4572000" y="673100"/>
                  </a:lnTo>
                  <a:cubicBezTo>
                    <a:pt x="4572000" y="743204"/>
                    <a:pt x="4515104" y="800100"/>
                    <a:pt x="4445000" y="800100"/>
                  </a:cubicBezTo>
                  <a:lnTo>
                    <a:pt x="127000" y="800100"/>
                  </a:lnTo>
                  <a:cubicBezTo>
                    <a:pt x="56896" y="800100"/>
                    <a:pt x="0" y="743204"/>
                    <a:pt x="0" y="673100"/>
                  </a:cubicBezTo>
                  <a:close/>
                </a:path>
              </a:pathLst>
            </a:custGeom>
            <a:solidFill>
              <a:srgbClr val="2C406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4572000" cy="84772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940"/>
                </a:lnSpc>
              </a:pPr>
              <a:r>
                <a:rPr lang="en-US" sz="2100" b="1">
                  <a:solidFill>
                    <a:srgbClr val="F5F3EC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User Request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473348" y="4819650"/>
            <a:ext cx="266700" cy="266700"/>
            <a:chOff x="0" y="0"/>
            <a:chExt cx="355600" cy="355600"/>
          </a:xfrm>
        </p:grpSpPr>
        <p:sp>
          <p:nvSpPr>
            <p:cNvPr id="13" name="Freeform 13" descr="arrow-down"/>
            <p:cNvSpPr/>
            <p:nvPr/>
          </p:nvSpPr>
          <p:spPr>
            <a:xfrm>
              <a:off x="0" y="0"/>
              <a:ext cx="355600" cy="355600"/>
            </a:xfrm>
            <a:custGeom>
              <a:avLst/>
              <a:gdLst/>
              <a:ahLst/>
              <a:cxnLst/>
              <a:rect l="l" t="t" r="r" b="b"/>
              <a:pathLst>
                <a:path w="355600" h="355600">
                  <a:moveTo>
                    <a:pt x="0" y="0"/>
                  </a:moveTo>
                  <a:lnTo>
                    <a:pt x="355600" y="0"/>
                  </a:lnTo>
                  <a:lnTo>
                    <a:pt x="355600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892198" y="5162550"/>
            <a:ext cx="3429000" cy="600075"/>
            <a:chOff x="0" y="0"/>
            <a:chExt cx="4572000" cy="8001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572000" cy="800100"/>
            </a:xfrm>
            <a:custGeom>
              <a:avLst/>
              <a:gdLst/>
              <a:ahLst/>
              <a:cxnLst/>
              <a:rect l="l" t="t" r="r" b="b"/>
              <a:pathLst>
                <a:path w="4572000" h="8001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4445000" y="0"/>
                  </a:lnTo>
                  <a:cubicBezTo>
                    <a:pt x="4515104" y="0"/>
                    <a:pt x="4572000" y="56896"/>
                    <a:pt x="4572000" y="127000"/>
                  </a:cubicBezTo>
                  <a:lnTo>
                    <a:pt x="4572000" y="673100"/>
                  </a:lnTo>
                  <a:cubicBezTo>
                    <a:pt x="4572000" y="743204"/>
                    <a:pt x="4515104" y="800100"/>
                    <a:pt x="4445000" y="800100"/>
                  </a:cubicBezTo>
                  <a:lnTo>
                    <a:pt x="127000" y="800100"/>
                  </a:lnTo>
                  <a:cubicBezTo>
                    <a:pt x="56896" y="800100"/>
                    <a:pt x="0" y="743204"/>
                    <a:pt x="0" y="673100"/>
                  </a:cubicBezTo>
                  <a:close/>
                </a:path>
              </a:pathLst>
            </a:custGeom>
            <a:solidFill>
              <a:srgbClr val="2C406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4572000" cy="84772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940"/>
                </a:lnSpc>
              </a:pPr>
              <a:r>
                <a:rPr lang="en-US" sz="2100" b="1">
                  <a:solidFill>
                    <a:srgbClr val="F5F3EC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Validation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473348" y="5838825"/>
            <a:ext cx="266700" cy="266700"/>
            <a:chOff x="0" y="0"/>
            <a:chExt cx="355600" cy="355600"/>
          </a:xfrm>
        </p:grpSpPr>
        <p:sp>
          <p:nvSpPr>
            <p:cNvPr id="18" name="Freeform 18" descr="arrow-down"/>
            <p:cNvSpPr/>
            <p:nvPr/>
          </p:nvSpPr>
          <p:spPr>
            <a:xfrm>
              <a:off x="0" y="0"/>
              <a:ext cx="355600" cy="355600"/>
            </a:xfrm>
            <a:custGeom>
              <a:avLst/>
              <a:gdLst/>
              <a:ahLst/>
              <a:cxnLst/>
              <a:rect l="l" t="t" r="r" b="b"/>
              <a:pathLst>
                <a:path w="355600" h="355600">
                  <a:moveTo>
                    <a:pt x="0" y="0"/>
                  </a:moveTo>
                  <a:lnTo>
                    <a:pt x="355600" y="0"/>
                  </a:lnTo>
                  <a:lnTo>
                    <a:pt x="355600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892198" y="6181725"/>
            <a:ext cx="3429000" cy="600075"/>
            <a:chOff x="0" y="0"/>
            <a:chExt cx="4572000" cy="8001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572000" cy="800100"/>
            </a:xfrm>
            <a:custGeom>
              <a:avLst/>
              <a:gdLst/>
              <a:ahLst/>
              <a:cxnLst/>
              <a:rect l="l" t="t" r="r" b="b"/>
              <a:pathLst>
                <a:path w="4572000" h="8001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4445000" y="0"/>
                  </a:lnTo>
                  <a:cubicBezTo>
                    <a:pt x="4515104" y="0"/>
                    <a:pt x="4572000" y="56896"/>
                    <a:pt x="4572000" y="127000"/>
                  </a:cubicBezTo>
                  <a:lnTo>
                    <a:pt x="4572000" y="673100"/>
                  </a:lnTo>
                  <a:cubicBezTo>
                    <a:pt x="4572000" y="743204"/>
                    <a:pt x="4515104" y="800100"/>
                    <a:pt x="4445000" y="800100"/>
                  </a:cubicBezTo>
                  <a:lnTo>
                    <a:pt x="127000" y="800100"/>
                  </a:lnTo>
                  <a:cubicBezTo>
                    <a:pt x="56896" y="800100"/>
                    <a:pt x="0" y="743204"/>
                    <a:pt x="0" y="673100"/>
                  </a:cubicBezTo>
                  <a:close/>
                </a:path>
              </a:pathLst>
            </a:custGeom>
            <a:solidFill>
              <a:srgbClr val="2F6FB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4572000" cy="84772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940"/>
                </a:lnSpc>
              </a:pPr>
              <a:r>
                <a:rPr lang="en-US" sz="2100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Queue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146749" y="5100638"/>
            <a:ext cx="457200" cy="323850"/>
            <a:chOff x="0" y="0"/>
            <a:chExt cx="609600" cy="431800"/>
          </a:xfrm>
        </p:grpSpPr>
        <p:sp>
          <p:nvSpPr>
            <p:cNvPr id="23" name="Freeform 23" descr="arrow-right"/>
            <p:cNvSpPr/>
            <p:nvPr/>
          </p:nvSpPr>
          <p:spPr>
            <a:xfrm>
              <a:off x="0" y="0"/>
              <a:ext cx="609600" cy="431800"/>
            </a:xfrm>
            <a:custGeom>
              <a:avLst/>
              <a:gdLst/>
              <a:ahLst/>
              <a:cxnLst/>
              <a:rect l="l" t="t" r="r" b="b"/>
              <a:pathLst>
                <a:path w="609600" h="431800">
                  <a:moveTo>
                    <a:pt x="0" y="0"/>
                  </a:moveTo>
                  <a:lnTo>
                    <a:pt x="609600" y="0"/>
                  </a:lnTo>
                  <a:lnTo>
                    <a:pt x="6096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756349" y="2676525"/>
            <a:ext cx="4775149" cy="5172075"/>
            <a:chOff x="0" y="0"/>
            <a:chExt cx="6366866" cy="6896100"/>
          </a:xfrm>
        </p:grpSpPr>
        <p:sp>
          <p:nvSpPr>
            <p:cNvPr id="25" name="Freeform 25"/>
            <p:cNvSpPr/>
            <p:nvPr/>
          </p:nvSpPr>
          <p:spPr>
            <a:xfrm>
              <a:off x="6350" y="6350"/>
              <a:ext cx="6354191" cy="6883400"/>
            </a:xfrm>
            <a:custGeom>
              <a:avLst/>
              <a:gdLst/>
              <a:ahLst/>
              <a:cxnLst/>
              <a:rect l="l" t="t" r="r" b="b"/>
              <a:pathLst>
                <a:path w="6354191" h="6883400">
                  <a:moveTo>
                    <a:pt x="0" y="196850"/>
                  </a:moveTo>
                  <a:cubicBezTo>
                    <a:pt x="0" y="88138"/>
                    <a:pt x="88138" y="0"/>
                    <a:pt x="196850" y="0"/>
                  </a:cubicBezTo>
                  <a:lnTo>
                    <a:pt x="6157341" y="0"/>
                  </a:lnTo>
                  <a:cubicBezTo>
                    <a:pt x="6266053" y="0"/>
                    <a:pt x="6354191" y="88138"/>
                    <a:pt x="6354191" y="196850"/>
                  </a:cubicBezTo>
                  <a:lnTo>
                    <a:pt x="6354191" y="6686550"/>
                  </a:lnTo>
                  <a:cubicBezTo>
                    <a:pt x="6354191" y="6795262"/>
                    <a:pt x="6266053" y="6883400"/>
                    <a:pt x="6157341" y="6883400"/>
                  </a:cubicBezTo>
                  <a:lnTo>
                    <a:pt x="196850" y="6883400"/>
                  </a:lnTo>
                  <a:cubicBezTo>
                    <a:pt x="88138" y="6883400"/>
                    <a:pt x="0" y="6795262"/>
                    <a:pt x="0" y="6686550"/>
                  </a:cubicBezTo>
                  <a:close/>
                </a:path>
              </a:pathLst>
            </a:custGeom>
            <a:solidFill>
              <a:srgbClr val="1A2A4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0" y="0"/>
              <a:ext cx="6366891" cy="6896100"/>
            </a:xfrm>
            <a:custGeom>
              <a:avLst/>
              <a:gdLst/>
              <a:ahLst/>
              <a:cxnLst/>
              <a:rect l="l" t="t" r="r" b="b"/>
              <a:pathLst>
                <a:path w="6366891" h="68961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6163691" y="0"/>
                  </a:lnTo>
                  <a:lnTo>
                    <a:pt x="6163691" y="6350"/>
                  </a:lnTo>
                  <a:lnTo>
                    <a:pt x="6163691" y="0"/>
                  </a:lnTo>
                  <a:cubicBezTo>
                    <a:pt x="6275959" y="0"/>
                    <a:pt x="6366891" y="90932"/>
                    <a:pt x="6366891" y="203200"/>
                  </a:cubicBezTo>
                  <a:lnTo>
                    <a:pt x="6360541" y="203200"/>
                  </a:lnTo>
                  <a:lnTo>
                    <a:pt x="6366891" y="203200"/>
                  </a:lnTo>
                  <a:lnTo>
                    <a:pt x="6366891" y="6692900"/>
                  </a:lnTo>
                  <a:lnTo>
                    <a:pt x="6360541" y="6692900"/>
                  </a:lnTo>
                  <a:lnTo>
                    <a:pt x="6366891" y="6692900"/>
                  </a:lnTo>
                  <a:cubicBezTo>
                    <a:pt x="6366891" y="6805168"/>
                    <a:pt x="6275959" y="6896100"/>
                    <a:pt x="6163691" y="6896100"/>
                  </a:cubicBezTo>
                  <a:lnTo>
                    <a:pt x="6163691" y="6889750"/>
                  </a:lnTo>
                  <a:lnTo>
                    <a:pt x="6163691" y="6896100"/>
                  </a:lnTo>
                  <a:lnTo>
                    <a:pt x="203200" y="6896100"/>
                  </a:lnTo>
                  <a:lnTo>
                    <a:pt x="203200" y="6889750"/>
                  </a:lnTo>
                  <a:lnTo>
                    <a:pt x="203200" y="6896100"/>
                  </a:lnTo>
                  <a:cubicBezTo>
                    <a:pt x="90932" y="6896100"/>
                    <a:pt x="0" y="6805168"/>
                    <a:pt x="0" y="6692900"/>
                  </a:cubicBezTo>
                  <a:lnTo>
                    <a:pt x="0" y="203200"/>
                  </a:lnTo>
                  <a:lnTo>
                    <a:pt x="6350" y="203200"/>
                  </a:lnTo>
                  <a:lnTo>
                    <a:pt x="0" y="203200"/>
                  </a:lnTo>
                  <a:moveTo>
                    <a:pt x="12700" y="203200"/>
                  </a:moveTo>
                  <a:lnTo>
                    <a:pt x="12700" y="6692900"/>
                  </a:lnTo>
                  <a:lnTo>
                    <a:pt x="6350" y="6692900"/>
                  </a:lnTo>
                  <a:lnTo>
                    <a:pt x="12700" y="6692900"/>
                  </a:lnTo>
                  <a:cubicBezTo>
                    <a:pt x="12700" y="6798183"/>
                    <a:pt x="98044" y="6883400"/>
                    <a:pt x="203200" y="6883400"/>
                  </a:cubicBezTo>
                  <a:lnTo>
                    <a:pt x="6163691" y="6883400"/>
                  </a:lnTo>
                  <a:cubicBezTo>
                    <a:pt x="6268847" y="6883400"/>
                    <a:pt x="6354191" y="6798056"/>
                    <a:pt x="6354191" y="6692900"/>
                  </a:cubicBezTo>
                  <a:lnTo>
                    <a:pt x="6354191" y="203200"/>
                  </a:lnTo>
                  <a:cubicBezTo>
                    <a:pt x="6354191" y="97917"/>
                    <a:pt x="6268847" y="12700"/>
                    <a:pt x="6163691" y="12700"/>
                  </a:cubicBezTo>
                  <a:lnTo>
                    <a:pt x="203200" y="12700"/>
                  </a:lnTo>
                  <a:lnTo>
                    <a:pt x="203200" y="6350"/>
                  </a:lnTo>
                  <a:lnTo>
                    <a:pt x="203200" y="12700"/>
                  </a:lnTo>
                  <a:cubicBezTo>
                    <a:pt x="98044" y="12700"/>
                    <a:pt x="12700" y="98044"/>
                    <a:pt x="12700" y="203200"/>
                  </a:cubicBezTo>
                  <a:close/>
                </a:path>
              </a:pathLst>
            </a:custGeom>
            <a:solidFill>
              <a:srgbClr val="2C4062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7032574" y="2914650"/>
            <a:ext cx="4349382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149">
                <a:solidFill>
                  <a:srgbClr val="E8A3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SERVICE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032574" y="3286125"/>
            <a:ext cx="4349382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B9C6D8"/>
                </a:solidFill>
                <a:latin typeface="IBM Plex Sans"/>
                <a:ea typeface="IBM Plex Sans"/>
                <a:cs typeface="IBM Plex Sans"/>
                <a:sym typeface="IBM Plex Sans"/>
              </a:rPr>
              <a:t>Front request taken; the elevator moves twice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7429348" y="4143375"/>
            <a:ext cx="3429000" cy="600075"/>
            <a:chOff x="0" y="0"/>
            <a:chExt cx="4572000" cy="8001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572000" cy="800100"/>
            </a:xfrm>
            <a:custGeom>
              <a:avLst/>
              <a:gdLst/>
              <a:ahLst/>
              <a:cxnLst/>
              <a:rect l="l" t="t" r="r" b="b"/>
              <a:pathLst>
                <a:path w="4572000" h="8001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4445000" y="0"/>
                  </a:lnTo>
                  <a:cubicBezTo>
                    <a:pt x="4515104" y="0"/>
                    <a:pt x="4572000" y="56896"/>
                    <a:pt x="4572000" y="127000"/>
                  </a:cubicBezTo>
                  <a:lnTo>
                    <a:pt x="4572000" y="673100"/>
                  </a:lnTo>
                  <a:cubicBezTo>
                    <a:pt x="4572000" y="743204"/>
                    <a:pt x="4515104" y="800100"/>
                    <a:pt x="4445000" y="800100"/>
                  </a:cubicBezTo>
                  <a:lnTo>
                    <a:pt x="127000" y="800100"/>
                  </a:lnTo>
                  <a:cubicBezTo>
                    <a:pt x="56896" y="800100"/>
                    <a:pt x="0" y="743204"/>
                    <a:pt x="0" y="673100"/>
                  </a:cubicBezTo>
                  <a:close/>
                </a:path>
              </a:pathLst>
            </a:custGeom>
            <a:solidFill>
              <a:srgbClr val="2C406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4572000" cy="84772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940"/>
                </a:lnSpc>
              </a:pPr>
              <a:r>
                <a:rPr lang="en-US" sz="2100" b="1">
                  <a:solidFill>
                    <a:srgbClr val="F5F3EC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FIFO Processing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029548" y="4800600"/>
            <a:ext cx="228600" cy="228600"/>
            <a:chOff x="0" y="0"/>
            <a:chExt cx="304800" cy="304800"/>
          </a:xfrm>
        </p:grpSpPr>
        <p:sp>
          <p:nvSpPr>
            <p:cNvPr id="33" name="Freeform 33" descr="arrow-down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429348" y="5086350"/>
            <a:ext cx="3429000" cy="600075"/>
            <a:chOff x="0" y="0"/>
            <a:chExt cx="4572000" cy="8001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572000" cy="800100"/>
            </a:xfrm>
            <a:custGeom>
              <a:avLst/>
              <a:gdLst/>
              <a:ahLst/>
              <a:cxnLst/>
              <a:rect l="l" t="t" r="r" b="b"/>
              <a:pathLst>
                <a:path w="4572000" h="8001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4445000" y="0"/>
                  </a:lnTo>
                  <a:cubicBezTo>
                    <a:pt x="4515104" y="0"/>
                    <a:pt x="4572000" y="56896"/>
                    <a:pt x="4572000" y="127000"/>
                  </a:cubicBezTo>
                  <a:lnTo>
                    <a:pt x="4572000" y="673100"/>
                  </a:lnTo>
                  <a:cubicBezTo>
                    <a:pt x="4572000" y="743204"/>
                    <a:pt x="4515104" y="800100"/>
                    <a:pt x="4445000" y="800100"/>
                  </a:cubicBezTo>
                  <a:lnTo>
                    <a:pt x="127000" y="800100"/>
                  </a:lnTo>
                  <a:cubicBezTo>
                    <a:pt x="56896" y="800100"/>
                    <a:pt x="0" y="743204"/>
                    <a:pt x="0" y="673100"/>
                  </a:cubicBezTo>
                  <a:close/>
                </a:path>
              </a:pathLst>
            </a:custGeom>
            <a:solidFill>
              <a:srgbClr val="2C406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47625"/>
              <a:ext cx="4572000" cy="84772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940"/>
                </a:lnSpc>
              </a:pPr>
              <a:r>
                <a:rPr lang="en-US" sz="2100" b="1">
                  <a:solidFill>
                    <a:srgbClr val="F5F3EC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Move to Source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029548" y="5743575"/>
            <a:ext cx="228600" cy="228600"/>
            <a:chOff x="0" y="0"/>
            <a:chExt cx="304800" cy="304800"/>
          </a:xfrm>
        </p:grpSpPr>
        <p:sp>
          <p:nvSpPr>
            <p:cNvPr id="38" name="Freeform 38" descr="arrow-down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429348" y="6029325"/>
            <a:ext cx="3429000" cy="600075"/>
            <a:chOff x="0" y="0"/>
            <a:chExt cx="4572000" cy="8001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572000" cy="800100"/>
            </a:xfrm>
            <a:custGeom>
              <a:avLst/>
              <a:gdLst/>
              <a:ahLst/>
              <a:cxnLst/>
              <a:rect l="l" t="t" r="r" b="b"/>
              <a:pathLst>
                <a:path w="4572000" h="8001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4445000" y="0"/>
                  </a:lnTo>
                  <a:cubicBezTo>
                    <a:pt x="4515104" y="0"/>
                    <a:pt x="4572000" y="56896"/>
                    <a:pt x="4572000" y="127000"/>
                  </a:cubicBezTo>
                  <a:lnTo>
                    <a:pt x="4572000" y="673100"/>
                  </a:lnTo>
                  <a:cubicBezTo>
                    <a:pt x="4572000" y="743204"/>
                    <a:pt x="4515104" y="800100"/>
                    <a:pt x="4445000" y="800100"/>
                  </a:cubicBezTo>
                  <a:lnTo>
                    <a:pt x="127000" y="800100"/>
                  </a:lnTo>
                  <a:cubicBezTo>
                    <a:pt x="56896" y="800100"/>
                    <a:pt x="0" y="743204"/>
                    <a:pt x="0" y="673100"/>
                  </a:cubicBezTo>
                  <a:close/>
                </a:path>
              </a:pathLst>
            </a:custGeom>
            <a:solidFill>
              <a:srgbClr val="2C406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47625"/>
              <a:ext cx="4572000" cy="84772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940"/>
                </a:lnSpc>
              </a:pPr>
              <a:r>
                <a:rPr lang="en-US" sz="2100" b="1">
                  <a:solidFill>
                    <a:srgbClr val="F5F3EC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Passenger Enters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029548" y="6686550"/>
            <a:ext cx="228600" cy="228600"/>
            <a:chOff x="0" y="0"/>
            <a:chExt cx="304800" cy="304800"/>
          </a:xfrm>
        </p:grpSpPr>
        <p:sp>
          <p:nvSpPr>
            <p:cNvPr id="43" name="Freeform 43" descr="arrow-down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429348" y="6972300"/>
            <a:ext cx="3429000" cy="600075"/>
            <a:chOff x="0" y="0"/>
            <a:chExt cx="4572000" cy="8001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572000" cy="800100"/>
            </a:xfrm>
            <a:custGeom>
              <a:avLst/>
              <a:gdLst/>
              <a:ahLst/>
              <a:cxnLst/>
              <a:rect l="l" t="t" r="r" b="b"/>
              <a:pathLst>
                <a:path w="4572000" h="8001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4445000" y="0"/>
                  </a:lnTo>
                  <a:cubicBezTo>
                    <a:pt x="4515104" y="0"/>
                    <a:pt x="4572000" y="56896"/>
                    <a:pt x="4572000" y="127000"/>
                  </a:cubicBezTo>
                  <a:lnTo>
                    <a:pt x="4572000" y="673100"/>
                  </a:lnTo>
                  <a:cubicBezTo>
                    <a:pt x="4572000" y="743204"/>
                    <a:pt x="4515104" y="800100"/>
                    <a:pt x="4445000" y="800100"/>
                  </a:cubicBezTo>
                  <a:lnTo>
                    <a:pt x="127000" y="800100"/>
                  </a:lnTo>
                  <a:cubicBezTo>
                    <a:pt x="56896" y="800100"/>
                    <a:pt x="0" y="743204"/>
                    <a:pt x="0" y="673100"/>
                  </a:cubicBezTo>
                  <a:close/>
                </a:path>
              </a:pathLst>
            </a:custGeom>
            <a:solidFill>
              <a:srgbClr val="2C406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47625"/>
              <a:ext cx="4572000" cy="84772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940"/>
                </a:lnSpc>
              </a:pPr>
              <a:r>
                <a:rPr lang="en-US" sz="2100" b="1">
                  <a:solidFill>
                    <a:srgbClr val="F5F3EC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Move to Destination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1683898" y="5100638"/>
            <a:ext cx="457200" cy="323850"/>
            <a:chOff x="0" y="0"/>
            <a:chExt cx="609600" cy="431800"/>
          </a:xfrm>
        </p:grpSpPr>
        <p:sp>
          <p:nvSpPr>
            <p:cNvPr id="48" name="Freeform 48" descr="arrow-right"/>
            <p:cNvSpPr/>
            <p:nvPr/>
          </p:nvSpPr>
          <p:spPr>
            <a:xfrm>
              <a:off x="0" y="0"/>
              <a:ext cx="609600" cy="431800"/>
            </a:xfrm>
            <a:custGeom>
              <a:avLst/>
              <a:gdLst/>
              <a:ahLst/>
              <a:cxnLst/>
              <a:rect l="l" t="t" r="r" b="b"/>
              <a:pathLst>
                <a:path w="609600" h="431800">
                  <a:moveTo>
                    <a:pt x="0" y="0"/>
                  </a:moveTo>
                  <a:lnTo>
                    <a:pt x="609600" y="0"/>
                  </a:lnTo>
                  <a:lnTo>
                    <a:pt x="6096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2293498" y="2676525"/>
            <a:ext cx="4775149" cy="5172075"/>
            <a:chOff x="0" y="0"/>
            <a:chExt cx="6366866" cy="6896100"/>
          </a:xfrm>
        </p:grpSpPr>
        <p:sp>
          <p:nvSpPr>
            <p:cNvPr id="50" name="Freeform 50"/>
            <p:cNvSpPr/>
            <p:nvPr/>
          </p:nvSpPr>
          <p:spPr>
            <a:xfrm>
              <a:off x="6350" y="6350"/>
              <a:ext cx="6354191" cy="6883400"/>
            </a:xfrm>
            <a:custGeom>
              <a:avLst/>
              <a:gdLst/>
              <a:ahLst/>
              <a:cxnLst/>
              <a:rect l="l" t="t" r="r" b="b"/>
              <a:pathLst>
                <a:path w="6354191" h="6883400">
                  <a:moveTo>
                    <a:pt x="0" y="196850"/>
                  </a:moveTo>
                  <a:cubicBezTo>
                    <a:pt x="0" y="88138"/>
                    <a:pt x="88138" y="0"/>
                    <a:pt x="196850" y="0"/>
                  </a:cubicBezTo>
                  <a:lnTo>
                    <a:pt x="6157341" y="0"/>
                  </a:lnTo>
                  <a:cubicBezTo>
                    <a:pt x="6266053" y="0"/>
                    <a:pt x="6354191" y="88138"/>
                    <a:pt x="6354191" y="196850"/>
                  </a:cubicBezTo>
                  <a:lnTo>
                    <a:pt x="6354191" y="6686550"/>
                  </a:lnTo>
                  <a:cubicBezTo>
                    <a:pt x="6354191" y="6795262"/>
                    <a:pt x="6266053" y="6883400"/>
                    <a:pt x="6157341" y="6883400"/>
                  </a:cubicBezTo>
                  <a:lnTo>
                    <a:pt x="196850" y="6883400"/>
                  </a:lnTo>
                  <a:cubicBezTo>
                    <a:pt x="88138" y="6883400"/>
                    <a:pt x="0" y="6795262"/>
                    <a:pt x="0" y="6686550"/>
                  </a:cubicBezTo>
                  <a:close/>
                </a:path>
              </a:pathLst>
            </a:custGeom>
            <a:solidFill>
              <a:srgbClr val="1A2A4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51"/>
            <p:cNvSpPr/>
            <p:nvPr/>
          </p:nvSpPr>
          <p:spPr>
            <a:xfrm>
              <a:off x="0" y="0"/>
              <a:ext cx="6366891" cy="6896100"/>
            </a:xfrm>
            <a:custGeom>
              <a:avLst/>
              <a:gdLst/>
              <a:ahLst/>
              <a:cxnLst/>
              <a:rect l="l" t="t" r="r" b="b"/>
              <a:pathLst>
                <a:path w="6366891" h="68961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6163691" y="0"/>
                  </a:lnTo>
                  <a:lnTo>
                    <a:pt x="6163691" y="6350"/>
                  </a:lnTo>
                  <a:lnTo>
                    <a:pt x="6163691" y="0"/>
                  </a:lnTo>
                  <a:cubicBezTo>
                    <a:pt x="6275959" y="0"/>
                    <a:pt x="6366891" y="90932"/>
                    <a:pt x="6366891" y="203200"/>
                  </a:cubicBezTo>
                  <a:lnTo>
                    <a:pt x="6360541" y="203200"/>
                  </a:lnTo>
                  <a:lnTo>
                    <a:pt x="6366891" y="203200"/>
                  </a:lnTo>
                  <a:lnTo>
                    <a:pt x="6366891" y="6692900"/>
                  </a:lnTo>
                  <a:lnTo>
                    <a:pt x="6360541" y="6692900"/>
                  </a:lnTo>
                  <a:lnTo>
                    <a:pt x="6366891" y="6692900"/>
                  </a:lnTo>
                  <a:cubicBezTo>
                    <a:pt x="6366891" y="6805168"/>
                    <a:pt x="6275959" y="6896100"/>
                    <a:pt x="6163691" y="6896100"/>
                  </a:cubicBezTo>
                  <a:lnTo>
                    <a:pt x="6163691" y="6889750"/>
                  </a:lnTo>
                  <a:lnTo>
                    <a:pt x="6163691" y="6896100"/>
                  </a:lnTo>
                  <a:lnTo>
                    <a:pt x="203200" y="6896100"/>
                  </a:lnTo>
                  <a:lnTo>
                    <a:pt x="203200" y="6889750"/>
                  </a:lnTo>
                  <a:lnTo>
                    <a:pt x="203200" y="6896100"/>
                  </a:lnTo>
                  <a:cubicBezTo>
                    <a:pt x="90932" y="6896100"/>
                    <a:pt x="0" y="6805168"/>
                    <a:pt x="0" y="6692900"/>
                  </a:cubicBezTo>
                  <a:lnTo>
                    <a:pt x="0" y="203200"/>
                  </a:lnTo>
                  <a:lnTo>
                    <a:pt x="6350" y="203200"/>
                  </a:lnTo>
                  <a:lnTo>
                    <a:pt x="0" y="203200"/>
                  </a:lnTo>
                  <a:moveTo>
                    <a:pt x="12700" y="203200"/>
                  </a:moveTo>
                  <a:lnTo>
                    <a:pt x="12700" y="6692900"/>
                  </a:lnTo>
                  <a:lnTo>
                    <a:pt x="6350" y="6692900"/>
                  </a:lnTo>
                  <a:lnTo>
                    <a:pt x="12700" y="6692900"/>
                  </a:lnTo>
                  <a:cubicBezTo>
                    <a:pt x="12700" y="6798183"/>
                    <a:pt x="98044" y="6883400"/>
                    <a:pt x="203200" y="6883400"/>
                  </a:cubicBezTo>
                  <a:lnTo>
                    <a:pt x="6163691" y="6883400"/>
                  </a:lnTo>
                  <a:cubicBezTo>
                    <a:pt x="6268847" y="6883400"/>
                    <a:pt x="6354191" y="6798056"/>
                    <a:pt x="6354191" y="6692900"/>
                  </a:cubicBezTo>
                  <a:lnTo>
                    <a:pt x="6354191" y="203200"/>
                  </a:lnTo>
                  <a:cubicBezTo>
                    <a:pt x="6354191" y="97917"/>
                    <a:pt x="6268847" y="12700"/>
                    <a:pt x="6163691" y="12700"/>
                  </a:cubicBezTo>
                  <a:lnTo>
                    <a:pt x="203200" y="12700"/>
                  </a:lnTo>
                  <a:lnTo>
                    <a:pt x="203200" y="6350"/>
                  </a:lnTo>
                  <a:lnTo>
                    <a:pt x="203200" y="12700"/>
                  </a:lnTo>
                  <a:cubicBezTo>
                    <a:pt x="98044" y="12700"/>
                    <a:pt x="12700" y="98044"/>
                    <a:pt x="12700" y="203200"/>
                  </a:cubicBezTo>
                  <a:close/>
                </a:path>
              </a:pathLst>
            </a:custGeom>
            <a:solidFill>
              <a:srgbClr val="2C4062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12569723" y="2914650"/>
            <a:ext cx="4349382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149">
                <a:solidFill>
                  <a:srgbClr val="E8A3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COMPLETION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2569723" y="3286125"/>
            <a:ext cx="4349382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B9C6D8"/>
                </a:solidFill>
                <a:latin typeface="IBM Plex Sans"/>
                <a:ea typeface="IBM Plex Sans"/>
                <a:cs typeface="IBM Plex Sans"/>
                <a:sym typeface="IBM Plex Sans"/>
              </a:rPr>
              <a:t>Record the request, then update the elevator state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12966497" y="4143375"/>
            <a:ext cx="3429000" cy="600075"/>
            <a:chOff x="0" y="0"/>
            <a:chExt cx="4572000" cy="8001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4572000" cy="800100"/>
            </a:xfrm>
            <a:custGeom>
              <a:avLst/>
              <a:gdLst/>
              <a:ahLst/>
              <a:cxnLst/>
              <a:rect l="l" t="t" r="r" b="b"/>
              <a:pathLst>
                <a:path w="4572000" h="8001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4445000" y="0"/>
                  </a:lnTo>
                  <a:cubicBezTo>
                    <a:pt x="4515104" y="0"/>
                    <a:pt x="4572000" y="56896"/>
                    <a:pt x="4572000" y="127000"/>
                  </a:cubicBezTo>
                  <a:lnTo>
                    <a:pt x="4572000" y="673100"/>
                  </a:lnTo>
                  <a:cubicBezTo>
                    <a:pt x="4572000" y="743204"/>
                    <a:pt x="4515104" y="800100"/>
                    <a:pt x="4445000" y="800100"/>
                  </a:cubicBezTo>
                  <a:lnTo>
                    <a:pt x="127000" y="800100"/>
                  </a:lnTo>
                  <a:cubicBezTo>
                    <a:pt x="56896" y="800100"/>
                    <a:pt x="0" y="743204"/>
                    <a:pt x="0" y="673100"/>
                  </a:cubicBezTo>
                  <a:close/>
                </a:path>
              </a:pathLst>
            </a:custGeom>
            <a:solidFill>
              <a:srgbClr val="1F7A6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47625"/>
              <a:ext cx="4572000" cy="84772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940"/>
                </a:lnSpc>
              </a:pPr>
              <a:r>
                <a:rPr lang="en-US" sz="2100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Completed History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4547647" y="4819650"/>
            <a:ext cx="266700" cy="266700"/>
            <a:chOff x="0" y="0"/>
            <a:chExt cx="355600" cy="355600"/>
          </a:xfrm>
        </p:grpSpPr>
        <p:sp>
          <p:nvSpPr>
            <p:cNvPr id="58" name="Freeform 58" descr="arrow-down"/>
            <p:cNvSpPr/>
            <p:nvPr/>
          </p:nvSpPr>
          <p:spPr>
            <a:xfrm>
              <a:off x="0" y="0"/>
              <a:ext cx="355600" cy="355600"/>
            </a:xfrm>
            <a:custGeom>
              <a:avLst/>
              <a:gdLst/>
              <a:ahLst/>
              <a:cxnLst/>
              <a:rect l="l" t="t" r="r" b="b"/>
              <a:pathLst>
                <a:path w="355600" h="355600">
                  <a:moveTo>
                    <a:pt x="0" y="0"/>
                  </a:moveTo>
                  <a:lnTo>
                    <a:pt x="355600" y="0"/>
                  </a:lnTo>
                  <a:lnTo>
                    <a:pt x="355600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2966497" y="5162550"/>
            <a:ext cx="3429000" cy="600075"/>
            <a:chOff x="0" y="0"/>
            <a:chExt cx="4572000" cy="8001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4572000" cy="800100"/>
            </a:xfrm>
            <a:custGeom>
              <a:avLst/>
              <a:gdLst/>
              <a:ahLst/>
              <a:cxnLst/>
              <a:rect l="l" t="t" r="r" b="b"/>
              <a:pathLst>
                <a:path w="4572000" h="8001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4445000" y="0"/>
                  </a:lnTo>
                  <a:cubicBezTo>
                    <a:pt x="4515104" y="0"/>
                    <a:pt x="4572000" y="56896"/>
                    <a:pt x="4572000" y="127000"/>
                  </a:cubicBezTo>
                  <a:lnTo>
                    <a:pt x="4572000" y="673100"/>
                  </a:lnTo>
                  <a:cubicBezTo>
                    <a:pt x="4572000" y="743204"/>
                    <a:pt x="4515104" y="800100"/>
                    <a:pt x="4445000" y="800100"/>
                  </a:cubicBezTo>
                  <a:lnTo>
                    <a:pt x="127000" y="800100"/>
                  </a:lnTo>
                  <a:cubicBezTo>
                    <a:pt x="56896" y="800100"/>
                    <a:pt x="0" y="743204"/>
                    <a:pt x="0" y="673100"/>
                  </a:cubicBezTo>
                  <a:close/>
                </a:path>
              </a:pathLst>
            </a:custGeom>
            <a:solidFill>
              <a:srgbClr val="2C406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47625"/>
              <a:ext cx="4572000" cy="84772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940"/>
                </a:lnSpc>
              </a:pPr>
              <a:r>
                <a:rPr lang="en-US" sz="2100" b="1">
                  <a:solidFill>
                    <a:srgbClr val="F5F3EC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Update Current Floor</a:t>
              </a:r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1219200" y="9324975"/>
            <a:ext cx="16325088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7F93B2"/>
                </a:solidFill>
                <a:latin typeface="IBM Plex Sans"/>
                <a:ea typeface="IBM Plex Sans"/>
                <a:cs typeface="IBM Plex Sans"/>
                <a:sym typeface="IBM Plex Sans"/>
              </a:rPr>
              <a:t>Elevator Request Management System ·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19200" y="1181100"/>
            <a:ext cx="16325088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225">
                <a:solidFill>
                  <a:srgbClr val="2F6FB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WHY EACH STRUCTURE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19200" y="1819275"/>
            <a:ext cx="16325088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4200" b="1">
                <a:solidFill>
                  <a:srgbClr val="0F1B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Data Structures Used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238250" y="2695575"/>
          <a:ext cx="15792450" cy="3581400"/>
        </p:xfrm>
        <a:graphic>
          <a:graphicData uri="http://schemas.openxmlformats.org/drawingml/2006/table">
            <a:tbl>
              <a:tblPr/>
              <a:tblGrid>
                <a:gridCol w="3166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1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1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30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0918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5F3EC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Component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5F3EC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Role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5F3EC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Data stored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5F3EC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Why it is used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8864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2F6FB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Queue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B4A5E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Logical structure for pending requests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B4A5E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Requests not yet completed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B4A5E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FIFO gives fair, ordered service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8864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2F6FB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Array queue[SIZE]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B4A5E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Implements the Queue (SIZE = 20)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B4A5E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struct Request elements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B4A5E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Simple, fixed capacity, direct indexing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918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2F6FB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struct Request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B4A5E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Represents one request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B4A5E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id, source, destination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B4A5E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Groups related data into one unit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918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2F6FB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Linked List (struct Node)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B4A5E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Completed-request history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B4A5E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id, source, destination, next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B4A5E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Grows by one node per completed request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918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2F6FB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int currentFloor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B4A5E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Elevator state (starts at 1)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B4A5E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The floor the car is on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B4A5E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 single value is enough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1219200" y="6534750"/>
            <a:ext cx="16325088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3B4A5E"/>
                </a:solidFill>
                <a:latin typeface="IBM Plex Sans"/>
                <a:ea typeface="IBM Plex Sans"/>
                <a:cs typeface="IBM Plex Sans"/>
                <a:sym typeface="IBM Plex Sans"/>
              </a:rPr>
              <a:t>Also used: constants </a:t>
            </a:r>
            <a:r>
              <a:rPr lang="en-US" sz="1800" b="1">
                <a:solidFill>
                  <a:srgbClr val="3B4A5E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SIZE = 20</a:t>
            </a:r>
            <a:r>
              <a:rPr lang="en-US" sz="1800">
                <a:solidFill>
                  <a:srgbClr val="3B4A5E"/>
                </a:solidFill>
                <a:latin typeface="IBM Plex Sans"/>
                <a:ea typeface="IBM Plex Sans"/>
                <a:cs typeface="IBM Plex Sans"/>
                <a:sym typeface="IBM Plex Sans"/>
              </a:rPr>
              <a:t> and </a:t>
            </a:r>
            <a:r>
              <a:rPr lang="en-US" sz="1800" b="1">
                <a:solidFill>
                  <a:srgbClr val="3B4A5E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FLOORS = 10</a:t>
            </a:r>
            <a:r>
              <a:rPr lang="en-US" sz="1800">
                <a:solidFill>
                  <a:srgbClr val="3B4A5E"/>
                </a:solidFill>
                <a:latin typeface="IBM Plex Sans"/>
                <a:ea typeface="IBM Plex Sans"/>
                <a:cs typeface="IBM Plex Sans"/>
                <a:sym typeface="IBM Plex Sans"/>
              </a:rPr>
              <a:t>, and the counter </a:t>
            </a:r>
            <a:r>
              <a:rPr lang="en-US" sz="1800" b="1">
                <a:solidFill>
                  <a:srgbClr val="3B4A5E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requestID</a:t>
            </a:r>
            <a:r>
              <a:rPr lang="en-US" sz="1800">
                <a:solidFill>
                  <a:srgbClr val="3B4A5E"/>
                </a:solidFill>
                <a:latin typeface="IBM Plex Sans"/>
                <a:ea typeface="IBM Plex Sans"/>
                <a:cs typeface="IBM Plex Sans"/>
                <a:sym typeface="IBM Plex Sans"/>
              </a:rPr>
              <a:t> (starts at 1).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9200" y="9324975"/>
            <a:ext cx="16325088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B7A8F"/>
                </a:solidFill>
                <a:latin typeface="IBM Plex Sans"/>
                <a:ea typeface="IBM Plex Sans"/>
                <a:cs typeface="IBM Plex Sans"/>
                <a:sym typeface="IBM Plex Sans"/>
              </a:rPr>
              <a:t>Elevator Request Management System ·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19200" y="1181100"/>
            <a:ext cx="16325088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225">
                <a:solidFill>
                  <a:srgbClr val="E8A3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PENDING REQUESTS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19200" y="1781175"/>
            <a:ext cx="16325088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4200" b="1">
                <a:solidFill>
                  <a:srgbClr val="F5F3E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Queue and FIFO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19200" y="2552700"/>
            <a:ext cx="16325088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B9C6D8"/>
                </a:solidFill>
                <a:latin typeface="IBM Plex Sans"/>
                <a:ea typeface="IBM Plex Sans"/>
                <a:cs typeface="IBM Plex Sans"/>
                <a:sym typeface="IBM Plex Sans"/>
              </a:rPr>
              <a:t>FIFO: the first request to enter the queue is the first one served.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19200" y="3162300"/>
            <a:ext cx="259080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E8A3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front ↓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219200" y="3552825"/>
            <a:ext cx="2514600" cy="800100"/>
            <a:chOff x="0" y="0"/>
            <a:chExt cx="3352800" cy="1066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352800" cy="1066800"/>
            </a:xfrm>
            <a:custGeom>
              <a:avLst/>
              <a:gdLst/>
              <a:ahLst/>
              <a:cxnLst/>
              <a:rect l="l" t="t" r="r" b="b"/>
              <a:pathLst>
                <a:path w="3352800" h="10668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3200400" y="0"/>
                  </a:lnTo>
                  <a:cubicBezTo>
                    <a:pt x="3284601" y="0"/>
                    <a:pt x="3352800" y="68199"/>
                    <a:pt x="3352800" y="152400"/>
                  </a:cubicBezTo>
                  <a:lnTo>
                    <a:pt x="3352800" y="914400"/>
                  </a:lnTo>
                  <a:cubicBezTo>
                    <a:pt x="3352800" y="998601"/>
                    <a:pt x="3284601" y="1066800"/>
                    <a:pt x="3200400" y="1066800"/>
                  </a:cubicBezTo>
                  <a:lnTo>
                    <a:pt x="152400" y="1066800"/>
                  </a:lnTo>
                  <a:cubicBezTo>
                    <a:pt x="68199" y="1066800"/>
                    <a:pt x="0" y="998601"/>
                    <a:pt x="0" y="914400"/>
                  </a:cubicBezTo>
                  <a:close/>
                </a:path>
              </a:pathLst>
            </a:custGeom>
            <a:solidFill>
              <a:srgbClr val="2F6FB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181100" y="3695700"/>
            <a:ext cx="2590800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1: 2 → 7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81100" y="4352925"/>
            <a:ext cx="259080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7F93B2"/>
                </a:solidFill>
                <a:latin typeface="IBM Plex Sans"/>
                <a:ea typeface="IBM Plex Sans"/>
                <a:cs typeface="IBM Plex Sans"/>
                <a:sym typeface="IBM Plex Sans"/>
              </a:rPr>
              <a:t>[0]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19200" y="4705350"/>
            <a:ext cx="259080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F1B2D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886200" y="3162300"/>
            <a:ext cx="259080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F1B2D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3886200" y="3552825"/>
            <a:ext cx="2514600" cy="800100"/>
            <a:chOff x="0" y="0"/>
            <a:chExt cx="3352800" cy="1066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352800" cy="1066800"/>
            </a:xfrm>
            <a:custGeom>
              <a:avLst/>
              <a:gdLst/>
              <a:ahLst/>
              <a:cxnLst/>
              <a:rect l="l" t="t" r="r" b="b"/>
              <a:pathLst>
                <a:path w="3352800" h="10668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3200400" y="0"/>
                  </a:lnTo>
                  <a:cubicBezTo>
                    <a:pt x="3284601" y="0"/>
                    <a:pt x="3352800" y="68199"/>
                    <a:pt x="3352800" y="152400"/>
                  </a:cubicBezTo>
                  <a:lnTo>
                    <a:pt x="3352800" y="914400"/>
                  </a:lnTo>
                  <a:cubicBezTo>
                    <a:pt x="3352800" y="998601"/>
                    <a:pt x="3284601" y="1066800"/>
                    <a:pt x="3200400" y="1066800"/>
                  </a:cubicBezTo>
                  <a:lnTo>
                    <a:pt x="152400" y="1066800"/>
                  </a:lnTo>
                  <a:cubicBezTo>
                    <a:pt x="68199" y="1066800"/>
                    <a:pt x="0" y="998601"/>
                    <a:pt x="0" y="914400"/>
                  </a:cubicBezTo>
                  <a:close/>
                </a:path>
              </a:pathLst>
            </a:custGeom>
            <a:solidFill>
              <a:srgbClr val="2F6FB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3848100" y="3695700"/>
            <a:ext cx="2590800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2: 5 → 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48100" y="4352925"/>
            <a:ext cx="259080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7F93B2"/>
                </a:solidFill>
                <a:latin typeface="IBM Plex Sans"/>
                <a:ea typeface="IBM Plex Sans"/>
                <a:cs typeface="IBM Plex Sans"/>
                <a:sym typeface="IBM Plex Sans"/>
              </a:rPr>
              <a:t>[1]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886200" y="4705350"/>
            <a:ext cx="259080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F1B2D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53200" y="3162300"/>
            <a:ext cx="259080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F1B2D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6553200" y="3552825"/>
            <a:ext cx="2514600" cy="800100"/>
            <a:chOff x="0" y="0"/>
            <a:chExt cx="3352800" cy="1066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352800" cy="1066800"/>
            </a:xfrm>
            <a:custGeom>
              <a:avLst/>
              <a:gdLst/>
              <a:ahLst/>
              <a:cxnLst/>
              <a:rect l="l" t="t" r="r" b="b"/>
              <a:pathLst>
                <a:path w="3352800" h="10668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3200400" y="0"/>
                  </a:lnTo>
                  <a:cubicBezTo>
                    <a:pt x="3284601" y="0"/>
                    <a:pt x="3352800" y="68199"/>
                    <a:pt x="3352800" y="152400"/>
                  </a:cubicBezTo>
                  <a:lnTo>
                    <a:pt x="3352800" y="914400"/>
                  </a:lnTo>
                  <a:cubicBezTo>
                    <a:pt x="3352800" y="998601"/>
                    <a:pt x="3284601" y="1066800"/>
                    <a:pt x="3200400" y="1066800"/>
                  </a:cubicBezTo>
                  <a:lnTo>
                    <a:pt x="152400" y="1066800"/>
                  </a:lnTo>
                  <a:cubicBezTo>
                    <a:pt x="68199" y="1066800"/>
                    <a:pt x="0" y="998601"/>
                    <a:pt x="0" y="914400"/>
                  </a:cubicBezTo>
                  <a:close/>
                </a:path>
              </a:pathLst>
            </a:custGeom>
            <a:solidFill>
              <a:srgbClr val="2F6FB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515100" y="3695700"/>
            <a:ext cx="2590800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3: 8 → 10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15100" y="4352925"/>
            <a:ext cx="259080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7F93B2"/>
                </a:solidFill>
                <a:latin typeface="IBM Plex Sans"/>
                <a:ea typeface="IBM Plex Sans"/>
                <a:cs typeface="IBM Plex Sans"/>
                <a:sym typeface="IBM Plex Sans"/>
              </a:rPr>
              <a:t>[2]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53200" y="4705350"/>
            <a:ext cx="259080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E8A3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↑ rear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220200" y="3162300"/>
            <a:ext cx="259080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F1B2D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220200" y="3552825"/>
            <a:ext cx="2514600" cy="828675"/>
            <a:chOff x="0" y="0"/>
            <a:chExt cx="3352800" cy="11049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352800" cy="1104900"/>
            </a:xfrm>
            <a:custGeom>
              <a:avLst/>
              <a:gdLst/>
              <a:ahLst/>
              <a:cxnLst/>
              <a:rect l="l" t="t" r="r" b="b"/>
              <a:pathLst>
                <a:path w="3352800" h="1104900">
                  <a:moveTo>
                    <a:pt x="330200" y="0"/>
                  </a:moveTo>
                  <a:lnTo>
                    <a:pt x="406400" y="0"/>
                  </a:lnTo>
                  <a:lnTo>
                    <a:pt x="406400" y="25400"/>
                  </a:lnTo>
                  <a:lnTo>
                    <a:pt x="330200" y="25400"/>
                  </a:lnTo>
                  <a:close/>
                  <a:moveTo>
                    <a:pt x="508000" y="0"/>
                  </a:moveTo>
                  <a:lnTo>
                    <a:pt x="584200" y="0"/>
                  </a:lnTo>
                  <a:lnTo>
                    <a:pt x="584200" y="25400"/>
                  </a:lnTo>
                  <a:lnTo>
                    <a:pt x="508000" y="25400"/>
                  </a:lnTo>
                  <a:close/>
                  <a:moveTo>
                    <a:pt x="685800" y="0"/>
                  </a:moveTo>
                  <a:lnTo>
                    <a:pt x="762000" y="0"/>
                  </a:lnTo>
                  <a:lnTo>
                    <a:pt x="762000" y="25400"/>
                  </a:lnTo>
                  <a:lnTo>
                    <a:pt x="685800" y="25400"/>
                  </a:lnTo>
                  <a:close/>
                  <a:moveTo>
                    <a:pt x="863600" y="0"/>
                  </a:moveTo>
                  <a:lnTo>
                    <a:pt x="939800" y="0"/>
                  </a:lnTo>
                  <a:lnTo>
                    <a:pt x="939800" y="25400"/>
                  </a:lnTo>
                  <a:lnTo>
                    <a:pt x="863600" y="25400"/>
                  </a:lnTo>
                  <a:close/>
                  <a:moveTo>
                    <a:pt x="1041400" y="0"/>
                  </a:moveTo>
                  <a:lnTo>
                    <a:pt x="1117600" y="0"/>
                  </a:lnTo>
                  <a:lnTo>
                    <a:pt x="1117600" y="25400"/>
                  </a:lnTo>
                  <a:lnTo>
                    <a:pt x="1041400" y="25400"/>
                  </a:lnTo>
                  <a:close/>
                  <a:moveTo>
                    <a:pt x="1219200" y="0"/>
                  </a:moveTo>
                  <a:lnTo>
                    <a:pt x="1295400" y="0"/>
                  </a:lnTo>
                  <a:lnTo>
                    <a:pt x="1295400" y="25400"/>
                  </a:lnTo>
                  <a:lnTo>
                    <a:pt x="1219200" y="25400"/>
                  </a:lnTo>
                  <a:close/>
                  <a:moveTo>
                    <a:pt x="1397000" y="25400"/>
                  </a:moveTo>
                  <a:lnTo>
                    <a:pt x="1473200" y="25400"/>
                  </a:lnTo>
                  <a:lnTo>
                    <a:pt x="1397000" y="25400"/>
                  </a:lnTo>
                  <a:close/>
                  <a:moveTo>
                    <a:pt x="1574800" y="25400"/>
                  </a:moveTo>
                  <a:lnTo>
                    <a:pt x="1651000" y="25400"/>
                  </a:lnTo>
                  <a:lnTo>
                    <a:pt x="1574800" y="25400"/>
                  </a:lnTo>
                  <a:close/>
                  <a:moveTo>
                    <a:pt x="1752600" y="25400"/>
                  </a:moveTo>
                  <a:lnTo>
                    <a:pt x="1828800" y="25400"/>
                  </a:lnTo>
                  <a:lnTo>
                    <a:pt x="1752600" y="25400"/>
                  </a:lnTo>
                  <a:close/>
                  <a:moveTo>
                    <a:pt x="1930400" y="25400"/>
                  </a:moveTo>
                  <a:lnTo>
                    <a:pt x="2006600" y="25400"/>
                  </a:lnTo>
                  <a:lnTo>
                    <a:pt x="1930400" y="25400"/>
                  </a:lnTo>
                  <a:close/>
                  <a:moveTo>
                    <a:pt x="2108200" y="25400"/>
                  </a:moveTo>
                  <a:lnTo>
                    <a:pt x="2184400" y="25400"/>
                  </a:lnTo>
                  <a:lnTo>
                    <a:pt x="2108200" y="25400"/>
                  </a:lnTo>
                  <a:close/>
                  <a:moveTo>
                    <a:pt x="2286000" y="25400"/>
                  </a:moveTo>
                  <a:lnTo>
                    <a:pt x="2362200" y="25400"/>
                  </a:lnTo>
                  <a:lnTo>
                    <a:pt x="2286000" y="25400"/>
                  </a:lnTo>
                  <a:close/>
                  <a:moveTo>
                    <a:pt x="2463800" y="25400"/>
                  </a:moveTo>
                  <a:lnTo>
                    <a:pt x="2540000" y="25400"/>
                  </a:lnTo>
                  <a:lnTo>
                    <a:pt x="2463800" y="25400"/>
                  </a:lnTo>
                  <a:close/>
                  <a:moveTo>
                    <a:pt x="2641600" y="25400"/>
                  </a:moveTo>
                  <a:lnTo>
                    <a:pt x="2717800" y="25400"/>
                  </a:lnTo>
                  <a:lnTo>
                    <a:pt x="2641600" y="25400"/>
                  </a:lnTo>
                  <a:close/>
                  <a:moveTo>
                    <a:pt x="2819400" y="25400"/>
                  </a:moveTo>
                  <a:lnTo>
                    <a:pt x="2895600" y="25400"/>
                  </a:lnTo>
                  <a:lnTo>
                    <a:pt x="2819400" y="25400"/>
                  </a:lnTo>
                  <a:close/>
                  <a:moveTo>
                    <a:pt x="2997200" y="25400"/>
                  </a:moveTo>
                  <a:lnTo>
                    <a:pt x="3073400" y="25400"/>
                  </a:lnTo>
                  <a:lnTo>
                    <a:pt x="2997200" y="25400"/>
                  </a:lnTo>
                  <a:close/>
                  <a:moveTo>
                    <a:pt x="3175000" y="25400"/>
                  </a:moveTo>
                  <a:lnTo>
                    <a:pt x="3200400" y="25400"/>
                  </a:lnTo>
                  <a:lnTo>
                    <a:pt x="3200400" y="12700"/>
                  </a:lnTo>
                  <a:lnTo>
                    <a:pt x="3200400" y="0"/>
                  </a:lnTo>
                  <a:cubicBezTo>
                    <a:pt x="3219450" y="0"/>
                    <a:pt x="3237738" y="3556"/>
                    <a:pt x="3254629" y="9906"/>
                  </a:cubicBezTo>
                  <a:lnTo>
                    <a:pt x="3245612" y="33655"/>
                  </a:lnTo>
                  <a:cubicBezTo>
                    <a:pt x="3231642" y="28321"/>
                    <a:pt x="3216402" y="25400"/>
                    <a:pt x="3200400" y="25400"/>
                  </a:cubicBezTo>
                  <a:lnTo>
                    <a:pt x="3175000" y="25400"/>
                  </a:lnTo>
                  <a:close/>
                  <a:moveTo>
                    <a:pt x="3335528" y="107315"/>
                  </a:moveTo>
                  <a:cubicBezTo>
                    <a:pt x="3346577" y="102997"/>
                    <a:pt x="3352800" y="127000"/>
                    <a:pt x="3352800" y="152400"/>
                  </a:cubicBezTo>
                  <a:lnTo>
                    <a:pt x="3340100" y="152400"/>
                  </a:lnTo>
                  <a:lnTo>
                    <a:pt x="3352800" y="152400"/>
                  </a:lnTo>
                  <a:lnTo>
                    <a:pt x="3352800" y="161544"/>
                  </a:lnTo>
                  <a:lnTo>
                    <a:pt x="3327400" y="161544"/>
                  </a:lnTo>
                  <a:lnTo>
                    <a:pt x="3327400" y="152400"/>
                  </a:lnTo>
                  <a:cubicBezTo>
                    <a:pt x="3327400" y="131191"/>
                    <a:pt x="3322193" y="111252"/>
                    <a:pt x="3313049" y="93726"/>
                  </a:cubicBezTo>
                  <a:close/>
                  <a:moveTo>
                    <a:pt x="3352800" y="263144"/>
                  </a:moveTo>
                  <a:lnTo>
                    <a:pt x="3352800" y="339344"/>
                  </a:lnTo>
                  <a:lnTo>
                    <a:pt x="3327400" y="339344"/>
                  </a:lnTo>
                  <a:lnTo>
                    <a:pt x="3327400" y="263144"/>
                  </a:lnTo>
                  <a:close/>
                  <a:moveTo>
                    <a:pt x="3327400" y="440944"/>
                  </a:moveTo>
                  <a:lnTo>
                    <a:pt x="3327400" y="517144"/>
                  </a:lnTo>
                  <a:lnTo>
                    <a:pt x="3302000" y="517144"/>
                  </a:lnTo>
                  <a:lnTo>
                    <a:pt x="3302000" y="440944"/>
                  </a:lnTo>
                  <a:close/>
                  <a:moveTo>
                    <a:pt x="3302000" y="618744"/>
                  </a:moveTo>
                  <a:lnTo>
                    <a:pt x="3302000" y="694944"/>
                  </a:lnTo>
                  <a:lnTo>
                    <a:pt x="3276600" y="694944"/>
                  </a:lnTo>
                  <a:lnTo>
                    <a:pt x="3276600" y="618744"/>
                  </a:lnTo>
                  <a:close/>
                  <a:moveTo>
                    <a:pt x="3276600" y="796544"/>
                  </a:moveTo>
                  <a:lnTo>
                    <a:pt x="3276600" y="872744"/>
                  </a:lnTo>
                  <a:lnTo>
                    <a:pt x="3251200" y="872744"/>
                  </a:lnTo>
                  <a:lnTo>
                    <a:pt x="3251200" y="796544"/>
                  </a:lnTo>
                  <a:close/>
                  <a:moveTo>
                    <a:pt x="3249295" y="976376"/>
                  </a:moveTo>
                  <a:cubicBezTo>
                    <a:pt x="3244850" y="1004570"/>
                    <a:pt x="3232785" y="1030097"/>
                    <a:pt x="3215132" y="1050925"/>
                  </a:cubicBezTo>
                  <a:lnTo>
                    <a:pt x="3195701" y="1034542"/>
                  </a:lnTo>
                  <a:cubicBezTo>
                    <a:pt x="3210433" y="1017143"/>
                    <a:pt x="3220466" y="995807"/>
                    <a:pt x="3224149" y="972439"/>
                  </a:cubicBezTo>
                  <a:close/>
                  <a:moveTo>
                    <a:pt x="3222117" y="1103376"/>
                  </a:moveTo>
                  <a:cubicBezTo>
                    <a:pt x="3215005" y="1104392"/>
                    <a:pt x="3207766" y="1104900"/>
                    <a:pt x="3200400" y="1104900"/>
                  </a:cubicBezTo>
                  <a:lnTo>
                    <a:pt x="3200400" y="1092200"/>
                  </a:lnTo>
                  <a:lnTo>
                    <a:pt x="3200400" y="1104900"/>
                  </a:lnTo>
                  <a:lnTo>
                    <a:pt x="3144012" y="1104900"/>
                  </a:lnTo>
                  <a:lnTo>
                    <a:pt x="3144012" y="1079500"/>
                  </a:lnTo>
                  <a:lnTo>
                    <a:pt x="3200400" y="1079500"/>
                  </a:lnTo>
                  <a:cubicBezTo>
                    <a:pt x="3206496" y="1079500"/>
                    <a:pt x="3212592" y="1079119"/>
                    <a:pt x="3218434" y="1078230"/>
                  </a:cubicBezTo>
                  <a:close/>
                  <a:moveTo>
                    <a:pt x="3042412" y="1104900"/>
                  </a:moveTo>
                  <a:lnTo>
                    <a:pt x="2966212" y="1104900"/>
                  </a:lnTo>
                  <a:lnTo>
                    <a:pt x="2966212" y="1079500"/>
                  </a:lnTo>
                  <a:lnTo>
                    <a:pt x="3042412" y="1079500"/>
                  </a:lnTo>
                  <a:close/>
                  <a:moveTo>
                    <a:pt x="2864612" y="1079500"/>
                  </a:moveTo>
                  <a:lnTo>
                    <a:pt x="2788412" y="1079500"/>
                  </a:lnTo>
                  <a:lnTo>
                    <a:pt x="2864612" y="1079500"/>
                  </a:lnTo>
                  <a:close/>
                  <a:moveTo>
                    <a:pt x="2686812" y="1079500"/>
                  </a:moveTo>
                  <a:lnTo>
                    <a:pt x="2610612" y="1079500"/>
                  </a:lnTo>
                  <a:lnTo>
                    <a:pt x="2686812" y="1079500"/>
                  </a:lnTo>
                  <a:close/>
                  <a:moveTo>
                    <a:pt x="2509012" y="1079500"/>
                  </a:moveTo>
                  <a:lnTo>
                    <a:pt x="2432812" y="1079500"/>
                  </a:lnTo>
                  <a:lnTo>
                    <a:pt x="2509012" y="1079500"/>
                  </a:lnTo>
                  <a:close/>
                  <a:moveTo>
                    <a:pt x="2331212" y="1079500"/>
                  </a:moveTo>
                  <a:lnTo>
                    <a:pt x="2255012" y="1079500"/>
                  </a:lnTo>
                  <a:lnTo>
                    <a:pt x="2331212" y="1079500"/>
                  </a:lnTo>
                  <a:close/>
                  <a:moveTo>
                    <a:pt x="2153412" y="1079500"/>
                  </a:moveTo>
                  <a:lnTo>
                    <a:pt x="2077212" y="1079500"/>
                  </a:lnTo>
                  <a:lnTo>
                    <a:pt x="2153412" y="1079500"/>
                  </a:lnTo>
                  <a:close/>
                  <a:moveTo>
                    <a:pt x="1975612" y="1079500"/>
                  </a:moveTo>
                  <a:lnTo>
                    <a:pt x="1899412" y="1079500"/>
                  </a:lnTo>
                  <a:lnTo>
                    <a:pt x="1975612" y="1079500"/>
                  </a:lnTo>
                  <a:close/>
                  <a:moveTo>
                    <a:pt x="1797812" y="1079500"/>
                  </a:moveTo>
                  <a:lnTo>
                    <a:pt x="1721612" y="1079500"/>
                  </a:lnTo>
                  <a:lnTo>
                    <a:pt x="1797812" y="1079500"/>
                  </a:lnTo>
                  <a:close/>
                  <a:moveTo>
                    <a:pt x="1620012" y="1079500"/>
                  </a:moveTo>
                  <a:lnTo>
                    <a:pt x="1543812" y="1079500"/>
                  </a:lnTo>
                  <a:lnTo>
                    <a:pt x="1620012" y="1079500"/>
                  </a:lnTo>
                  <a:close/>
                  <a:moveTo>
                    <a:pt x="1442212" y="1079500"/>
                  </a:moveTo>
                  <a:lnTo>
                    <a:pt x="1366012" y="1079500"/>
                  </a:lnTo>
                  <a:lnTo>
                    <a:pt x="1442212" y="1079500"/>
                  </a:lnTo>
                  <a:close/>
                  <a:moveTo>
                    <a:pt x="1264412" y="1079500"/>
                  </a:moveTo>
                  <a:lnTo>
                    <a:pt x="1188212" y="1079500"/>
                  </a:lnTo>
                  <a:lnTo>
                    <a:pt x="1264412" y="1079500"/>
                  </a:lnTo>
                  <a:close/>
                  <a:moveTo>
                    <a:pt x="1086612" y="1079500"/>
                  </a:moveTo>
                  <a:lnTo>
                    <a:pt x="1010412" y="1079500"/>
                  </a:lnTo>
                  <a:lnTo>
                    <a:pt x="1086612" y="1079500"/>
                  </a:lnTo>
                  <a:close/>
                  <a:moveTo>
                    <a:pt x="908812" y="1079500"/>
                  </a:moveTo>
                  <a:lnTo>
                    <a:pt x="832612" y="1079500"/>
                  </a:lnTo>
                  <a:lnTo>
                    <a:pt x="908812" y="1079500"/>
                  </a:lnTo>
                  <a:close/>
                  <a:moveTo>
                    <a:pt x="731012" y="1079500"/>
                  </a:moveTo>
                  <a:lnTo>
                    <a:pt x="654812" y="1079500"/>
                  </a:lnTo>
                  <a:lnTo>
                    <a:pt x="731012" y="1079500"/>
                  </a:lnTo>
                  <a:close/>
                  <a:moveTo>
                    <a:pt x="553212" y="1079500"/>
                  </a:moveTo>
                  <a:lnTo>
                    <a:pt x="477012" y="1079500"/>
                  </a:lnTo>
                  <a:lnTo>
                    <a:pt x="553212" y="1079500"/>
                  </a:lnTo>
                  <a:close/>
                  <a:moveTo>
                    <a:pt x="375412" y="1079500"/>
                  </a:moveTo>
                  <a:lnTo>
                    <a:pt x="299212" y="1079500"/>
                  </a:lnTo>
                  <a:lnTo>
                    <a:pt x="375412" y="1079500"/>
                  </a:lnTo>
                  <a:close/>
                  <a:moveTo>
                    <a:pt x="197612" y="1079500"/>
                  </a:moveTo>
                  <a:lnTo>
                    <a:pt x="152400" y="1079500"/>
                  </a:lnTo>
                  <a:lnTo>
                    <a:pt x="152400" y="1092200"/>
                  </a:lnTo>
                  <a:lnTo>
                    <a:pt x="152400" y="1104900"/>
                  </a:lnTo>
                  <a:cubicBezTo>
                    <a:pt x="140843" y="1104900"/>
                    <a:pt x="129667" y="1103630"/>
                    <a:pt x="118872" y="1101217"/>
                  </a:cubicBezTo>
                  <a:lnTo>
                    <a:pt x="124460" y="1076452"/>
                  </a:lnTo>
                  <a:cubicBezTo>
                    <a:pt x="133477" y="1078484"/>
                    <a:pt x="142748" y="1079500"/>
                    <a:pt x="152400" y="1079500"/>
                  </a:cubicBezTo>
                  <a:lnTo>
                    <a:pt x="197612" y="1079500"/>
                  </a:lnTo>
                  <a:close/>
                  <a:moveTo>
                    <a:pt x="28575" y="1041273"/>
                  </a:moveTo>
                  <a:cubicBezTo>
                    <a:pt x="12700" y="1019302"/>
                    <a:pt x="2667" y="992886"/>
                    <a:pt x="508" y="964311"/>
                  </a:cubicBezTo>
                  <a:lnTo>
                    <a:pt x="25781" y="962406"/>
                  </a:lnTo>
                  <a:cubicBezTo>
                    <a:pt x="27559" y="986282"/>
                    <a:pt x="36068" y="1008253"/>
                    <a:pt x="49149" y="1026541"/>
                  </a:cubicBezTo>
                  <a:close/>
                  <a:moveTo>
                    <a:pt x="0" y="861568"/>
                  </a:moveTo>
                  <a:lnTo>
                    <a:pt x="0" y="785368"/>
                  </a:lnTo>
                  <a:lnTo>
                    <a:pt x="25400" y="785368"/>
                  </a:lnTo>
                  <a:lnTo>
                    <a:pt x="25400" y="861568"/>
                  </a:lnTo>
                  <a:close/>
                  <a:moveTo>
                    <a:pt x="25400" y="683768"/>
                  </a:moveTo>
                  <a:lnTo>
                    <a:pt x="25400" y="607568"/>
                  </a:lnTo>
                  <a:lnTo>
                    <a:pt x="25400" y="683768"/>
                  </a:lnTo>
                  <a:close/>
                  <a:moveTo>
                    <a:pt x="25400" y="505968"/>
                  </a:moveTo>
                  <a:lnTo>
                    <a:pt x="25400" y="429768"/>
                  </a:lnTo>
                  <a:lnTo>
                    <a:pt x="25400" y="505968"/>
                  </a:lnTo>
                  <a:close/>
                  <a:moveTo>
                    <a:pt x="25400" y="328168"/>
                  </a:moveTo>
                  <a:lnTo>
                    <a:pt x="25400" y="251968"/>
                  </a:lnTo>
                  <a:lnTo>
                    <a:pt x="25400" y="328168"/>
                  </a:lnTo>
                  <a:close/>
                  <a:moveTo>
                    <a:pt x="0" y="150241"/>
                  </a:moveTo>
                  <a:cubicBezTo>
                    <a:pt x="381" y="121412"/>
                    <a:pt x="8890" y="94361"/>
                    <a:pt x="23241" y="71501"/>
                  </a:cubicBezTo>
                  <a:lnTo>
                    <a:pt x="44704" y="84963"/>
                  </a:lnTo>
                  <a:cubicBezTo>
                    <a:pt x="32766" y="104013"/>
                    <a:pt x="25781" y="126492"/>
                    <a:pt x="25400" y="150495"/>
                  </a:cubicBezTo>
                  <a:close/>
                  <a:moveTo>
                    <a:pt x="109601" y="6096"/>
                  </a:moveTo>
                  <a:cubicBezTo>
                    <a:pt x="123190" y="2159"/>
                    <a:pt x="137541" y="0"/>
                    <a:pt x="152400" y="0"/>
                  </a:cubicBezTo>
                  <a:cubicBezTo>
                    <a:pt x="154813" y="0"/>
                    <a:pt x="157353" y="762"/>
                    <a:pt x="159385" y="2032"/>
                  </a:cubicBezTo>
                  <a:lnTo>
                    <a:pt x="152400" y="12700"/>
                  </a:lnTo>
                  <a:lnTo>
                    <a:pt x="152400" y="0"/>
                  </a:lnTo>
                  <a:lnTo>
                    <a:pt x="228600" y="0"/>
                  </a:lnTo>
                  <a:lnTo>
                    <a:pt x="228600" y="25400"/>
                  </a:lnTo>
                  <a:lnTo>
                    <a:pt x="152400" y="25400"/>
                  </a:lnTo>
                  <a:cubicBezTo>
                    <a:pt x="149987" y="25400"/>
                    <a:pt x="147447" y="24638"/>
                    <a:pt x="145415" y="23368"/>
                  </a:cubicBezTo>
                  <a:lnTo>
                    <a:pt x="152400" y="12700"/>
                  </a:lnTo>
                  <a:lnTo>
                    <a:pt x="152400" y="25400"/>
                  </a:lnTo>
                  <a:cubicBezTo>
                    <a:pt x="139954" y="25400"/>
                    <a:pt x="128016" y="27178"/>
                    <a:pt x="116713" y="30480"/>
                  </a:cubicBezTo>
                  <a:close/>
                </a:path>
              </a:pathLst>
            </a:custGeom>
            <a:solidFill>
              <a:srgbClr val="4B5F7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3352800" cy="115252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7F93B2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empty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9182100" y="4381500"/>
            <a:ext cx="259080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7F93B2"/>
                </a:solidFill>
                <a:latin typeface="IBM Plex Sans"/>
                <a:ea typeface="IBM Plex Sans"/>
                <a:cs typeface="IBM Plex Sans"/>
                <a:sym typeface="IBM Plex Sans"/>
              </a:rPr>
              <a:t>[3]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220200" y="4733925"/>
            <a:ext cx="259080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F1B2D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887200" y="3162300"/>
            <a:ext cx="259080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F1B2D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1887200" y="3552825"/>
            <a:ext cx="2514600" cy="828675"/>
            <a:chOff x="0" y="0"/>
            <a:chExt cx="3352800" cy="11049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352800" cy="1104900"/>
            </a:xfrm>
            <a:custGeom>
              <a:avLst/>
              <a:gdLst/>
              <a:ahLst/>
              <a:cxnLst/>
              <a:rect l="l" t="t" r="r" b="b"/>
              <a:pathLst>
                <a:path w="3352800" h="1104900">
                  <a:moveTo>
                    <a:pt x="330200" y="0"/>
                  </a:moveTo>
                  <a:lnTo>
                    <a:pt x="406400" y="0"/>
                  </a:lnTo>
                  <a:lnTo>
                    <a:pt x="406400" y="25400"/>
                  </a:lnTo>
                  <a:lnTo>
                    <a:pt x="330200" y="25400"/>
                  </a:lnTo>
                  <a:close/>
                  <a:moveTo>
                    <a:pt x="508000" y="0"/>
                  </a:moveTo>
                  <a:lnTo>
                    <a:pt x="584200" y="0"/>
                  </a:lnTo>
                  <a:lnTo>
                    <a:pt x="584200" y="25400"/>
                  </a:lnTo>
                  <a:lnTo>
                    <a:pt x="508000" y="25400"/>
                  </a:lnTo>
                  <a:close/>
                  <a:moveTo>
                    <a:pt x="685800" y="0"/>
                  </a:moveTo>
                  <a:lnTo>
                    <a:pt x="762000" y="0"/>
                  </a:lnTo>
                  <a:lnTo>
                    <a:pt x="762000" y="25400"/>
                  </a:lnTo>
                  <a:lnTo>
                    <a:pt x="685800" y="25400"/>
                  </a:lnTo>
                  <a:close/>
                  <a:moveTo>
                    <a:pt x="863600" y="0"/>
                  </a:moveTo>
                  <a:lnTo>
                    <a:pt x="939800" y="0"/>
                  </a:lnTo>
                  <a:lnTo>
                    <a:pt x="939800" y="25400"/>
                  </a:lnTo>
                  <a:lnTo>
                    <a:pt x="863600" y="25400"/>
                  </a:lnTo>
                  <a:close/>
                  <a:moveTo>
                    <a:pt x="1041400" y="0"/>
                  </a:moveTo>
                  <a:lnTo>
                    <a:pt x="1117600" y="0"/>
                  </a:lnTo>
                  <a:lnTo>
                    <a:pt x="1117600" y="25400"/>
                  </a:lnTo>
                  <a:lnTo>
                    <a:pt x="1041400" y="25400"/>
                  </a:lnTo>
                  <a:close/>
                  <a:moveTo>
                    <a:pt x="1219200" y="0"/>
                  </a:moveTo>
                  <a:lnTo>
                    <a:pt x="1295400" y="0"/>
                  </a:lnTo>
                  <a:lnTo>
                    <a:pt x="1295400" y="25400"/>
                  </a:lnTo>
                  <a:lnTo>
                    <a:pt x="1219200" y="25400"/>
                  </a:lnTo>
                  <a:close/>
                  <a:moveTo>
                    <a:pt x="1397000" y="25400"/>
                  </a:moveTo>
                  <a:lnTo>
                    <a:pt x="1473200" y="25400"/>
                  </a:lnTo>
                  <a:lnTo>
                    <a:pt x="1397000" y="25400"/>
                  </a:lnTo>
                  <a:close/>
                  <a:moveTo>
                    <a:pt x="1574800" y="25400"/>
                  </a:moveTo>
                  <a:lnTo>
                    <a:pt x="1651000" y="25400"/>
                  </a:lnTo>
                  <a:lnTo>
                    <a:pt x="1574800" y="25400"/>
                  </a:lnTo>
                  <a:close/>
                  <a:moveTo>
                    <a:pt x="1752600" y="25400"/>
                  </a:moveTo>
                  <a:lnTo>
                    <a:pt x="1828800" y="25400"/>
                  </a:lnTo>
                  <a:lnTo>
                    <a:pt x="1752600" y="25400"/>
                  </a:lnTo>
                  <a:close/>
                  <a:moveTo>
                    <a:pt x="1930400" y="25400"/>
                  </a:moveTo>
                  <a:lnTo>
                    <a:pt x="2006600" y="25400"/>
                  </a:lnTo>
                  <a:lnTo>
                    <a:pt x="1930400" y="25400"/>
                  </a:lnTo>
                  <a:close/>
                  <a:moveTo>
                    <a:pt x="2108200" y="25400"/>
                  </a:moveTo>
                  <a:lnTo>
                    <a:pt x="2184400" y="25400"/>
                  </a:lnTo>
                  <a:lnTo>
                    <a:pt x="2108200" y="25400"/>
                  </a:lnTo>
                  <a:close/>
                  <a:moveTo>
                    <a:pt x="2286000" y="25400"/>
                  </a:moveTo>
                  <a:lnTo>
                    <a:pt x="2362200" y="25400"/>
                  </a:lnTo>
                  <a:lnTo>
                    <a:pt x="2286000" y="25400"/>
                  </a:lnTo>
                  <a:close/>
                  <a:moveTo>
                    <a:pt x="2463800" y="25400"/>
                  </a:moveTo>
                  <a:lnTo>
                    <a:pt x="2540000" y="25400"/>
                  </a:lnTo>
                  <a:lnTo>
                    <a:pt x="2463800" y="25400"/>
                  </a:lnTo>
                  <a:close/>
                  <a:moveTo>
                    <a:pt x="2641600" y="25400"/>
                  </a:moveTo>
                  <a:lnTo>
                    <a:pt x="2717800" y="25400"/>
                  </a:lnTo>
                  <a:lnTo>
                    <a:pt x="2641600" y="25400"/>
                  </a:lnTo>
                  <a:close/>
                  <a:moveTo>
                    <a:pt x="2819400" y="25400"/>
                  </a:moveTo>
                  <a:lnTo>
                    <a:pt x="2895600" y="25400"/>
                  </a:lnTo>
                  <a:lnTo>
                    <a:pt x="2819400" y="25400"/>
                  </a:lnTo>
                  <a:close/>
                  <a:moveTo>
                    <a:pt x="2997200" y="25400"/>
                  </a:moveTo>
                  <a:lnTo>
                    <a:pt x="3073400" y="25400"/>
                  </a:lnTo>
                  <a:lnTo>
                    <a:pt x="2997200" y="25400"/>
                  </a:lnTo>
                  <a:close/>
                  <a:moveTo>
                    <a:pt x="3175000" y="25400"/>
                  </a:moveTo>
                  <a:lnTo>
                    <a:pt x="3200400" y="25400"/>
                  </a:lnTo>
                  <a:lnTo>
                    <a:pt x="3200400" y="12700"/>
                  </a:lnTo>
                  <a:lnTo>
                    <a:pt x="3200400" y="0"/>
                  </a:lnTo>
                  <a:cubicBezTo>
                    <a:pt x="3219450" y="0"/>
                    <a:pt x="3237738" y="3556"/>
                    <a:pt x="3254629" y="9906"/>
                  </a:cubicBezTo>
                  <a:lnTo>
                    <a:pt x="3245612" y="33655"/>
                  </a:lnTo>
                  <a:cubicBezTo>
                    <a:pt x="3231642" y="28321"/>
                    <a:pt x="3216402" y="25400"/>
                    <a:pt x="3200400" y="25400"/>
                  </a:cubicBezTo>
                  <a:lnTo>
                    <a:pt x="3175000" y="25400"/>
                  </a:lnTo>
                  <a:close/>
                  <a:moveTo>
                    <a:pt x="3335528" y="107315"/>
                  </a:moveTo>
                  <a:cubicBezTo>
                    <a:pt x="3346577" y="102997"/>
                    <a:pt x="3352800" y="127000"/>
                    <a:pt x="3352800" y="152400"/>
                  </a:cubicBezTo>
                  <a:lnTo>
                    <a:pt x="3340100" y="152400"/>
                  </a:lnTo>
                  <a:lnTo>
                    <a:pt x="3352800" y="152400"/>
                  </a:lnTo>
                  <a:lnTo>
                    <a:pt x="3352800" y="161544"/>
                  </a:lnTo>
                  <a:lnTo>
                    <a:pt x="3327400" y="161544"/>
                  </a:lnTo>
                  <a:lnTo>
                    <a:pt x="3327400" y="152400"/>
                  </a:lnTo>
                  <a:cubicBezTo>
                    <a:pt x="3327400" y="131191"/>
                    <a:pt x="3322193" y="111252"/>
                    <a:pt x="3313049" y="93726"/>
                  </a:cubicBezTo>
                  <a:close/>
                  <a:moveTo>
                    <a:pt x="3352800" y="263144"/>
                  </a:moveTo>
                  <a:lnTo>
                    <a:pt x="3352800" y="339344"/>
                  </a:lnTo>
                  <a:lnTo>
                    <a:pt x="3327400" y="339344"/>
                  </a:lnTo>
                  <a:lnTo>
                    <a:pt x="3327400" y="263144"/>
                  </a:lnTo>
                  <a:close/>
                  <a:moveTo>
                    <a:pt x="3327400" y="440944"/>
                  </a:moveTo>
                  <a:lnTo>
                    <a:pt x="3327400" y="517144"/>
                  </a:lnTo>
                  <a:lnTo>
                    <a:pt x="3302000" y="517144"/>
                  </a:lnTo>
                  <a:lnTo>
                    <a:pt x="3302000" y="440944"/>
                  </a:lnTo>
                  <a:close/>
                  <a:moveTo>
                    <a:pt x="3302000" y="618744"/>
                  </a:moveTo>
                  <a:lnTo>
                    <a:pt x="3302000" y="694944"/>
                  </a:lnTo>
                  <a:lnTo>
                    <a:pt x="3276600" y="694944"/>
                  </a:lnTo>
                  <a:lnTo>
                    <a:pt x="3276600" y="618744"/>
                  </a:lnTo>
                  <a:close/>
                  <a:moveTo>
                    <a:pt x="3276600" y="796544"/>
                  </a:moveTo>
                  <a:lnTo>
                    <a:pt x="3276600" y="872744"/>
                  </a:lnTo>
                  <a:lnTo>
                    <a:pt x="3251200" y="872744"/>
                  </a:lnTo>
                  <a:lnTo>
                    <a:pt x="3251200" y="796544"/>
                  </a:lnTo>
                  <a:close/>
                  <a:moveTo>
                    <a:pt x="3249295" y="976376"/>
                  </a:moveTo>
                  <a:cubicBezTo>
                    <a:pt x="3244850" y="1004570"/>
                    <a:pt x="3232785" y="1030097"/>
                    <a:pt x="3215132" y="1050925"/>
                  </a:cubicBezTo>
                  <a:lnTo>
                    <a:pt x="3195701" y="1034542"/>
                  </a:lnTo>
                  <a:cubicBezTo>
                    <a:pt x="3210433" y="1017143"/>
                    <a:pt x="3220466" y="995807"/>
                    <a:pt x="3224149" y="972439"/>
                  </a:cubicBezTo>
                  <a:close/>
                  <a:moveTo>
                    <a:pt x="3222117" y="1103376"/>
                  </a:moveTo>
                  <a:cubicBezTo>
                    <a:pt x="3215005" y="1104392"/>
                    <a:pt x="3207766" y="1104900"/>
                    <a:pt x="3200400" y="1104900"/>
                  </a:cubicBezTo>
                  <a:lnTo>
                    <a:pt x="3200400" y="1092200"/>
                  </a:lnTo>
                  <a:lnTo>
                    <a:pt x="3200400" y="1104900"/>
                  </a:lnTo>
                  <a:lnTo>
                    <a:pt x="3144012" y="1104900"/>
                  </a:lnTo>
                  <a:lnTo>
                    <a:pt x="3144012" y="1079500"/>
                  </a:lnTo>
                  <a:lnTo>
                    <a:pt x="3200400" y="1079500"/>
                  </a:lnTo>
                  <a:cubicBezTo>
                    <a:pt x="3206496" y="1079500"/>
                    <a:pt x="3212592" y="1079119"/>
                    <a:pt x="3218434" y="1078230"/>
                  </a:cubicBezTo>
                  <a:close/>
                  <a:moveTo>
                    <a:pt x="3042412" y="1104900"/>
                  </a:moveTo>
                  <a:lnTo>
                    <a:pt x="2966212" y="1104900"/>
                  </a:lnTo>
                  <a:lnTo>
                    <a:pt x="2966212" y="1079500"/>
                  </a:lnTo>
                  <a:lnTo>
                    <a:pt x="3042412" y="1079500"/>
                  </a:lnTo>
                  <a:close/>
                  <a:moveTo>
                    <a:pt x="2864612" y="1079500"/>
                  </a:moveTo>
                  <a:lnTo>
                    <a:pt x="2788412" y="1079500"/>
                  </a:lnTo>
                  <a:lnTo>
                    <a:pt x="2864612" y="1079500"/>
                  </a:lnTo>
                  <a:close/>
                  <a:moveTo>
                    <a:pt x="2686812" y="1079500"/>
                  </a:moveTo>
                  <a:lnTo>
                    <a:pt x="2610612" y="1079500"/>
                  </a:lnTo>
                  <a:lnTo>
                    <a:pt x="2686812" y="1079500"/>
                  </a:lnTo>
                  <a:close/>
                  <a:moveTo>
                    <a:pt x="2509012" y="1079500"/>
                  </a:moveTo>
                  <a:lnTo>
                    <a:pt x="2432812" y="1079500"/>
                  </a:lnTo>
                  <a:lnTo>
                    <a:pt x="2509012" y="1079500"/>
                  </a:lnTo>
                  <a:close/>
                  <a:moveTo>
                    <a:pt x="2331212" y="1079500"/>
                  </a:moveTo>
                  <a:lnTo>
                    <a:pt x="2255012" y="1079500"/>
                  </a:lnTo>
                  <a:lnTo>
                    <a:pt x="2331212" y="1079500"/>
                  </a:lnTo>
                  <a:close/>
                  <a:moveTo>
                    <a:pt x="2153412" y="1079500"/>
                  </a:moveTo>
                  <a:lnTo>
                    <a:pt x="2077212" y="1079500"/>
                  </a:lnTo>
                  <a:lnTo>
                    <a:pt x="2153412" y="1079500"/>
                  </a:lnTo>
                  <a:close/>
                  <a:moveTo>
                    <a:pt x="1975612" y="1079500"/>
                  </a:moveTo>
                  <a:lnTo>
                    <a:pt x="1899412" y="1079500"/>
                  </a:lnTo>
                  <a:lnTo>
                    <a:pt x="1975612" y="1079500"/>
                  </a:lnTo>
                  <a:close/>
                  <a:moveTo>
                    <a:pt x="1797812" y="1079500"/>
                  </a:moveTo>
                  <a:lnTo>
                    <a:pt x="1721612" y="1079500"/>
                  </a:lnTo>
                  <a:lnTo>
                    <a:pt x="1797812" y="1079500"/>
                  </a:lnTo>
                  <a:close/>
                  <a:moveTo>
                    <a:pt x="1620012" y="1079500"/>
                  </a:moveTo>
                  <a:lnTo>
                    <a:pt x="1543812" y="1079500"/>
                  </a:lnTo>
                  <a:lnTo>
                    <a:pt x="1620012" y="1079500"/>
                  </a:lnTo>
                  <a:close/>
                  <a:moveTo>
                    <a:pt x="1442212" y="1079500"/>
                  </a:moveTo>
                  <a:lnTo>
                    <a:pt x="1366012" y="1079500"/>
                  </a:lnTo>
                  <a:lnTo>
                    <a:pt x="1442212" y="1079500"/>
                  </a:lnTo>
                  <a:close/>
                  <a:moveTo>
                    <a:pt x="1264412" y="1079500"/>
                  </a:moveTo>
                  <a:lnTo>
                    <a:pt x="1188212" y="1079500"/>
                  </a:lnTo>
                  <a:lnTo>
                    <a:pt x="1264412" y="1079500"/>
                  </a:lnTo>
                  <a:close/>
                  <a:moveTo>
                    <a:pt x="1086612" y="1079500"/>
                  </a:moveTo>
                  <a:lnTo>
                    <a:pt x="1010412" y="1079500"/>
                  </a:lnTo>
                  <a:lnTo>
                    <a:pt x="1086612" y="1079500"/>
                  </a:lnTo>
                  <a:close/>
                  <a:moveTo>
                    <a:pt x="908812" y="1079500"/>
                  </a:moveTo>
                  <a:lnTo>
                    <a:pt x="832612" y="1079500"/>
                  </a:lnTo>
                  <a:lnTo>
                    <a:pt x="908812" y="1079500"/>
                  </a:lnTo>
                  <a:close/>
                  <a:moveTo>
                    <a:pt x="731012" y="1079500"/>
                  </a:moveTo>
                  <a:lnTo>
                    <a:pt x="654812" y="1079500"/>
                  </a:lnTo>
                  <a:lnTo>
                    <a:pt x="731012" y="1079500"/>
                  </a:lnTo>
                  <a:close/>
                  <a:moveTo>
                    <a:pt x="553212" y="1079500"/>
                  </a:moveTo>
                  <a:lnTo>
                    <a:pt x="477012" y="1079500"/>
                  </a:lnTo>
                  <a:lnTo>
                    <a:pt x="553212" y="1079500"/>
                  </a:lnTo>
                  <a:close/>
                  <a:moveTo>
                    <a:pt x="375412" y="1079500"/>
                  </a:moveTo>
                  <a:lnTo>
                    <a:pt x="299212" y="1079500"/>
                  </a:lnTo>
                  <a:lnTo>
                    <a:pt x="375412" y="1079500"/>
                  </a:lnTo>
                  <a:close/>
                  <a:moveTo>
                    <a:pt x="197612" y="1079500"/>
                  </a:moveTo>
                  <a:lnTo>
                    <a:pt x="152400" y="1079500"/>
                  </a:lnTo>
                  <a:lnTo>
                    <a:pt x="152400" y="1092200"/>
                  </a:lnTo>
                  <a:lnTo>
                    <a:pt x="152400" y="1104900"/>
                  </a:lnTo>
                  <a:cubicBezTo>
                    <a:pt x="140843" y="1104900"/>
                    <a:pt x="129667" y="1103630"/>
                    <a:pt x="118872" y="1101217"/>
                  </a:cubicBezTo>
                  <a:lnTo>
                    <a:pt x="124460" y="1076452"/>
                  </a:lnTo>
                  <a:cubicBezTo>
                    <a:pt x="133477" y="1078484"/>
                    <a:pt x="142748" y="1079500"/>
                    <a:pt x="152400" y="1079500"/>
                  </a:cubicBezTo>
                  <a:lnTo>
                    <a:pt x="197612" y="1079500"/>
                  </a:lnTo>
                  <a:close/>
                  <a:moveTo>
                    <a:pt x="28575" y="1041273"/>
                  </a:moveTo>
                  <a:cubicBezTo>
                    <a:pt x="12700" y="1019302"/>
                    <a:pt x="2667" y="992886"/>
                    <a:pt x="508" y="964311"/>
                  </a:cubicBezTo>
                  <a:lnTo>
                    <a:pt x="25781" y="962406"/>
                  </a:lnTo>
                  <a:cubicBezTo>
                    <a:pt x="27559" y="986282"/>
                    <a:pt x="36068" y="1008253"/>
                    <a:pt x="49149" y="1026541"/>
                  </a:cubicBezTo>
                  <a:close/>
                  <a:moveTo>
                    <a:pt x="0" y="861568"/>
                  </a:moveTo>
                  <a:lnTo>
                    <a:pt x="0" y="785368"/>
                  </a:lnTo>
                  <a:lnTo>
                    <a:pt x="25400" y="785368"/>
                  </a:lnTo>
                  <a:lnTo>
                    <a:pt x="25400" y="861568"/>
                  </a:lnTo>
                  <a:close/>
                  <a:moveTo>
                    <a:pt x="25400" y="683768"/>
                  </a:moveTo>
                  <a:lnTo>
                    <a:pt x="25400" y="607568"/>
                  </a:lnTo>
                  <a:lnTo>
                    <a:pt x="25400" y="683768"/>
                  </a:lnTo>
                  <a:close/>
                  <a:moveTo>
                    <a:pt x="25400" y="505968"/>
                  </a:moveTo>
                  <a:lnTo>
                    <a:pt x="25400" y="429768"/>
                  </a:lnTo>
                  <a:lnTo>
                    <a:pt x="25400" y="505968"/>
                  </a:lnTo>
                  <a:close/>
                  <a:moveTo>
                    <a:pt x="25400" y="328168"/>
                  </a:moveTo>
                  <a:lnTo>
                    <a:pt x="25400" y="251968"/>
                  </a:lnTo>
                  <a:lnTo>
                    <a:pt x="25400" y="328168"/>
                  </a:lnTo>
                  <a:close/>
                  <a:moveTo>
                    <a:pt x="0" y="150241"/>
                  </a:moveTo>
                  <a:cubicBezTo>
                    <a:pt x="381" y="121412"/>
                    <a:pt x="8890" y="94361"/>
                    <a:pt x="23241" y="71501"/>
                  </a:cubicBezTo>
                  <a:lnTo>
                    <a:pt x="44704" y="84963"/>
                  </a:lnTo>
                  <a:cubicBezTo>
                    <a:pt x="32766" y="104013"/>
                    <a:pt x="25781" y="126492"/>
                    <a:pt x="25400" y="150495"/>
                  </a:cubicBezTo>
                  <a:close/>
                  <a:moveTo>
                    <a:pt x="109601" y="6096"/>
                  </a:moveTo>
                  <a:cubicBezTo>
                    <a:pt x="123190" y="2159"/>
                    <a:pt x="137541" y="0"/>
                    <a:pt x="152400" y="0"/>
                  </a:cubicBezTo>
                  <a:cubicBezTo>
                    <a:pt x="154813" y="0"/>
                    <a:pt x="157353" y="762"/>
                    <a:pt x="159385" y="2032"/>
                  </a:cubicBezTo>
                  <a:lnTo>
                    <a:pt x="152400" y="12700"/>
                  </a:lnTo>
                  <a:lnTo>
                    <a:pt x="152400" y="0"/>
                  </a:lnTo>
                  <a:lnTo>
                    <a:pt x="228600" y="0"/>
                  </a:lnTo>
                  <a:lnTo>
                    <a:pt x="228600" y="25400"/>
                  </a:lnTo>
                  <a:lnTo>
                    <a:pt x="152400" y="25400"/>
                  </a:lnTo>
                  <a:cubicBezTo>
                    <a:pt x="149987" y="25400"/>
                    <a:pt x="147447" y="24638"/>
                    <a:pt x="145415" y="23368"/>
                  </a:cubicBezTo>
                  <a:lnTo>
                    <a:pt x="152400" y="12700"/>
                  </a:lnTo>
                  <a:lnTo>
                    <a:pt x="152400" y="25400"/>
                  </a:lnTo>
                  <a:cubicBezTo>
                    <a:pt x="139954" y="25400"/>
                    <a:pt x="128016" y="27178"/>
                    <a:pt x="116713" y="30480"/>
                  </a:cubicBezTo>
                  <a:close/>
                </a:path>
              </a:pathLst>
            </a:custGeom>
            <a:solidFill>
              <a:srgbClr val="4B5F7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47625"/>
              <a:ext cx="3352800" cy="115252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7F93B2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empty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849100" y="4381500"/>
            <a:ext cx="259080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7F93B2"/>
                </a:solidFill>
                <a:latin typeface="IBM Plex Sans"/>
                <a:ea typeface="IBM Plex Sans"/>
                <a:cs typeface="IBM Plex Sans"/>
                <a:sym typeface="IBM Plex Sans"/>
              </a:rPr>
              <a:t>[4]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887200" y="4733925"/>
            <a:ext cx="259080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F1B2D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554200" y="3162300"/>
            <a:ext cx="259080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F1B2D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14554200" y="3552825"/>
            <a:ext cx="2514600" cy="828675"/>
            <a:chOff x="0" y="0"/>
            <a:chExt cx="3352800" cy="11049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352800" cy="1104900"/>
            </a:xfrm>
            <a:custGeom>
              <a:avLst/>
              <a:gdLst/>
              <a:ahLst/>
              <a:cxnLst/>
              <a:rect l="l" t="t" r="r" b="b"/>
              <a:pathLst>
                <a:path w="3352800" h="1104900">
                  <a:moveTo>
                    <a:pt x="330200" y="0"/>
                  </a:moveTo>
                  <a:lnTo>
                    <a:pt x="406400" y="0"/>
                  </a:lnTo>
                  <a:lnTo>
                    <a:pt x="406400" y="25400"/>
                  </a:lnTo>
                  <a:lnTo>
                    <a:pt x="330200" y="25400"/>
                  </a:lnTo>
                  <a:close/>
                  <a:moveTo>
                    <a:pt x="508000" y="0"/>
                  </a:moveTo>
                  <a:lnTo>
                    <a:pt x="584200" y="0"/>
                  </a:lnTo>
                  <a:lnTo>
                    <a:pt x="584200" y="25400"/>
                  </a:lnTo>
                  <a:lnTo>
                    <a:pt x="508000" y="25400"/>
                  </a:lnTo>
                  <a:close/>
                  <a:moveTo>
                    <a:pt x="685800" y="0"/>
                  </a:moveTo>
                  <a:lnTo>
                    <a:pt x="762000" y="0"/>
                  </a:lnTo>
                  <a:lnTo>
                    <a:pt x="762000" y="25400"/>
                  </a:lnTo>
                  <a:lnTo>
                    <a:pt x="685800" y="25400"/>
                  </a:lnTo>
                  <a:close/>
                  <a:moveTo>
                    <a:pt x="863600" y="0"/>
                  </a:moveTo>
                  <a:lnTo>
                    <a:pt x="939800" y="0"/>
                  </a:lnTo>
                  <a:lnTo>
                    <a:pt x="939800" y="25400"/>
                  </a:lnTo>
                  <a:lnTo>
                    <a:pt x="863600" y="25400"/>
                  </a:lnTo>
                  <a:close/>
                  <a:moveTo>
                    <a:pt x="1041400" y="0"/>
                  </a:moveTo>
                  <a:lnTo>
                    <a:pt x="1117600" y="0"/>
                  </a:lnTo>
                  <a:lnTo>
                    <a:pt x="1117600" y="25400"/>
                  </a:lnTo>
                  <a:lnTo>
                    <a:pt x="1041400" y="25400"/>
                  </a:lnTo>
                  <a:close/>
                  <a:moveTo>
                    <a:pt x="1219200" y="0"/>
                  </a:moveTo>
                  <a:lnTo>
                    <a:pt x="1295400" y="0"/>
                  </a:lnTo>
                  <a:lnTo>
                    <a:pt x="1295400" y="25400"/>
                  </a:lnTo>
                  <a:lnTo>
                    <a:pt x="1219200" y="25400"/>
                  </a:lnTo>
                  <a:close/>
                  <a:moveTo>
                    <a:pt x="1397000" y="25400"/>
                  </a:moveTo>
                  <a:lnTo>
                    <a:pt x="1473200" y="25400"/>
                  </a:lnTo>
                  <a:lnTo>
                    <a:pt x="1397000" y="25400"/>
                  </a:lnTo>
                  <a:close/>
                  <a:moveTo>
                    <a:pt x="1574800" y="25400"/>
                  </a:moveTo>
                  <a:lnTo>
                    <a:pt x="1651000" y="25400"/>
                  </a:lnTo>
                  <a:lnTo>
                    <a:pt x="1574800" y="25400"/>
                  </a:lnTo>
                  <a:close/>
                  <a:moveTo>
                    <a:pt x="1752600" y="25400"/>
                  </a:moveTo>
                  <a:lnTo>
                    <a:pt x="1828800" y="25400"/>
                  </a:lnTo>
                  <a:lnTo>
                    <a:pt x="1752600" y="25400"/>
                  </a:lnTo>
                  <a:close/>
                  <a:moveTo>
                    <a:pt x="1930400" y="25400"/>
                  </a:moveTo>
                  <a:lnTo>
                    <a:pt x="2006600" y="25400"/>
                  </a:lnTo>
                  <a:lnTo>
                    <a:pt x="1930400" y="25400"/>
                  </a:lnTo>
                  <a:close/>
                  <a:moveTo>
                    <a:pt x="2108200" y="25400"/>
                  </a:moveTo>
                  <a:lnTo>
                    <a:pt x="2184400" y="25400"/>
                  </a:lnTo>
                  <a:lnTo>
                    <a:pt x="2108200" y="25400"/>
                  </a:lnTo>
                  <a:close/>
                  <a:moveTo>
                    <a:pt x="2286000" y="25400"/>
                  </a:moveTo>
                  <a:lnTo>
                    <a:pt x="2362200" y="25400"/>
                  </a:lnTo>
                  <a:lnTo>
                    <a:pt x="2286000" y="25400"/>
                  </a:lnTo>
                  <a:close/>
                  <a:moveTo>
                    <a:pt x="2463800" y="25400"/>
                  </a:moveTo>
                  <a:lnTo>
                    <a:pt x="2540000" y="25400"/>
                  </a:lnTo>
                  <a:lnTo>
                    <a:pt x="2463800" y="25400"/>
                  </a:lnTo>
                  <a:close/>
                  <a:moveTo>
                    <a:pt x="2641600" y="25400"/>
                  </a:moveTo>
                  <a:lnTo>
                    <a:pt x="2717800" y="25400"/>
                  </a:lnTo>
                  <a:lnTo>
                    <a:pt x="2641600" y="25400"/>
                  </a:lnTo>
                  <a:close/>
                  <a:moveTo>
                    <a:pt x="2819400" y="25400"/>
                  </a:moveTo>
                  <a:lnTo>
                    <a:pt x="2895600" y="25400"/>
                  </a:lnTo>
                  <a:lnTo>
                    <a:pt x="2819400" y="25400"/>
                  </a:lnTo>
                  <a:close/>
                  <a:moveTo>
                    <a:pt x="2997200" y="25400"/>
                  </a:moveTo>
                  <a:lnTo>
                    <a:pt x="3073400" y="25400"/>
                  </a:lnTo>
                  <a:lnTo>
                    <a:pt x="2997200" y="25400"/>
                  </a:lnTo>
                  <a:close/>
                  <a:moveTo>
                    <a:pt x="3175000" y="25400"/>
                  </a:moveTo>
                  <a:lnTo>
                    <a:pt x="3200400" y="25400"/>
                  </a:lnTo>
                  <a:lnTo>
                    <a:pt x="3200400" y="12700"/>
                  </a:lnTo>
                  <a:lnTo>
                    <a:pt x="3200400" y="0"/>
                  </a:lnTo>
                  <a:cubicBezTo>
                    <a:pt x="3219450" y="0"/>
                    <a:pt x="3237738" y="3556"/>
                    <a:pt x="3254629" y="9906"/>
                  </a:cubicBezTo>
                  <a:lnTo>
                    <a:pt x="3245612" y="33655"/>
                  </a:lnTo>
                  <a:cubicBezTo>
                    <a:pt x="3231642" y="28321"/>
                    <a:pt x="3216402" y="25400"/>
                    <a:pt x="3200400" y="25400"/>
                  </a:cubicBezTo>
                  <a:lnTo>
                    <a:pt x="3175000" y="25400"/>
                  </a:lnTo>
                  <a:close/>
                  <a:moveTo>
                    <a:pt x="3335528" y="107315"/>
                  </a:moveTo>
                  <a:cubicBezTo>
                    <a:pt x="3346577" y="102997"/>
                    <a:pt x="3352800" y="127000"/>
                    <a:pt x="3352800" y="152400"/>
                  </a:cubicBezTo>
                  <a:lnTo>
                    <a:pt x="3340100" y="152400"/>
                  </a:lnTo>
                  <a:lnTo>
                    <a:pt x="3352800" y="152400"/>
                  </a:lnTo>
                  <a:lnTo>
                    <a:pt x="3352800" y="161544"/>
                  </a:lnTo>
                  <a:lnTo>
                    <a:pt x="3327400" y="161544"/>
                  </a:lnTo>
                  <a:lnTo>
                    <a:pt x="3327400" y="152400"/>
                  </a:lnTo>
                  <a:cubicBezTo>
                    <a:pt x="3327400" y="131191"/>
                    <a:pt x="3322193" y="111252"/>
                    <a:pt x="3313049" y="93726"/>
                  </a:cubicBezTo>
                  <a:close/>
                  <a:moveTo>
                    <a:pt x="3352800" y="263144"/>
                  </a:moveTo>
                  <a:lnTo>
                    <a:pt x="3352800" y="339344"/>
                  </a:lnTo>
                  <a:lnTo>
                    <a:pt x="3327400" y="339344"/>
                  </a:lnTo>
                  <a:lnTo>
                    <a:pt x="3327400" y="263144"/>
                  </a:lnTo>
                  <a:close/>
                  <a:moveTo>
                    <a:pt x="3327400" y="440944"/>
                  </a:moveTo>
                  <a:lnTo>
                    <a:pt x="3327400" y="517144"/>
                  </a:lnTo>
                  <a:lnTo>
                    <a:pt x="3302000" y="517144"/>
                  </a:lnTo>
                  <a:lnTo>
                    <a:pt x="3302000" y="440944"/>
                  </a:lnTo>
                  <a:close/>
                  <a:moveTo>
                    <a:pt x="3302000" y="618744"/>
                  </a:moveTo>
                  <a:lnTo>
                    <a:pt x="3302000" y="694944"/>
                  </a:lnTo>
                  <a:lnTo>
                    <a:pt x="3276600" y="694944"/>
                  </a:lnTo>
                  <a:lnTo>
                    <a:pt x="3276600" y="618744"/>
                  </a:lnTo>
                  <a:close/>
                  <a:moveTo>
                    <a:pt x="3276600" y="796544"/>
                  </a:moveTo>
                  <a:lnTo>
                    <a:pt x="3276600" y="872744"/>
                  </a:lnTo>
                  <a:lnTo>
                    <a:pt x="3251200" y="872744"/>
                  </a:lnTo>
                  <a:lnTo>
                    <a:pt x="3251200" y="796544"/>
                  </a:lnTo>
                  <a:close/>
                  <a:moveTo>
                    <a:pt x="3249295" y="976376"/>
                  </a:moveTo>
                  <a:cubicBezTo>
                    <a:pt x="3244850" y="1004570"/>
                    <a:pt x="3232785" y="1030097"/>
                    <a:pt x="3215132" y="1050925"/>
                  </a:cubicBezTo>
                  <a:lnTo>
                    <a:pt x="3195701" y="1034542"/>
                  </a:lnTo>
                  <a:cubicBezTo>
                    <a:pt x="3210433" y="1017143"/>
                    <a:pt x="3220466" y="995807"/>
                    <a:pt x="3224149" y="972439"/>
                  </a:cubicBezTo>
                  <a:close/>
                  <a:moveTo>
                    <a:pt x="3222117" y="1103376"/>
                  </a:moveTo>
                  <a:cubicBezTo>
                    <a:pt x="3215005" y="1104392"/>
                    <a:pt x="3207766" y="1104900"/>
                    <a:pt x="3200400" y="1104900"/>
                  </a:cubicBezTo>
                  <a:lnTo>
                    <a:pt x="3200400" y="1092200"/>
                  </a:lnTo>
                  <a:lnTo>
                    <a:pt x="3200400" y="1104900"/>
                  </a:lnTo>
                  <a:lnTo>
                    <a:pt x="3144012" y="1104900"/>
                  </a:lnTo>
                  <a:lnTo>
                    <a:pt x="3144012" y="1079500"/>
                  </a:lnTo>
                  <a:lnTo>
                    <a:pt x="3200400" y="1079500"/>
                  </a:lnTo>
                  <a:cubicBezTo>
                    <a:pt x="3206496" y="1079500"/>
                    <a:pt x="3212592" y="1079119"/>
                    <a:pt x="3218434" y="1078230"/>
                  </a:cubicBezTo>
                  <a:close/>
                  <a:moveTo>
                    <a:pt x="3042412" y="1104900"/>
                  </a:moveTo>
                  <a:lnTo>
                    <a:pt x="2966212" y="1104900"/>
                  </a:lnTo>
                  <a:lnTo>
                    <a:pt x="2966212" y="1079500"/>
                  </a:lnTo>
                  <a:lnTo>
                    <a:pt x="3042412" y="1079500"/>
                  </a:lnTo>
                  <a:close/>
                  <a:moveTo>
                    <a:pt x="2864612" y="1079500"/>
                  </a:moveTo>
                  <a:lnTo>
                    <a:pt x="2788412" y="1079500"/>
                  </a:lnTo>
                  <a:lnTo>
                    <a:pt x="2864612" y="1079500"/>
                  </a:lnTo>
                  <a:close/>
                  <a:moveTo>
                    <a:pt x="2686812" y="1079500"/>
                  </a:moveTo>
                  <a:lnTo>
                    <a:pt x="2610612" y="1079500"/>
                  </a:lnTo>
                  <a:lnTo>
                    <a:pt x="2686812" y="1079500"/>
                  </a:lnTo>
                  <a:close/>
                  <a:moveTo>
                    <a:pt x="2509012" y="1079500"/>
                  </a:moveTo>
                  <a:lnTo>
                    <a:pt x="2432812" y="1079500"/>
                  </a:lnTo>
                  <a:lnTo>
                    <a:pt x="2509012" y="1079500"/>
                  </a:lnTo>
                  <a:close/>
                  <a:moveTo>
                    <a:pt x="2331212" y="1079500"/>
                  </a:moveTo>
                  <a:lnTo>
                    <a:pt x="2255012" y="1079500"/>
                  </a:lnTo>
                  <a:lnTo>
                    <a:pt x="2331212" y="1079500"/>
                  </a:lnTo>
                  <a:close/>
                  <a:moveTo>
                    <a:pt x="2153412" y="1079500"/>
                  </a:moveTo>
                  <a:lnTo>
                    <a:pt x="2077212" y="1079500"/>
                  </a:lnTo>
                  <a:lnTo>
                    <a:pt x="2153412" y="1079500"/>
                  </a:lnTo>
                  <a:close/>
                  <a:moveTo>
                    <a:pt x="1975612" y="1079500"/>
                  </a:moveTo>
                  <a:lnTo>
                    <a:pt x="1899412" y="1079500"/>
                  </a:lnTo>
                  <a:lnTo>
                    <a:pt x="1975612" y="1079500"/>
                  </a:lnTo>
                  <a:close/>
                  <a:moveTo>
                    <a:pt x="1797812" y="1079500"/>
                  </a:moveTo>
                  <a:lnTo>
                    <a:pt x="1721612" y="1079500"/>
                  </a:lnTo>
                  <a:lnTo>
                    <a:pt x="1797812" y="1079500"/>
                  </a:lnTo>
                  <a:close/>
                  <a:moveTo>
                    <a:pt x="1620012" y="1079500"/>
                  </a:moveTo>
                  <a:lnTo>
                    <a:pt x="1543812" y="1079500"/>
                  </a:lnTo>
                  <a:lnTo>
                    <a:pt x="1620012" y="1079500"/>
                  </a:lnTo>
                  <a:close/>
                  <a:moveTo>
                    <a:pt x="1442212" y="1079500"/>
                  </a:moveTo>
                  <a:lnTo>
                    <a:pt x="1366012" y="1079500"/>
                  </a:lnTo>
                  <a:lnTo>
                    <a:pt x="1442212" y="1079500"/>
                  </a:lnTo>
                  <a:close/>
                  <a:moveTo>
                    <a:pt x="1264412" y="1079500"/>
                  </a:moveTo>
                  <a:lnTo>
                    <a:pt x="1188212" y="1079500"/>
                  </a:lnTo>
                  <a:lnTo>
                    <a:pt x="1264412" y="1079500"/>
                  </a:lnTo>
                  <a:close/>
                  <a:moveTo>
                    <a:pt x="1086612" y="1079500"/>
                  </a:moveTo>
                  <a:lnTo>
                    <a:pt x="1010412" y="1079500"/>
                  </a:lnTo>
                  <a:lnTo>
                    <a:pt x="1086612" y="1079500"/>
                  </a:lnTo>
                  <a:close/>
                  <a:moveTo>
                    <a:pt x="908812" y="1079500"/>
                  </a:moveTo>
                  <a:lnTo>
                    <a:pt x="832612" y="1079500"/>
                  </a:lnTo>
                  <a:lnTo>
                    <a:pt x="908812" y="1079500"/>
                  </a:lnTo>
                  <a:close/>
                  <a:moveTo>
                    <a:pt x="731012" y="1079500"/>
                  </a:moveTo>
                  <a:lnTo>
                    <a:pt x="654812" y="1079500"/>
                  </a:lnTo>
                  <a:lnTo>
                    <a:pt x="731012" y="1079500"/>
                  </a:lnTo>
                  <a:close/>
                  <a:moveTo>
                    <a:pt x="553212" y="1079500"/>
                  </a:moveTo>
                  <a:lnTo>
                    <a:pt x="477012" y="1079500"/>
                  </a:lnTo>
                  <a:lnTo>
                    <a:pt x="553212" y="1079500"/>
                  </a:lnTo>
                  <a:close/>
                  <a:moveTo>
                    <a:pt x="375412" y="1079500"/>
                  </a:moveTo>
                  <a:lnTo>
                    <a:pt x="299212" y="1079500"/>
                  </a:lnTo>
                  <a:lnTo>
                    <a:pt x="375412" y="1079500"/>
                  </a:lnTo>
                  <a:close/>
                  <a:moveTo>
                    <a:pt x="197612" y="1079500"/>
                  </a:moveTo>
                  <a:lnTo>
                    <a:pt x="152400" y="1079500"/>
                  </a:lnTo>
                  <a:lnTo>
                    <a:pt x="152400" y="1092200"/>
                  </a:lnTo>
                  <a:lnTo>
                    <a:pt x="152400" y="1104900"/>
                  </a:lnTo>
                  <a:cubicBezTo>
                    <a:pt x="140843" y="1104900"/>
                    <a:pt x="129667" y="1103630"/>
                    <a:pt x="118872" y="1101217"/>
                  </a:cubicBezTo>
                  <a:lnTo>
                    <a:pt x="124460" y="1076452"/>
                  </a:lnTo>
                  <a:cubicBezTo>
                    <a:pt x="133477" y="1078484"/>
                    <a:pt x="142748" y="1079500"/>
                    <a:pt x="152400" y="1079500"/>
                  </a:cubicBezTo>
                  <a:lnTo>
                    <a:pt x="197612" y="1079500"/>
                  </a:lnTo>
                  <a:close/>
                  <a:moveTo>
                    <a:pt x="28575" y="1041273"/>
                  </a:moveTo>
                  <a:cubicBezTo>
                    <a:pt x="12700" y="1019302"/>
                    <a:pt x="2667" y="992886"/>
                    <a:pt x="508" y="964311"/>
                  </a:cubicBezTo>
                  <a:lnTo>
                    <a:pt x="25781" y="962406"/>
                  </a:lnTo>
                  <a:cubicBezTo>
                    <a:pt x="27559" y="986282"/>
                    <a:pt x="36068" y="1008253"/>
                    <a:pt x="49149" y="1026541"/>
                  </a:cubicBezTo>
                  <a:close/>
                  <a:moveTo>
                    <a:pt x="0" y="861568"/>
                  </a:moveTo>
                  <a:lnTo>
                    <a:pt x="0" y="785368"/>
                  </a:lnTo>
                  <a:lnTo>
                    <a:pt x="25400" y="785368"/>
                  </a:lnTo>
                  <a:lnTo>
                    <a:pt x="25400" y="861568"/>
                  </a:lnTo>
                  <a:close/>
                  <a:moveTo>
                    <a:pt x="25400" y="683768"/>
                  </a:moveTo>
                  <a:lnTo>
                    <a:pt x="25400" y="607568"/>
                  </a:lnTo>
                  <a:lnTo>
                    <a:pt x="25400" y="683768"/>
                  </a:lnTo>
                  <a:close/>
                  <a:moveTo>
                    <a:pt x="25400" y="505968"/>
                  </a:moveTo>
                  <a:lnTo>
                    <a:pt x="25400" y="429768"/>
                  </a:lnTo>
                  <a:lnTo>
                    <a:pt x="25400" y="505968"/>
                  </a:lnTo>
                  <a:close/>
                  <a:moveTo>
                    <a:pt x="25400" y="328168"/>
                  </a:moveTo>
                  <a:lnTo>
                    <a:pt x="25400" y="251968"/>
                  </a:lnTo>
                  <a:lnTo>
                    <a:pt x="25400" y="328168"/>
                  </a:lnTo>
                  <a:close/>
                  <a:moveTo>
                    <a:pt x="0" y="150241"/>
                  </a:moveTo>
                  <a:cubicBezTo>
                    <a:pt x="381" y="121412"/>
                    <a:pt x="8890" y="94361"/>
                    <a:pt x="23241" y="71501"/>
                  </a:cubicBezTo>
                  <a:lnTo>
                    <a:pt x="44704" y="84963"/>
                  </a:lnTo>
                  <a:cubicBezTo>
                    <a:pt x="32766" y="104013"/>
                    <a:pt x="25781" y="126492"/>
                    <a:pt x="25400" y="150495"/>
                  </a:cubicBezTo>
                  <a:close/>
                  <a:moveTo>
                    <a:pt x="109601" y="6096"/>
                  </a:moveTo>
                  <a:cubicBezTo>
                    <a:pt x="123190" y="2159"/>
                    <a:pt x="137541" y="0"/>
                    <a:pt x="152400" y="0"/>
                  </a:cubicBezTo>
                  <a:cubicBezTo>
                    <a:pt x="154813" y="0"/>
                    <a:pt x="157353" y="762"/>
                    <a:pt x="159385" y="2032"/>
                  </a:cubicBezTo>
                  <a:lnTo>
                    <a:pt x="152400" y="12700"/>
                  </a:lnTo>
                  <a:lnTo>
                    <a:pt x="152400" y="0"/>
                  </a:lnTo>
                  <a:lnTo>
                    <a:pt x="228600" y="0"/>
                  </a:lnTo>
                  <a:lnTo>
                    <a:pt x="228600" y="25400"/>
                  </a:lnTo>
                  <a:lnTo>
                    <a:pt x="152400" y="25400"/>
                  </a:lnTo>
                  <a:cubicBezTo>
                    <a:pt x="149987" y="25400"/>
                    <a:pt x="147447" y="24638"/>
                    <a:pt x="145415" y="23368"/>
                  </a:cubicBezTo>
                  <a:lnTo>
                    <a:pt x="152400" y="12700"/>
                  </a:lnTo>
                  <a:lnTo>
                    <a:pt x="152400" y="25400"/>
                  </a:lnTo>
                  <a:cubicBezTo>
                    <a:pt x="139954" y="25400"/>
                    <a:pt x="128016" y="27178"/>
                    <a:pt x="116713" y="30480"/>
                  </a:cubicBezTo>
                  <a:close/>
                </a:path>
              </a:pathLst>
            </a:custGeom>
            <a:solidFill>
              <a:srgbClr val="4B5F7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47625"/>
              <a:ext cx="3352800" cy="115252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7F93B2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… [19]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4516100" y="4381500"/>
            <a:ext cx="259080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7F93B2"/>
                </a:solidFill>
                <a:latin typeface="IBM Plex Sans"/>
                <a:ea typeface="IBM Plex Sans"/>
                <a:cs typeface="IBM Plex Sans"/>
                <a:sym typeface="IBM Plex Sans"/>
              </a:rPr>
              <a:t>SIZE = 20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4554200" y="4733925"/>
            <a:ext cx="259080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F1B2D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1219200" y="5314950"/>
            <a:ext cx="5130851" cy="2124075"/>
            <a:chOff x="0" y="0"/>
            <a:chExt cx="6841134" cy="2832100"/>
          </a:xfrm>
        </p:grpSpPr>
        <p:sp>
          <p:nvSpPr>
            <p:cNvPr id="42" name="Freeform 42"/>
            <p:cNvSpPr/>
            <p:nvPr/>
          </p:nvSpPr>
          <p:spPr>
            <a:xfrm>
              <a:off x="6350" y="6350"/>
              <a:ext cx="6828409" cy="2819400"/>
            </a:xfrm>
            <a:custGeom>
              <a:avLst/>
              <a:gdLst/>
              <a:ahLst/>
              <a:cxnLst/>
              <a:rect l="l" t="t" r="r" b="b"/>
              <a:pathLst>
                <a:path w="6828409" h="2819400">
                  <a:moveTo>
                    <a:pt x="0" y="196850"/>
                  </a:moveTo>
                  <a:cubicBezTo>
                    <a:pt x="0" y="88138"/>
                    <a:pt x="88392" y="0"/>
                    <a:pt x="197358" y="0"/>
                  </a:cubicBezTo>
                  <a:lnTo>
                    <a:pt x="6631051" y="0"/>
                  </a:lnTo>
                  <a:cubicBezTo>
                    <a:pt x="6740017" y="0"/>
                    <a:pt x="6828409" y="88138"/>
                    <a:pt x="6828409" y="196850"/>
                  </a:cubicBezTo>
                  <a:lnTo>
                    <a:pt x="6828409" y="2622550"/>
                  </a:lnTo>
                  <a:cubicBezTo>
                    <a:pt x="6828409" y="2731262"/>
                    <a:pt x="6740017" y="2819400"/>
                    <a:pt x="6631051" y="2819400"/>
                  </a:cubicBezTo>
                  <a:lnTo>
                    <a:pt x="197358" y="2819400"/>
                  </a:lnTo>
                  <a:cubicBezTo>
                    <a:pt x="88392" y="2819400"/>
                    <a:pt x="0" y="2731262"/>
                    <a:pt x="0" y="2622550"/>
                  </a:cubicBezTo>
                  <a:close/>
                </a:path>
              </a:pathLst>
            </a:custGeom>
            <a:solidFill>
              <a:srgbClr val="1A2A4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43"/>
            <p:cNvSpPr/>
            <p:nvPr/>
          </p:nvSpPr>
          <p:spPr>
            <a:xfrm>
              <a:off x="0" y="0"/>
              <a:ext cx="6841109" cy="2832100"/>
            </a:xfrm>
            <a:custGeom>
              <a:avLst/>
              <a:gdLst/>
              <a:ahLst/>
              <a:cxnLst/>
              <a:rect l="l" t="t" r="r" b="b"/>
              <a:pathLst>
                <a:path w="6841109" h="2832100">
                  <a:moveTo>
                    <a:pt x="0" y="203200"/>
                  </a:moveTo>
                  <a:cubicBezTo>
                    <a:pt x="0" y="90932"/>
                    <a:pt x="91186" y="0"/>
                    <a:pt x="203708" y="0"/>
                  </a:cubicBezTo>
                  <a:lnTo>
                    <a:pt x="6637401" y="0"/>
                  </a:lnTo>
                  <a:lnTo>
                    <a:pt x="6637401" y="6350"/>
                  </a:lnTo>
                  <a:lnTo>
                    <a:pt x="6637401" y="0"/>
                  </a:lnTo>
                  <a:cubicBezTo>
                    <a:pt x="6749923" y="0"/>
                    <a:pt x="6841109" y="90932"/>
                    <a:pt x="6841109" y="203200"/>
                  </a:cubicBezTo>
                  <a:lnTo>
                    <a:pt x="6834759" y="203200"/>
                  </a:lnTo>
                  <a:lnTo>
                    <a:pt x="6841109" y="203200"/>
                  </a:lnTo>
                  <a:lnTo>
                    <a:pt x="6841109" y="2628900"/>
                  </a:lnTo>
                  <a:lnTo>
                    <a:pt x="6834759" y="2628900"/>
                  </a:lnTo>
                  <a:lnTo>
                    <a:pt x="6841109" y="2628900"/>
                  </a:lnTo>
                  <a:cubicBezTo>
                    <a:pt x="6841109" y="2741168"/>
                    <a:pt x="6749923" y="2832100"/>
                    <a:pt x="6637401" y="2832100"/>
                  </a:cubicBezTo>
                  <a:lnTo>
                    <a:pt x="6637401" y="2825750"/>
                  </a:lnTo>
                  <a:lnTo>
                    <a:pt x="6637401" y="2832100"/>
                  </a:lnTo>
                  <a:lnTo>
                    <a:pt x="203708" y="2832100"/>
                  </a:lnTo>
                  <a:lnTo>
                    <a:pt x="203708" y="2825750"/>
                  </a:lnTo>
                  <a:lnTo>
                    <a:pt x="203708" y="2832100"/>
                  </a:lnTo>
                  <a:cubicBezTo>
                    <a:pt x="91186" y="2832100"/>
                    <a:pt x="0" y="2741168"/>
                    <a:pt x="0" y="2628900"/>
                  </a:cubicBezTo>
                  <a:lnTo>
                    <a:pt x="0" y="203200"/>
                  </a:lnTo>
                  <a:lnTo>
                    <a:pt x="6350" y="203200"/>
                  </a:lnTo>
                  <a:lnTo>
                    <a:pt x="0" y="203200"/>
                  </a:lnTo>
                  <a:moveTo>
                    <a:pt x="12700" y="203200"/>
                  </a:moveTo>
                  <a:lnTo>
                    <a:pt x="12700" y="2628900"/>
                  </a:lnTo>
                  <a:lnTo>
                    <a:pt x="6350" y="2628900"/>
                  </a:lnTo>
                  <a:lnTo>
                    <a:pt x="12700" y="2628900"/>
                  </a:lnTo>
                  <a:cubicBezTo>
                    <a:pt x="12700" y="2734056"/>
                    <a:pt x="98171" y="2819400"/>
                    <a:pt x="203708" y="2819400"/>
                  </a:cubicBezTo>
                  <a:lnTo>
                    <a:pt x="6637401" y="2819400"/>
                  </a:lnTo>
                  <a:cubicBezTo>
                    <a:pt x="6742938" y="2819400"/>
                    <a:pt x="6828409" y="2734056"/>
                    <a:pt x="6828409" y="2628900"/>
                  </a:cubicBezTo>
                  <a:lnTo>
                    <a:pt x="6828409" y="203200"/>
                  </a:lnTo>
                  <a:cubicBezTo>
                    <a:pt x="6828409" y="98044"/>
                    <a:pt x="6742938" y="12700"/>
                    <a:pt x="6637401" y="12700"/>
                  </a:cubicBezTo>
                  <a:lnTo>
                    <a:pt x="203708" y="12700"/>
                  </a:lnTo>
                  <a:lnTo>
                    <a:pt x="203708" y="6350"/>
                  </a:lnTo>
                  <a:lnTo>
                    <a:pt x="203708" y="12700"/>
                  </a:lnTo>
                  <a:cubicBezTo>
                    <a:pt x="98171" y="12700"/>
                    <a:pt x="12700" y="98044"/>
                    <a:pt x="12700" y="203200"/>
                  </a:cubicBezTo>
                  <a:close/>
                </a:path>
              </a:pathLst>
            </a:custGeom>
            <a:solidFill>
              <a:srgbClr val="2C4062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495425" y="5591175"/>
            <a:ext cx="4715751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5F3E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Enqueue (Add)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495425" y="6000750"/>
            <a:ext cx="4715751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B9C6D8"/>
                </a:solidFill>
                <a:latin typeface="IBM Plex Sans"/>
                <a:ea typeface="IBM Plex Sans"/>
                <a:cs typeface="IBM Plex Sans"/>
                <a:sym typeface="IBM Plex Sans"/>
              </a:rPr>
              <a:t>If the queue was empty, front = 0. Then rear++ and store the request at queue[rear].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6578651" y="5314950"/>
            <a:ext cx="5130851" cy="2124075"/>
            <a:chOff x="0" y="0"/>
            <a:chExt cx="6841134" cy="2832100"/>
          </a:xfrm>
        </p:grpSpPr>
        <p:sp>
          <p:nvSpPr>
            <p:cNvPr id="47" name="Freeform 47"/>
            <p:cNvSpPr/>
            <p:nvPr/>
          </p:nvSpPr>
          <p:spPr>
            <a:xfrm>
              <a:off x="6350" y="6350"/>
              <a:ext cx="6828409" cy="2819400"/>
            </a:xfrm>
            <a:custGeom>
              <a:avLst/>
              <a:gdLst/>
              <a:ahLst/>
              <a:cxnLst/>
              <a:rect l="l" t="t" r="r" b="b"/>
              <a:pathLst>
                <a:path w="6828409" h="2819400">
                  <a:moveTo>
                    <a:pt x="0" y="196850"/>
                  </a:moveTo>
                  <a:cubicBezTo>
                    <a:pt x="0" y="88138"/>
                    <a:pt x="88392" y="0"/>
                    <a:pt x="197358" y="0"/>
                  </a:cubicBezTo>
                  <a:lnTo>
                    <a:pt x="6631051" y="0"/>
                  </a:lnTo>
                  <a:cubicBezTo>
                    <a:pt x="6740017" y="0"/>
                    <a:pt x="6828409" y="88138"/>
                    <a:pt x="6828409" y="196850"/>
                  </a:cubicBezTo>
                  <a:lnTo>
                    <a:pt x="6828409" y="2622550"/>
                  </a:lnTo>
                  <a:cubicBezTo>
                    <a:pt x="6828409" y="2731262"/>
                    <a:pt x="6740017" y="2819400"/>
                    <a:pt x="6631051" y="2819400"/>
                  </a:cubicBezTo>
                  <a:lnTo>
                    <a:pt x="197358" y="2819400"/>
                  </a:lnTo>
                  <a:cubicBezTo>
                    <a:pt x="88392" y="2819400"/>
                    <a:pt x="0" y="2731262"/>
                    <a:pt x="0" y="2622550"/>
                  </a:cubicBezTo>
                  <a:close/>
                </a:path>
              </a:pathLst>
            </a:custGeom>
            <a:solidFill>
              <a:srgbClr val="1A2A4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48"/>
            <p:cNvSpPr/>
            <p:nvPr/>
          </p:nvSpPr>
          <p:spPr>
            <a:xfrm>
              <a:off x="0" y="0"/>
              <a:ext cx="6841109" cy="2832100"/>
            </a:xfrm>
            <a:custGeom>
              <a:avLst/>
              <a:gdLst/>
              <a:ahLst/>
              <a:cxnLst/>
              <a:rect l="l" t="t" r="r" b="b"/>
              <a:pathLst>
                <a:path w="6841109" h="2832100">
                  <a:moveTo>
                    <a:pt x="0" y="203200"/>
                  </a:moveTo>
                  <a:cubicBezTo>
                    <a:pt x="0" y="90932"/>
                    <a:pt x="91186" y="0"/>
                    <a:pt x="203708" y="0"/>
                  </a:cubicBezTo>
                  <a:lnTo>
                    <a:pt x="6637401" y="0"/>
                  </a:lnTo>
                  <a:lnTo>
                    <a:pt x="6637401" y="6350"/>
                  </a:lnTo>
                  <a:lnTo>
                    <a:pt x="6637401" y="0"/>
                  </a:lnTo>
                  <a:cubicBezTo>
                    <a:pt x="6749923" y="0"/>
                    <a:pt x="6841109" y="90932"/>
                    <a:pt x="6841109" y="203200"/>
                  </a:cubicBezTo>
                  <a:lnTo>
                    <a:pt x="6834759" y="203200"/>
                  </a:lnTo>
                  <a:lnTo>
                    <a:pt x="6841109" y="203200"/>
                  </a:lnTo>
                  <a:lnTo>
                    <a:pt x="6841109" y="2628900"/>
                  </a:lnTo>
                  <a:lnTo>
                    <a:pt x="6834759" y="2628900"/>
                  </a:lnTo>
                  <a:lnTo>
                    <a:pt x="6841109" y="2628900"/>
                  </a:lnTo>
                  <a:cubicBezTo>
                    <a:pt x="6841109" y="2741168"/>
                    <a:pt x="6749923" y="2832100"/>
                    <a:pt x="6637401" y="2832100"/>
                  </a:cubicBezTo>
                  <a:lnTo>
                    <a:pt x="6637401" y="2825750"/>
                  </a:lnTo>
                  <a:lnTo>
                    <a:pt x="6637401" y="2832100"/>
                  </a:lnTo>
                  <a:lnTo>
                    <a:pt x="203708" y="2832100"/>
                  </a:lnTo>
                  <a:lnTo>
                    <a:pt x="203708" y="2825750"/>
                  </a:lnTo>
                  <a:lnTo>
                    <a:pt x="203708" y="2832100"/>
                  </a:lnTo>
                  <a:cubicBezTo>
                    <a:pt x="91186" y="2832100"/>
                    <a:pt x="0" y="2741168"/>
                    <a:pt x="0" y="2628900"/>
                  </a:cubicBezTo>
                  <a:lnTo>
                    <a:pt x="0" y="203200"/>
                  </a:lnTo>
                  <a:lnTo>
                    <a:pt x="6350" y="203200"/>
                  </a:lnTo>
                  <a:lnTo>
                    <a:pt x="0" y="203200"/>
                  </a:lnTo>
                  <a:moveTo>
                    <a:pt x="12700" y="203200"/>
                  </a:moveTo>
                  <a:lnTo>
                    <a:pt x="12700" y="2628900"/>
                  </a:lnTo>
                  <a:lnTo>
                    <a:pt x="6350" y="2628900"/>
                  </a:lnTo>
                  <a:lnTo>
                    <a:pt x="12700" y="2628900"/>
                  </a:lnTo>
                  <a:cubicBezTo>
                    <a:pt x="12700" y="2734056"/>
                    <a:pt x="98171" y="2819400"/>
                    <a:pt x="203708" y="2819400"/>
                  </a:cubicBezTo>
                  <a:lnTo>
                    <a:pt x="6637401" y="2819400"/>
                  </a:lnTo>
                  <a:cubicBezTo>
                    <a:pt x="6742938" y="2819400"/>
                    <a:pt x="6828409" y="2734056"/>
                    <a:pt x="6828409" y="2628900"/>
                  </a:cubicBezTo>
                  <a:lnTo>
                    <a:pt x="6828409" y="203200"/>
                  </a:lnTo>
                  <a:cubicBezTo>
                    <a:pt x="6828409" y="98044"/>
                    <a:pt x="6742938" y="12700"/>
                    <a:pt x="6637401" y="12700"/>
                  </a:cubicBezTo>
                  <a:lnTo>
                    <a:pt x="203708" y="12700"/>
                  </a:lnTo>
                  <a:lnTo>
                    <a:pt x="203708" y="6350"/>
                  </a:lnTo>
                  <a:lnTo>
                    <a:pt x="203708" y="12700"/>
                  </a:lnTo>
                  <a:cubicBezTo>
                    <a:pt x="98171" y="12700"/>
                    <a:pt x="12700" y="98044"/>
                    <a:pt x="12700" y="203200"/>
                  </a:cubicBezTo>
                  <a:close/>
                </a:path>
              </a:pathLst>
            </a:custGeom>
            <a:solidFill>
              <a:srgbClr val="2C4062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6854876" y="5591175"/>
            <a:ext cx="4715751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5F3E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Dequeue (Process)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854876" y="6000750"/>
            <a:ext cx="4715751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B9C6D8"/>
                </a:solidFill>
                <a:latin typeface="IBM Plex Sans"/>
                <a:ea typeface="IBM Plex Sans"/>
                <a:cs typeface="IBM Plex Sans"/>
                <a:sym typeface="IBM Plex Sans"/>
              </a:rPr>
              <a:t>Take queue[front], shift the remaining elements forward, then rear--.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11938102" y="5314950"/>
            <a:ext cx="5130851" cy="2124075"/>
            <a:chOff x="0" y="0"/>
            <a:chExt cx="6841134" cy="2832100"/>
          </a:xfrm>
        </p:grpSpPr>
        <p:sp>
          <p:nvSpPr>
            <p:cNvPr id="52" name="Freeform 52"/>
            <p:cNvSpPr/>
            <p:nvPr/>
          </p:nvSpPr>
          <p:spPr>
            <a:xfrm>
              <a:off x="6350" y="6350"/>
              <a:ext cx="6828409" cy="2819400"/>
            </a:xfrm>
            <a:custGeom>
              <a:avLst/>
              <a:gdLst/>
              <a:ahLst/>
              <a:cxnLst/>
              <a:rect l="l" t="t" r="r" b="b"/>
              <a:pathLst>
                <a:path w="6828409" h="2819400">
                  <a:moveTo>
                    <a:pt x="0" y="196850"/>
                  </a:moveTo>
                  <a:cubicBezTo>
                    <a:pt x="0" y="88138"/>
                    <a:pt x="88392" y="0"/>
                    <a:pt x="197358" y="0"/>
                  </a:cubicBezTo>
                  <a:lnTo>
                    <a:pt x="6631051" y="0"/>
                  </a:lnTo>
                  <a:cubicBezTo>
                    <a:pt x="6740017" y="0"/>
                    <a:pt x="6828409" y="88138"/>
                    <a:pt x="6828409" y="196850"/>
                  </a:cubicBezTo>
                  <a:lnTo>
                    <a:pt x="6828409" y="2622550"/>
                  </a:lnTo>
                  <a:cubicBezTo>
                    <a:pt x="6828409" y="2731262"/>
                    <a:pt x="6740017" y="2819400"/>
                    <a:pt x="6631051" y="2819400"/>
                  </a:cubicBezTo>
                  <a:lnTo>
                    <a:pt x="197358" y="2819400"/>
                  </a:lnTo>
                  <a:cubicBezTo>
                    <a:pt x="88392" y="2819400"/>
                    <a:pt x="0" y="2731262"/>
                    <a:pt x="0" y="2622550"/>
                  </a:cubicBezTo>
                  <a:close/>
                </a:path>
              </a:pathLst>
            </a:custGeom>
            <a:solidFill>
              <a:srgbClr val="1A2A4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53"/>
            <p:cNvSpPr/>
            <p:nvPr/>
          </p:nvSpPr>
          <p:spPr>
            <a:xfrm>
              <a:off x="0" y="0"/>
              <a:ext cx="6841109" cy="2832100"/>
            </a:xfrm>
            <a:custGeom>
              <a:avLst/>
              <a:gdLst/>
              <a:ahLst/>
              <a:cxnLst/>
              <a:rect l="l" t="t" r="r" b="b"/>
              <a:pathLst>
                <a:path w="6841109" h="2832100">
                  <a:moveTo>
                    <a:pt x="0" y="203200"/>
                  </a:moveTo>
                  <a:cubicBezTo>
                    <a:pt x="0" y="90932"/>
                    <a:pt x="91186" y="0"/>
                    <a:pt x="203708" y="0"/>
                  </a:cubicBezTo>
                  <a:lnTo>
                    <a:pt x="6637401" y="0"/>
                  </a:lnTo>
                  <a:lnTo>
                    <a:pt x="6637401" y="6350"/>
                  </a:lnTo>
                  <a:lnTo>
                    <a:pt x="6637401" y="0"/>
                  </a:lnTo>
                  <a:cubicBezTo>
                    <a:pt x="6749923" y="0"/>
                    <a:pt x="6841109" y="90932"/>
                    <a:pt x="6841109" y="203200"/>
                  </a:cubicBezTo>
                  <a:lnTo>
                    <a:pt x="6834759" y="203200"/>
                  </a:lnTo>
                  <a:lnTo>
                    <a:pt x="6841109" y="203200"/>
                  </a:lnTo>
                  <a:lnTo>
                    <a:pt x="6841109" y="2628900"/>
                  </a:lnTo>
                  <a:lnTo>
                    <a:pt x="6834759" y="2628900"/>
                  </a:lnTo>
                  <a:lnTo>
                    <a:pt x="6841109" y="2628900"/>
                  </a:lnTo>
                  <a:cubicBezTo>
                    <a:pt x="6841109" y="2741168"/>
                    <a:pt x="6749923" y="2832100"/>
                    <a:pt x="6637401" y="2832100"/>
                  </a:cubicBezTo>
                  <a:lnTo>
                    <a:pt x="6637401" y="2825750"/>
                  </a:lnTo>
                  <a:lnTo>
                    <a:pt x="6637401" y="2832100"/>
                  </a:lnTo>
                  <a:lnTo>
                    <a:pt x="203708" y="2832100"/>
                  </a:lnTo>
                  <a:lnTo>
                    <a:pt x="203708" y="2825750"/>
                  </a:lnTo>
                  <a:lnTo>
                    <a:pt x="203708" y="2832100"/>
                  </a:lnTo>
                  <a:cubicBezTo>
                    <a:pt x="91186" y="2832100"/>
                    <a:pt x="0" y="2741168"/>
                    <a:pt x="0" y="2628900"/>
                  </a:cubicBezTo>
                  <a:lnTo>
                    <a:pt x="0" y="203200"/>
                  </a:lnTo>
                  <a:lnTo>
                    <a:pt x="6350" y="203200"/>
                  </a:lnTo>
                  <a:lnTo>
                    <a:pt x="0" y="203200"/>
                  </a:lnTo>
                  <a:moveTo>
                    <a:pt x="12700" y="203200"/>
                  </a:moveTo>
                  <a:lnTo>
                    <a:pt x="12700" y="2628900"/>
                  </a:lnTo>
                  <a:lnTo>
                    <a:pt x="6350" y="2628900"/>
                  </a:lnTo>
                  <a:lnTo>
                    <a:pt x="12700" y="2628900"/>
                  </a:lnTo>
                  <a:cubicBezTo>
                    <a:pt x="12700" y="2734056"/>
                    <a:pt x="98171" y="2819400"/>
                    <a:pt x="203708" y="2819400"/>
                  </a:cubicBezTo>
                  <a:lnTo>
                    <a:pt x="6637401" y="2819400"/>
                  </a:lnTo>
                  <a:cubicBezTo>
                    <a:pt x="6742938" y="2819400"/>
                    <a:pt x="6828409" y="2734056"/>
                    <a:pt x="6828409" y="2628900"/>
                  </a:cubicBezTo>
                  <a:lnTo>
                    <a:pt x="6828409" y="203200"/>
                  </a:lnTo>
                  <a:cubicBezTo>
                    <a:pt x="6828409" y="98044"/>
                    <a:pt x="6742938" y="12700"/>
                    <a:pt x="6637401" y="12700"/>
                  </a:cubicBezTo>
                  <a:lnTo>
                    <a:pt x="203708" y="12700"/>
                  </a:lnTo>
                  <a:lnTo>
                    <a:pt x="203708" y="6350"/>
                  </a:lnTo>
                  <a:lnTo>
                    <a:pt x="203708" y="12700"/>
                  </a:lnTo>
                  <a:cubicBezTo>
                    <a:pt x="98171" y="12700"/>
                    <a:pt x="12700" y="98044"/>
                    <a:pt x="12700" y="203200"/>
                  </a:cubicBezTo>
                  <a:close/>
                </a:path>
              </a:pathLst>
            </a:custGeom>
            <a:solidFill>
              <a:srgbClr val="2C4062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12214327" y="5591175"/>
            <a:ext cx="4715751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5F3E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Empty and full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2214327" y="6000750"/>
            <a:ext cx="4715751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B9C6D8"/>
                </a:solidFill>
                <a:latin typeface="IBM Plex Sans"/>
                <a:ea typeface="IBM Plex Sans"/>
                <a:cs typeface="IBM Plex Sans"/>
                <a:sym typeface="IBM Plex Sans"/>
              </a:rPr>
              <a:t>Empty: front = rear = -1. Full at 20 requests: “Queue is full”.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219200" y="9324975"/>
            <a:ext cx="16325088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7F93B2"/>
                </a:solidFill>
                <a:latin typeface="IBM Plex Sans"/>
                <a:ea typeface="IBM Plex Sans"/>
                <a:cs typeface="IBM Plex Sans"/>
                <a:sym typeface="IBM Plex Sans"/>
              </a:rPr>
              <a:t>Elevator Request Management System · 6</a:t>
            </a:r>
          </a:p>
          <a:p>
            <a:pPr algn="l">
              <a:lnSpc>
                <a:spcPts val="2520"/>
              </a:lnSpc>
            </a:pPr>
            <a:endParaRPr lang="en-US" sz="1800">
              <a:solidFill>
                <a:srgbClr val="7F93B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19200" y="1181100"/>
            <a:ext cx="16325088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225">
                <a:solidFill>
                  <a:srgbClr val="2F6FB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COMPLETED REQUESTS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19200" y="1819275"/>
            <a:ext cx="16325088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4200" b="1">
                <a:solidFill>
                  <a:srgbClr val="0F1B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Linked List for Completed History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219200" y="2705100"/>
            <a:ext cx="1059209" cy="676275"/>
            <a:chOff x="0" y="0"/>
            <a:chExt cx="1412278" cy="901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12240" cy="901700"/>
            </a:xfrm>
            <a:custGeom>
              <a:avLst/>
              <a:gdLst/>
              <a:ahLst/>
              <a:cxnLst/>
              <a:rect l="l" t="t" r="r" b="b"/>
              <a:pathLst>
                <a:path w="1412240" h="9017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1285240" y="0"/>
                  </a:lnTo>
                  <a:cubicBezTo>
                    <a:pt x="1355344" y="0"/>
                    <a:pt x="1412240" y="56896"/>
                    <a:pt x="1412240" y="127000"/>
                  </a:cubicBezTo>
                  <a:lnTo>
                    <a:pt x="1412240" y="774700"/>
                  </a:lnTo>
                  <a:cubicBezTo>
                    <a:pt x="1412240" y="844804"/>
                    <a:pt x="1355344" y="901700"/>
                    <a:pt x="1285240" y="901700"/>
                  </a:cubicBezTo>
                  <a:lnTo>
                    <a:pt x="127000" y="901700"/>
                  </a:lnTo>
                  <a:cubicBezTo>
                    <a:pt x="56896" y="901700"/>
                    <a:pt x="0" y="844804"/>
                    <a:pt x="0" y="774700"/>
                  </a:cubicBezTo>
                  <a:close/>
                </a:path>
              </a:pathLst>
            </a:custGeom>
            <a:solidFill>
              <a:srgbClr val="B9C6D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412278" cy="939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r>
                <a:rPr lang="en-US" sz="2100" b="1">
                  <a:solidFill>
                    <a:srgbClr val="0F1B2D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head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392709" y="2900362"/>
            <a:ext cx="457200" cy="285750"/>
            <a:chOff x="0" y="0"/>
            <a:chExt cx="609600" cy="381000"/>
          </a:xfrm>
        </p:grpSpPr>
        <p:sp>
          <p:nvSpPr>
            <p:cNvPr id="8" name="Freeform 8" descr="arrow-right"/>
            <p:cNvSpPr/>
            <p:nvPr/>
          </p:nvSpPr>
          <p:spPr>
            <a:xfrm>
              <a:off x="0" y="0"/>
              <a:ext cx="609600" cy="381000"/>
            </a:xfrm>
            <a:custGeom>
              <a:avLst/>
              <a:gdLst/>
              <a:ahLst/>
              <a:cxnLst/>
              <a:rect l="l" t="t" r="r" b="b"/>
              <a:pathLst>
                <a:path w="609600" h="381000">
                  <a:moveTo>
                    <a:pt x="0" y="0"/>
                  </a:moveTo>
                  <a:lnTo>
                    <a:pt x="609600" y="0"/>
                  </a:lnTo>
                  <a:lnTo>
                    <a:pt x="6096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964209" y="2676525"/>
            <a:ext cx="2495550" cy="733425"/>
            <a:chOff x="0" y="0"/>
            <a:chExt cx="3327400" cy="977900"/>
          </a:xfrm>
        </p:grpSpPr>
        <p:sp>
          <p:nvSpPr>
            <p:cNvPr id="10" name="Freeform 10"/>
            <p:cNvSpPr/>
            <p:nvPr/>
          </p:nvSpPr>
          <p:spPr>
            <a:xfrm>
              <a:off x="19050" y="19050"/>
              <a:ext cx="3289300" cy="939800"/>
            </a:xfrm>
            <a:custGeom>
              <a:avLst/>
              <a:gdLst/>
              <a:ahLst/>
              <a:cxnLst/>
              <a:rect l="l" t="t" r="r" b="b"/>
              <a:pathLst>
                <a:path w="3289300" h="939800">
                  <a:moveTo>
                    <a:pt x="0" y="107950"/>
                  </a:moveTo>
                  <a:cubicBezTo>
                    <a:pt x="0" y="48387"/>
                    <a:pt x="49657" y="0"/>
                    <a:pt x="110998" y="0"/>
                  </a:cubicBezTo>
                  <a:lnTo>
                    <a:pt x="3178302" y="0"/>
                  </a:lnTo>
                  <a:cubicBezTo>
                    <a:pt x="3239643" y="0"/>
                    <a:pt x="3289300" y="48387"/>
                    <a:pt x="3289300" y="107950"/>
                  </a:cubicBezTo>
                  <a:lnTo>
                    <a:pt x="3289300" y="831850"/>
                  </a:lnTo>
                  <a:cubicBezTo>
                    <a:pt x="3289300" y="891413"/>
                    <a:pt x="3239643" y="939800"/>
                    <a:pt x="3178302" y="939800"/>
                  </a:cubicBezTo>
                  <a:lnTo>
                    <a:pt x="110998" y="939800"/>
                  </a:lnTo>
                  <a:cubicBezTo>
                    <a:pt x="49657" y="939800"/>
                    <a:pt x="0" y="891413"/>
                    <a:pt x="0" y="831850"/>
                  </a:cubicBezTo>
                  <a:close/>
                </a:path>
              </a:pathLst>
            </a:custGeom>
            <a:solidFill>
              <a:srgbClr val="FDFCF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0"/>
              <a:ext cx="3327400" cy="977900"/>
            </a:xfrm>
            <a:custGeom>
              <a:avLst/>
              <a:gdLst/>
              <a:ahLst/>
              <a:cxnLst/>
              <a:rect l="l" t="t" r="r" b="b"/>
              <a:pathLst>
                <a:path w="3327400" h="977900">
                  <a:moveTo>
                    <a:pt x="0" y="127000"/>
                  </a:moveTo>
                  <a:cubicBezTo>
                    <a:pt x="0" y="56388"/>
                    <a:pt x="58801" y="0"/>
                    <a:pt x="130048" y="0"/>
                  </a:cubicBezTo>
                  <a:lnTo>
                    <a:pt x="3197352" y="0"/>
                  </a:lnTo>
                  <a:lnTo>
                    <a:pt x="3197352" y="19050"/>
                  </a:lnTo>
                  <a:lnTo>
                    <a:pt x="3197352" y="0"/>
                  </a:lnTo>
                  <a:cubicBezTo>
                    <a:pt x="3268599" y="0"/>
                    <a:pt x="3327400" y="56388"/>
                    <a:pt x="3327400" y="127000"/>
                  </a:cubicBezTo>
                  <a:lnTo>
                    <a:pt x="3308350" y="127000"/>
                  </a:lnTo>
                  <a:lnTo>
                    <a:pt x="3327400" y="127000"/>
                  </a:lnTo>
                  <a:lnTo>
                    <a:pt x="3327400" y="850900"/>
                  </a:lnTo>
                  <a:lnTo>
                    <a:pt x="3308350" y="850900"/>
                  </a:lnTo>
                  <a:lnTo>
                    <a:pt x="3327400" y="850900"/>
                  </a:lnTo>
                  <a:cubicBezTo>
                    <a:pt x="3327400" y="921512"/>
                    <a:pt x="3268599" y="977900"/>
                    <a:pt x="3197352" y="977900"/>
                  </a:cubicBezTo>
                  <a:lnTo>
                    <a:pt x="3197352" y="958850"/>
                  </a:lnTo>
                  <a:lnTo>
                    <a:pt x="3197352" y="977900"/>
                  </a:lnTo>
                  <a:lnTo>
                    <a:pt x="130048" y="977900"/>
                  </a:lnTo>
                  <a:lnTo>
                    <a:pt x="130048" y="958850"/>
                  </a:lnTo>
                  <a:lnTo>
                    <a:pt x="130048" y="977900"/>
                  </a:lnTo>
                  <a:cubicBezTo>
                    <a:pt x="58801" y="977900"/>
                    <a:pt x="0" y="921512"/>
                    <a:pt x="0" y="850900"/>
                  </a:cubicBezTo>
                  <a:lnTo>
                    <a:pt x="0" y="127000"/>
                  </a:lnTo>
                  <a:lnTo>
                    <a:pt x="19050" y="127000"/>
                  </a:lnTo>
                  <a:lnTo>
                    <a:pt x="0" y="127000"/>
                  </a:lnTo>
                  <a:moveTo>
                    <a:pt x="38100" y="127000"/>
                  </a:moveTo>
                  <a:lnTo>
                    <a:pt x="38100" y="850900"/>
                  </a:lnTo>
                  <a:lnTo>
                    <a:pt x="19050" y="850900"/>
                  </a:lnTo>
                  <a:lnTo>
                    <a:pt x="38100" y="850900"/>
                  </a:lnTo>
                  <a:cubicBezTo>
                    <a:pt x="38100" y="899541"/>
                    <a:pt x="78740" y="939800"/>
                    <a:pt x="130048" y="939800"/>
                  </a:cubicBezTo>
                  <a:lnTo>
                    <a:pt x="3197352" y="939800"/>
                  </a:lnTo>
                  <a:cubicBezTo>
                    <a:pt x="3248660" y="939800"/>
                    <a:pt x="3289300" y="899541"/>
                    <a:pt x="3289300" y="850900"/>
                  </a:cubicBezTo>
                  <a:lnTo>
                    <a:pt x="3289300" y="127000"/>
                  </a:lnTo>
                  <a:cubicBezTo>
                    <a:pt x="3289300" y="78359"/>
                    <a:pt x="3248660" y="38100"/>
                    <a:pt x="3197352" y="38100"/>
                  </a:cubicBezTo>
                  <a:lnTo>
                    <a:pt x="130048" y="38100"/>
                  </a:lnTo>
                  <a:lnTo>
                    <a:pt x="130048" y="19050"/>
                  </a:lnTo>
                  <a:lnTo>
                    <a:pt x="130048" y="38100"/>
                  </a:lnTo>
                  <a:cubicBezTo>
                    <a:pt x="78740" y="38100"/>
                    <a:pt x="38100" y="78359"/>
                    <a:pt x="38100" y="127000"/>
                  </a:cubicBezTo>
                  <a:close/>
                </a:path>
              </a:pathLst>
            </a:custGeom>
            <a:solidFill>
              <a:srgbClr val="1F7A6D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954684" y="2819400"/>
            <a:ext cx="685800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0F1B2D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1</a:t>
            </a:r>
          </a:p>
        </p:txBody>
      </p:sp>
      <p:sp>
        <p:nvSpPr>
          <p:cNvPr id="13" name="AutoShape 13"/>
          <p:cNvSpPr/>
          <p:nvPr/>
        </p:nvSpPr>
        <p:spPr>
          <a:xfrm rot="5305860">
            <a:off x="3264113" y="3038475"/>
            <a:ext cx="695582" cy="0"/>
          </a:xfrm>
          <a:prstGeom prst="line">
            <a:avLst/>
          </a:prstGeom>
          <a:ln w="9525" cap="rnd">
            <a:solidFill>
              <a:srgbClr val="1F7A6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Box 14"/>
          <p:cNvSpPr txBox="1"/>
          <p:nvPr/>
        </p:nvSpPr>
        <p:spPr>
          <a:xfrm>
            <a:off x="3583334" y="2819400"/>
            <a:ext cx="666750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F1B2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</a:p>
        </p:txBody>
      </p:sp>
      <p:sp>
        <p:nvSpPr>
          <p:cNvPr id="15" name="AutoShape 15"/>
          <p:cNvSpPr/>
          <p:nvPr/>
        </p:nvSpPr>
        <p:spPr>
          <a:xfrm rot="5305860">
            <a:off x="3873713" y="3038475"/>
            <a:ext cx="695582" cy="0"/>
          </a:xfrm>
          <a:prstGeom prst="line">
            <a:avLst/>
          </a:prstGeom>
          <a:ln w="9525" cap="rnd">
            <a:solidFill>
              <a:srgbClr val="1F7A6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Box 16"/>
          <p:cNvSpPr txBox="1"/>
          <p:nvPr/>
        </p:nvSpPr>
        <p:spPr>
          <a:xfrm>
            <a:off x="4192934" y="2819400"/>
            <a:ext cx="666750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F1B2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4821584" y="2705100"/>
            <a:ext cx="609600" cy="676275"/>
            <a:chOff x="0" y="0"/>
            <a:chExt cx="812800" cy="9017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901700"/>
            </a:xfrm>
            <a:custGeom>
              <a:avLst/>
              <a:gdLst/>
              <a:ahLst/>
              <a:cxnLst/>
              <a:rect l="l" t="t" r="r" b="b"/>
              <a:pathLst>
                <a:path w="812800" h="901700">
                  <a:moveTo>
                    <a:pt x="0" y="0"/>
                  </a:moveTo>
                  <a:lnTo>
                    <a:pt x="812800" y="0"/>
                  </a:lnTo>
                  <a:lnTo>
                    <a:pt x="812800" y="901700"/>
                  </a:lnTo>
                  <a:lnTo>
                    <a:pt x="0" y="901700"/>
                  </a:lnTo>
                  <a:close/>
                </a:path>
              </a:pathLst>
            </a:custGeom>
            <a:solidFill>
              <a:srgbClr val="DCEFEA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812800" cy="93980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1F7A6D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●</a:t>
              </a:r>
            </a:p>
          </p:txBody>
        </p:sp>
      </p:grpSp>
      <p:sp>
        <p:nvSpPr>
          <p:cNvPr id="20" name="AutoShape 20"/>
          <p:cNvSpPr/>
          <p:nvPr/>
        </p:nvSpPr>
        <p:spPr>
          <a:xfrm rot="5305860">
            <a:off x="4483313" y="3038475"/>
            <a:ext cx="695582" cy="0"/>
          </a:xfrm>
          <a:prstGeom prst="line">
            <a:avLst/>
          </a:prstGeom>
          <a:ln w="9525" cap="rnd">
            <a:solidFill>
              <a:srgbClr val="1F7A6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21" name="Group 21"/>
          <p:cNvGrpSpPr/>
          <p:nvPr/>
        </p:nvGrpSpPr>
        <p:grpSpPr>
          <a:xfrm>
            <a:off x="5574059" y="2900362"/>
            <a:ext cx="457200" cy="285750"/>
            <a:chOff x="0" y="0"/>
            <a:chExt cx="609600" cy="381000"/>
          </a:xfrm>
        </p:grpSpPr>
        <p:sp>
          <p:nvSpPr>
            <p:cNvPr id="22" name="Freeform 22" descr="arrow-right"/>
            <p:cNvSpPr/>
            <p:nvPr/>
          </p:nvSpPr>
          <p:spPr>
            <a:xfrm>
              <a:off x="0" y="0"/>
              <a:ext cx="609600" cy="381000"/>
            </a:xfrm>
            <a:custGeom>
              <a:avLst/>
              <a:gdLst/>
              <a:ahLst/>
              <a:cxnLst/>
              <a:rect l="l" t="t" r="r" b="b"/>
              <a:pathLst>
                <a:path w="609600" h="381000">
                  <a:moveTo>
                    <a:pt x="0" y="0"/>
                  </a:moveTo>
                  <a:lnTo>
                    <a:pt x="609600" y="0"/>
                  </a:lnTo>
                  <a:lnTo>
                    <a:pt x="6096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145559" y="2676525"/>
            <a:ext cx="2495550" cy="733425"/>
            <a:chOff x="0" y="0"/>
            <a:chExt cx="3327400" cy="977900"/>
          </a:xfrm>
        </p:grpSpPr>
        <p:sp>
          <p:nvSpPr>
            <p:cNvPr id="24" name="Freeform 24"/>
            <p:cNvSpPr/>
            <p:nvPr/>
          </p:nvSpPr>
          <p:spPr>
            <a:xfrm>
              <a:off x="19050" y="19050"/>
              <a:ext cx="3289300" cy="939800"/>
            </a:xfrm>
            <a:custGeom>
              <a:avLst/>
              <a:gdLst/>
              <a:ahLst/>
              <a:cxnLst/>
              <a:rect l="l" t="t" r="r" b="b"/>
              <a:pathLst>
                <a:path w="3289300" h="939800">
                  <a:moveTo>
                    <a:pt x="0" y="107950"/>
                  </a:moveTo>
                  <a:cubicBezTo>
                    <a:pt x="0" y="48387"/>
                    <a:pt x="49657" y="0"/>
                    <a:pt x="110998" y="0"/>
                  </a:cubicBezTo>
                  <a:lnTo>
                    <a:pt x="3178302" y="0"/>
                  </a:lnTo>
                  <a:cubicBezTo>
                    <a:pt x="3239643" y="0"/>
                    <a:pt x="3289300" y="48387"/>
                    <a:pt x="3289300" y="107950"/>
                  </a:cubicBezTo>
                  <a:lnTo>
                    <a:pt x="3289300" y="831850"/>
                  </a:lnTo>
                  <a:cubicBezTo>
                    <a:pt x="3289300" y="891413"/>
                    <a:pt x="3239643" y="939800"/>
                    <a:pt x="3178302" y="939800"/>
                  </a:cubicBezTo>
                  <a:lnTo>
                    <a:pt x="110998" y="939800"/>
                  </a:lnTo>
                  <a:cubicBezTo>
                    <a:pt x="49657" y="939800"/>
                    <a:pt x="0" y="891413"/>
                    <a:pt x="0" y="831850"/>
                  </a:cubicBezTo>
                  <a:close/>
                </a:path>
              </a:pathLst>
            </a:custGeom>
            <a:solidFill>
              <a:srgbClr val="FDFCF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0" y="0"/>
              <a:ext cx="3327400" cy="977900"/>
            </a:xfrm>
            <a:custGeom>
              <a:avLst/>
              <a:gdLst/>
              <a:ahLst/>
              <a:cxnLst/>
              <a:rect l="l" t="t" r="r" b="b"/>
              <a:pathLst>
                <a:path w="3327400" h="977900">
                  <a:moveTo>
                    <a:pt x="0" y="127000"/>
                  </a:moveTo>
                  <a:cubicBezTo>
                    <a:pt x="0" y="56388"/>
                    <a:pt x="58801" y="0"/>
                    <a:pt x="130048" y="0"/>
                  </a:cubicBezTo>
                  <a:lnTo>
                    <a:pt x="3197352" y="0"/>
                  </a:lnTo>
                  <a:lnTo>
                    <a:pt x="3197352" y="19050"/>
                  </a:lnTo>
                  <a:lnTo>
                    <a:pt x="3197352" y="0"/>
                  </a:lnTo>
                  <a:cubicBezTo>
                    <a:pt x="3268599" y="0"/>
                    <a:pt x="3327400" y="56388"/>
                    <a:pt x="3327400" y="127000"/>
                  </a:cubicBezTo>
                  <a:lnTo>
                    <a:pt x="3308350" y="127000"/>
                  </a:lnTo>
                  <a:lnTo>
                    <a:pt x="3327400" y="127000"/>
                  </a:lnTo>
                  <a:lnTo>
                    <a:pt x="3327400" y="850900"/>
                  </a:lnTo>
                  <a:lnTo>
                    <a:pt x="3308350" y="850900"/>
                  </a:lnTo>
                  <a:lnTo>
                    <a:pt x="3327400" y="850900"/>
                  </a:lnTo>
                  <a:cubicBezTo>
                    <a:pt x="3327400" y="921512"/>
                    <a:pt x="3268599" y="977900"/>
                    <a:pt x="3197352" y="977900"/>
                  </a:cubicBezTo>
                  <a:lnTo>
                    <a:pt x="3197352" y="958850"/>
                  </a:lnTo>
                  <a:lnTo>
                    <a:pt x="3197352" y="977900"/>
                  </a:lnTo>
                  <a:lnTo>
                    <a:pt x="130048" y="977900"/>
                  </a:lnTo>
                  <a:lnTo>
                    <a:pt x="130048" y="958850"/>
                  </a:lnTo>
                  <a:lnTo>
                    <a:pt x="130048" y="977900"/>
                  </a:lnTo>
                  <a:cubicBezTo>
                    <a:pt x="58801" y="977900"/>
                    <a:pt x="0" y="921512"/>
                    <a:pt x="0" y="850900"/>
                  </a:cubicBezTo>
                  <a:lnTo>
                    <a:pt x="0" y="127000"/>
                  </a:lnTo>
                  <a:lnTo>
                    <a:pt x="19050" y="127000"/>
                  </a:lnTo>
                  <a:lnTo>
                    <a:pt x="0" y="127000"/>
                  </a:lnTo>
                  <a:moveTo>
                    <a:pt x="38100" y="127000"/>
                  </a:moveTo>
                  <a:lnTo>
                    <a:pt x="38100" y="850900"/>
                  </a:lnTo>
                  <a:lnTo>
                    <a:pt x="19050" y="850900"/>
                  </a:lnTo>
                  <a:lnTo>
                    <a:pt x="38100" y="850900"/>
                  </a:lnTo>
                  <a:cubicBezTo>
                    <a:pt x="38100" y="899541"/>
                    <a:pt x="78740" y="939800"/>
                    <a:pt x="130048" y="939800"/>
                  </a:cubicBezTo>
                  <a:lnTo>
                    <a:pt x="3197352" y="939800"/>
                  </a:lnTo>
                  <a:cubicBezTo>
                    <a:pt x="3248660" y="939800"/>
                    <a:pt x="3289300" y="899541"/>
                    <a:pt x="3289300" y="850900"/>
                  </a:cubicBezTo>
                  <a:lnTo>
                    <a:pt x="3289300" y="127000"/>
                  </a:lnTo>
                  <a:cubicBezTo>
                    <a:pt x="3289300" y="78359"/>
                    <a:pt x="3248660" y="38100"/>
                    <a:pt x="3197352" y="38100"/>
                  </a:cubicBezTo>
                  <a:lnTo>
                    <a:pt x="130048" y="38100"/>
                  </a:lnTo>
                  <a:lnTo>
                    <a:pt x="130048" y="19050"/>
                  </a:lnTo>
                  <a:lnTo>
                    <a:pt x="130048" y="38100"/>
                  </a:lnTo>
                  <a:cubicBezTo>
                    <a:pt x="78740" y="38100"/>
                    <a:pt x="38100" y="78359"/>
                    <a:pt x="38100" y="127000"/>
                  </a:cubicBezTo>
                  <a:close/>
                </a:path>
              </a:pathLst>
            </a:custGeom>
            <a:solidFill>
              <a:srgbClr val="1F7A6D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6136034" y="2819400"/>
            <a:ext cx="685800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0F1B2D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2</a:t>
            </a:r>
          </a:p>
        </p:txBody>
      </p:sp>
      <p:sp>
        <p:nvSpPr>
          <p:cNvPr id="27" name="AutoShape 27"/>
          <p:cNvSpPr/>
          <p:nvPr/>
        </p:nvSpPr>
        <p:spPr>
          <a:xfrm rot="5305860">
            <a:off x="6445463" y="3038475"/>
            <a:ext cx="695582" cy="0"/>
          </a:xfrm>
          <a:prstGeom prst="line">
            <a:avLst/>
          </a:prstGeom>
          <a:ln w="9525" cap="rnd">
            <a:solidFill>
              <a:srgbClr val="1F7A6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Box 28"/>
          <p:cNvSpPr txBox="1"/>
          <p:nvPr/>
        </p:nvSpPr>
        <p:spPr>
          <a:xfrm>
            <a:off x="6764684" y="2819400"/>
            <a:ext cx="666750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F1B2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</a:p>
        </p:txBody>
      </p:sp>
      <p:sp>
        <p:nvSpPr>
          <p:cNvPr id="29" name="AutoShape 29"/>
          <p:cNvSpPr/>
          <p:nvPr/>
        </p:nvSpPr>
        <p:spPr>
          <a:xfrm rot="5305860">
            <a:off x="7055063" y="3038475"/>
            <a:ext cx="695582" cy="0"/>
          </a:xfrm>
          <a:prstGeom prst="line">
            <a:avLst/>
          </a:prstGeom>
          <a:ln w="9525" cap="rnd">
            <a:solidFill>
              <a:srgbClr val="1F7A6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Box 30"/>
          <p:cNvSpPr txBox="1"/>
          <p:nvPr/>
        </p:nvSpPr>
        <p:spPr>
          <a:xfrm>
            <a:off x="7374284" y="2819400"/>
            <a:ext cx="666750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F1B2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8002934" y="2705100"/>
            <a:ext cx="609600" cy="676275"/>
            <a:chOff x="0" y="0"/>
            <a:chExt cx="812800" cy="9017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901700"/>
            </a:xfrm>
            <a:custGeom>
              <a:avLst/>
              <a:gdLst/>
              <a:ahLst/>
              <a:cxnLst/>
              <a:rect l="l" t="t" r="r" b="b"/>
              <a:pathLst>
                <a:path w="812800" h="901700">
                  <a:moveTo>
                    <a:pt x="0" y="0"/>
                  </a:moveTo>
                  <a:lnTo>
                    <a:pt x="812800" y="0"/>
                  </a:lnTo>
                  <a:lnTo>
                    <a:pt x="812800" y="901700"/>
                  </a:lnTo>
                  <a:lnTo>
                    <a:pt x="0" y="901700"/>
                  </a:lnTo>
                  <a:close/>
                </a:path>
              </a:pathLst>
            </a:custGeom>
            <a:solidFill>
              <a:srgbClr val="DCEFEA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812800" cy="93980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1F7A6D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●</a:t>
              </a:r>
            </a:p>
          </p:txBody>
        </p:sp>
      </p:grpSp>
      <p:sp>
        <p:nvSpPr>
          <p:cNvPr id="34" name="AutoShape 34"/>
          <p:cNvSpPr/>
          <p:nvPr/>
        </p:nvSpPr>
        <p:spPr>
          <a:xfrm rot="5305860">
            <a:off x="7664663" y="3038475"/>
            <a:ext cx="695582" cy="0"/>
          </a:xfrm>
          <a:prstGeom prst="line">
            <a:avLst/>
          </a:prstGeom>
          <a:ln w="9525" cap="rnd">
            <a:solidFill>
              <a:srgbClr val="1F7A6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35" name="Group 35"/>
          <p:cNvGrpSpPr/>
          <p:nvPr/>
        </p:nvGrpSpPr>
        <p:grpSpPr>
          <a:xfrm>
            <a:off x="8755409" y="2900362"/>
            <a:ext cx="457200" cy="285750"/>
            <a:chOff x="0" y="0"/>
            <a:chExt cx="609600" cy="381000"/>
          </a:xfrm>
        </p:grpSpPr>
        <p:sp>
          <p:nvSpPr>
            <p:cNvPr id="36" name="Freeform 36" descr="arrow-right"/>
            <p:cNvSpPr/>
            <p:nvPr/>
          </p:nvSpPr>
          <p:spPr>
            <a:xfrm>
              <a:off x="0" y="0"/>
              <a:ext cx="609600" cy="381000"/>
            </a:xfrm>
            <a:custGeom>
              <a:avLst/>
              <a:gdLst/>
              <a:ahLst/>
              <a:cxnLst/>
              <a:rect l="l" t="t" r="r" b="b"/>
              <a:pathLst>
                <a:path w="609600" h="381000">
                  <a:moveTo>
                    <a:pt x="0" y="0"/>
                  </a:moveTo>
                  <a:lnTo>
                    <a:pt x="609600" y="0"/>
                  </a:lnTo>
                  <a:lnTo>
                    <a:pt x="6096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326909" y="2676525"/>
            <a:ext cx="2495550" cy="733425"/>
            <a:chOff x="0" y="0"/>
            <a:chExt cx="3327400" cy="977900"/>
          </a:xfrm>
        </p:grpSpPr>
        <p:sp>
          <p:nvSpPr>
            <p:cNvPr id="38" name="Freeform 38"/>
            <p:cNvSpPr/>
            <p:nvPr/>
          </p:nvSpPr>
          <p:spPr>
            <a:xfrm>
              <a:off x="19050" y="19050"/>
              <a:ext cx="3289300" cy="939800"/>
            </a:xfrm>
            <a:custGeom>
              <a:avLst/>
              <a:gdLst/>
              <a:ahLst/>
              <a:cxnLst/>
              <a:rect l="l" t="t" r="r" b="b"/>
              <a:pathLst>
                <a:path w="3289300" h="939800">
                  <a:moveTo>
                    <a:pt x="0" y="107950"/>
                  </a:moveTo>
                  <a:cubicBezTo>
                    <a:pt x="0" y="48387"/>
                    <a:pt x="49657" y="0"/>
                    <a:pt x="110998" y="0"/>
                  </a:cubicBezTo>
                  <a:lnTo>
                    <a:pt x="3178302" y="0"/>
                  </a:lnTo>
                  <a:cubicBezTo>
                    <a:pt x="3239643" y="0"/>
                    <a:pt x="3289300" y="48387"/>
                    <a:pt x="3289300" y="107950"/>
                  </a:cubicBezTo>
                  <a:lnTo>
                    <a:pt x="3289300" y="831850"/>
                  </a:lnTo>
                  <a:cubicBezTo>
                    <a:pt x="3289300" y="891413"/>
                    <a:pt x="3239643" y="939800"/>
                    <a:pt x="3178302" y="939800"/>
                  </a:cubicBezTo>
                  <a:lnTo>
                    <a:pt x="110998" y="939800"/>
                  </a:lnTo>
                  <a:cubicBezTo>
                    <a:pt x="49657" y="939800"/>
                    <a:pt x="0" y="891413"/>
                    <a:pt x="0" y="831850"/>
                  </a:cubicBezTo>
                  <a:close/>
                </a:path>
              </a:pathLst>
            </a:custGeom>
            <a:solidFill>
              <a:srgbClr val="FDFCF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39"/>
            <p:cNvSpPr/>
            <p:nvPr/>
          </p:nvSpPr>
          <p:spPr>
            <a:xfrm>
              <a:off x="0" y="0"/>
              <a:ext cx="3327400" cy="978027"/>
            </a:xfrm>
            <a:custGeom>
              <a:avLst/>
              <a:gdLst/>
              <a:ahLst/>
              <a:cxnLst/>
              <a:rect l="l" t="t" r="r" b="b"/>
              <a:pathLst>
                <a:path w="3327400" h="978027">
                  <a:moveTo>
                    <a:pt x="224790" y="0"/>
                  </a:moveTo>
                  <a:lnTo>
                    <a:pt x="339090" y="0"/>
                  </a:lnTo>
                  <a:lnTo>
                    <a:pt x="339090" y="38100"/>
                  </a:lnTo>
                  <a:lnTo>
                    <a:pt x="224790" y="38100"/>
                  </a:lnTo>
                  <a:close/>
                  <a:moveTo>
                    <a:pt x="491490" y="38100"/>
                  </a:moveTo>
                  <a:lnTo>
                    <a:pt x="605790" y="38100"/>
                  </a:lnTo>
                  <a:lnTo>
                    <a:pt x="491490" y="38100"/>
                  </a:lnTo>
                  <a:close/>
                  <a:moveTo>
                    <a:pt x="758190" y="38100"/>
                  </a:moveTo>
                  <a:lnTo>
                    <a:pt x="872490" y="38100"/>
                  </a:lnTo>
                  <a:lnTo>
                    <a:pt x="758190" y="38100"/>
                  </a:lnTo>
                  <a:close/>
                  <a:moveTo>
                    <a:pt x="1024890" y="38100"/>
                  </a:moveTo>
                  <a:lnTo>
                    <a:pt x="1139190" y="38100"/>
                  </a:lnTo>
                  <a:lnTo>
                    <a:pt x="1024890" y="38100"/>
                  </a:lnTo>
                  <a:close/>
                  <a:moveTo>
                    <a:pt x="1291590" y="38100"/>
                  </a:moveTo>
                  <a:lnTo>
                    <a:pt x="1405890" y="38100"/>
                  </a:lnTo>
                  <a:lnTo>
                    <a:pt x="1291590" y="38100"/>
                  </a:lnTo>
                  <a:close/>
                  <a:moveTo>
                    <a:pt x="1558290" y="38100"/>
                  </a:moveTo>
                  <a:lnTo>
                    <a:pt x="1672590" y="38100"/>
                  </a:lnTo>
                  <a:lnTo>
                    <a:pt x="1558290" y="38100"/>
                  </a:lnTo>
                  <a:close/>
                  <a:moveTo>
                    <a:pt x="1824990" y="38100"/>
                  </a:moveTo>
                  <a:lnTo>
                    <a:pt x="1939290" y="38100"/>
                  </a:lnTo>
                  <a:lnTo>
                    <a:pt x="1824990" y="38100"/>
                  </a:lnTo>
                  <a:close/>
                  <a:moveTo>
                    <a:pt x="2091690" y="38100"/>
                  </a:moveTo>
                  <a:lnTo>
                    <a:pt x="2205990" y="38100"/>
                  </a:lnTo>
                  <a:lnTo>
                    <a:pt x="2091690" y="38100"/>
                  </a:lnTo>
                  <a:close/>
                  <a:moveTo>
                    <a:pt x="2358390" y="38100"/>
                  </a:moveTo>
                  <a:lnTo>
                    <a:pt x="2472690" y="38100"/>
                  </a:lnTo>
                  <a:lnTo>
                    <a:pt x="2358390" y="38100"/>
                  </a:lnTo>
                  <a:close/>
                  <a:moveTo>
                    <a:pt x="2625090" y="38100"/>
                  </a:moveTo>
                  <a:lnTo>
                    <a:pt x="2739390" y="38100"/>
                  </a:lnTo>
                  <a:lnTo>
                    <a:pt x="2625090" y="38100"/>
                  </a:lnTo>
                  <a:close/>
                  <a:moveTo>
                    <a:pt x="2891790" y="38100"/>
                  </a:moveTo>
                  <a:lnTo>
                    <a:pt x="3006090" y="38100"/>
                  </a:lnTo>
                  <a:lnTo>
                    <a:pt x="2891790" y="38100"/>
                  </a:lnTo>
                  <a:close/>
                  <a:moveTo>
                    <a:pt x="3158490" y="38100"/>
                  </a:moveTo>
                  <a:lnTo>
                    <a:pt x="3197352" y="38100"/>
                  </a:lnTo>
                  <a:lnTo>
                    <a:pt x="3197352" y="19050"/>
                  </a:lnTo>
                  <a:lnTo>
                    <a:pt x="3197352" y="0"/>
                  </a:lnTo>
                  <a:cubicBezTo>
                    <a:pt x="3228340" y="0"/>
                    <a:pt x="3256788" y="10541"/>
                    <a:pt x="3279140" y="28321"/>
                  </a:cubicBezTo>
                  <a:lnTo>
                    <a:pt x="3255518" y="58166"/>
                  </a:lnTo>
                  <a:cubicBezTo>
                    <a:pt x="3239643" y="45593"/>
                    <a:pt x="3219450" y="38100"/>
                    <a:pt x="3197352" y="38100"/>
                  </a:cubicBezTo>
                  <a:lnTo>
                    <a:pt x="3158490" y="38100"/>
                  </a:lnTo>
                  <a:close/>
                  <a:moveTo>
                    <a:pt x="3327400" y="182880"/>
                  </a:moveTo>
                  <a:lnTo>
                    <a:pt x="3327400" y="297180"/>
                  </a:lnTo>
                  <a:lnTo>
                    <a:pt x="3289300" y="297180"/>
                  </a:lnTo>
                  <a:lnTo>
                    <a:pt x="3289300" y="182880"/>
                  </a:lnTo>
                  <a:close/>
                  <a:moveTo>
                    <a:pt x="3289300" y="449580"/>
                  </a:moveTo>
                  <a:lnTo>
                    <a:pt x="3289300" y="563880"/>
                  </a:lnTo>
                  <a:lnTo>
                    <a:pt x="3251200" y="563880"/>
                  </a:lnTo>
                  <a:lnTo>
                    <a:pt x="3251200" y="449580"/>
                  </a:lnTo>
                  <a:close/>
                  <a:moveTo>
                    <a:pt x="3251200" y="716280"/>
                  </a:moveTo>
                  <a:lnTo>
                    <a:pt x="3251200" y="830580"/>
                  </a:lnTo>
                  <a:lnTo>
                    <a:pt x="3213100" y="830580"/>
                  </a:lnTo>
                  <a:lnTo>
                    <a:pt x="3213100" y="716280"/>
                  </a:lnTo>
                  <a:close/>
                  <a:moveTo>
                    <a:pt x="3128772" y="969899"/>
                  </a:moveTo>
                  <a:cubicBezTo>
                    <a:pt x="3114548" y="975106"/>
                    <a:pt x="3099054" y="978027"/>
                    <a:pt x="3082925" y="978027"/>
                  </a:cubicBezTo>
                  <a:lnTo>
                    <a:pt x="3082925" y="958850"/>
                  </a:lnTo>
                  <a:lnTo>
                    <a:pt x="3082925" y="977900"/>
                  </a:lnTo>
                  <a:lnTo>
                    <a:pt x="3008630" y="977900"/>
                  </a:lnTo>
                  <a:lnTo>
                    <a:pt x="3008630" y="939800"/>
                  </a:lnTo>
                  <a:lnTo>
                    <a:pt x="3082925" y="939800"/>
                  </a:lnTo>
                  <a:cubicBezTo>
                    <a:pt x="3094482" y="939800"/>
                    <a:pt x="3105404" y="937768"/>
                    <a:pt x="3115564" y="934085"/>
                  </a:cubicBezTo>
                  <a:close/>
                  <a:moveTo>
                    <a:pt x="2970657" y="977900"/>
                  </a:moveTo>
                  <a:lnTo>
                    <a:pt x="2856357" y="977900"/>
                  </a:lnTo>
                  <a:lnTo>
                    <a:pt x="2856357" y="939800"/>
                  </a:lnTo>
                  <a:lnTo>
                    <a:pt x="2970657" y="939800"/>
                  </a:lnTo>
                  <a:close/>
                  <a:moveTo>
                    <a:pt x="2703957" y="939800"/>
                  </a:moveTo>
                  <a:lnTo>
                    <a:pt x="2589657" y="939800"/>
                  </a:lnTo>
                  <a:lnTo>
                    <a:pt x="2703957" y="939800"/>
                  </a:lnTo>
                  <a:close/>
                  <a:moveTo>
                    <a:pt x="2437257" y="939800"/>
                  </a:moveTo>
                  <a:lnTo>
                    <a:pt x="2322957" y="939800"/>
                  </a:lnTo>
                  <a:lnTo>
                    <a:pt x="2437257" y="939800"/>
                  </a:lnTo>
                  <a:close/>
                  <a:moveTo>
                    <a:pt x="2170557" y="939800"/>
                  </a:moveTo>
                  <a:lnTo>
                    <a:pt x="2056257" y="939800"/>
                  </a:lnTo>
                  <a:lnTo>
                    <a:pt x="2170557" y="939800"/>
                  </a:lnTo>
                  <a:close/>
                  <a:moveTo>
                    <a:pt x="1903857" y="939800"/>
                  </a:moveTo>
                  <a:lnTo>
                    <a:pt x="1789557" y="939800"/>
                  </a:lnTo>
                  <a:lnTo>
                    <a:pt x="1903857" y="939800"/>
                  </a:lnTo>
                  <a:close/>
                  <a:moveTo>
                    <a:pt x="1637157" y="939800"/>
                  </a:moveTo>
                  <a:lnTo>
                    <a:pt x="1522857" y="939800"/>
                  </a:lnTo>
                  <a:lnTo>
                    <a:pt x="1637157" y="939800"/>
                  </a:lnTo>
                  <a:close/>
                  <a:moveTo>
                    <a:pt x="1370457" y="939800"/>
                  </a:moveTo>
                  <a:lnTo>
                    <a:pt x="1256157" y="939800"/>
                  </a:lnTo>
                  <a:lnTo>
                    <a:pt x="1370457" y="939800"/>
                  </a:lnTo>
                  <a:close/>
                  <a:moveTo>
                    <a:pt x="1103757" y="939800"/>
                  </a:moveTo>
                  <a:lnTo>
                    <a:pt x="989457" y="939800"/>
                  </a:lnTo>
                  <a:lnTo>
                    <a:pt x="1103757" y="939800"/>
                  </a:lnTo>
                  <a:close/>
                  <a:moveTo>
                    <a:pt x="837057" y="939800"/>
                  </a:moveTo>
                  <a:lnTo>
                    <a:pt x="722757" y="939800"/>
                  </a:lnTo>
                  <a:lnTo>
                    <a:pt x="837057" y="939800"/>
                  </a:lnTo>
                  <a:close/>
                  <a:moveTo>
                    <a:pt x="570357" y="939800"/>
                  </a:moveTo>
                  <a:lnTo>
                    <a:pt x="456057" y="939800"/>
                  </a:lnTo>
                  <a:lnTo>
                    <a:pt x="570357" y="939800"/>
                  </a:lnTo>
                  <a:close/>
                  <a:moveTo>
                    <a:pt x="303657" y="939800"/>
                  </a:moveTo>
                  <a:lnTo>
                    <a:pt x="189357" y="939800"/>
                  </a:lnTo>
                  <a:lnTo>
                    <a:pt x="303657" y="939800"/>
                  </a:lnTo>
                  <a:close/>
                  <a:moveTo>
                    <a:pt x="33020" y="935482"/>
                  </a:moveTo>
                  <a:cubicBezTo>
                    <a:pt x="12573" y="913130"/>
                    <a:pt x="0" y="883412"/>
                    <a:pt x="0" y="850900"/>
                  </a:cubicBezTo>
                  <a:lnTo>
                    <a:pt x="0" y="815467"/>
                  </a:lnTo>
                  <a:lnTo>
                    <a:pt x="38100" y="815467"/>
                  </a:lnTo>
                  <a:lnTo>
                    <a:pt x="38100" y="850900"/>
                  </a:lnTo>
                  <a:lnTo>
                    <a:pt x="19050" y="850900"/>
                  </a:lnTo>
                  <a:lnTo>
                    <a:pt x="38100" y="850900"/>
                  </a:lnTo>
                  <a:cubicBezTo>
                    <a:pt x="38100" y="873379"/>
                    <a:pt x="46736" y="894080"/>
                    <a:pt x="61214" y="909828"/>
                  </a:cubicBezTo>
                  <a:close/>
                  <a:moveTo>
                    <a:pt x="0" y="663067"/>
                  </a:moveTo>
                  <a:lnTo>
                    <a:pt x="0" y="548767"/>
                  </a:lnTo>
                  <a:lnTo>
                    <a:pt x="38100" y="548767"/>
                  </a:lnTo>
                  <a:lnTo>
                    <a:pt x="38100" y="663067"/>
                  </a:lnTo>
                  <a:close/>
                  <a:moveTo>
                    <a:pt x="38100" y="396367"/>
                  </a:moveTo>
                  <a:lnTo>
                    <a:pt x="38100" y="282067"/>
                  </a:lnTo>
                  <a:lnTo>
                    <a:pt x="38100" y="396367"/>
                  </a:lnTo>
                  <a:close/>
                  <a:moveTo>
                    <a:pt x="38100" y="129667"/>
                  </a:moveTo>
                  <a:lnTo>
                    <a:pt x="38100" y="127000"/>
                  </a:lnTo>
                  <a:lnTo>
                    <a:pt x="19050" y="127000"/>
                  </a:lnTo>
                  <a:lnTo>
                    <a:pt x="0" y="127000"/>
                  </a:lnTo>
                  <a:cubicBezTo>
                    <a:pt x="0" y="79629"/>
                    <a:pt x="26543" y="38481"/>
                    <a:pt x="65532" y="16764"/>
                  </a:cubicBezTo>
                  <a:lnTo>
                    <a:pt x="84074" y="50038"/>
                  </a:lnTo>
                  <a:cubicBezTo>
                    <a:pt x="56388" y="65532"/>
                    <a:pt x="38100" y="94361"/>
                    <a:pt x="38100" y="127000"/>
                  </a:cubicBezTo>
                  <a:lnTo>
                    <a:pt x="38100" y="129667"/>
                  </a:lnTo>
                  <a:close/>
                </a:path>
              </a:pathLst>
            </a:custGeom>
            <a:solidFill>
              <a:srgbClr val="1F7A6D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9317384" y="2819400"/>
            <a:ext cx="685800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0F1B2D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3</a:t>
            </a:r>
          </a:p>
        </p:txBody>
      </p:sp>
      <p:sp>
        <p:nvSpPr>
          <p:cNvPr id="41" name="AutoShape 41"/>
          <p:cNvSpPr/>
          <p:nvPr/>
        </p:nvSpPr>
        <p:spPr>
          <a:xfrm rot="5305860">
            <a:off x="9626813" y="3038475"/>
            <a:ext cx="695582" cy="0"/>
          </a:xfrm>
          <a:prstGeom prst="line">
            <a:avLst/>
          </a:prstGeom>
          <a:ln w="9525" cap="rnd">
            <a:solidFill>
              <a:srgbClr val="1F7A6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Box 42"/>
          <p:cNvSpPr txBox="1"/>
          <p:nvPr/>
        </p:nvSpPr>
        <p:spPr>
          <a:xfrm>
            <a:off x="9946034" y="2819400"/>
            <a:ext cx="666750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F1B2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</a:t>
            </a:r>
          </a:p>
        </p:txBody>
      </p:sp>
      <p:sp>
        <p:nvSpPr>
          <p:cNvPr id="43" name="AutoShape 43"/>
          <p:cNvSpPr/>
          <p:nvPr/>
        </p:nvSpPr>
        <p:spPr>
          <a:xfrm rot="5305860">
            <a:off x="10236413" y="3038475"/>
            <a:ext cx="695582" cy="0"/>
          </a:xfrm>
          <a:prstGeom prst="line">
            <a:avLst/>
          </a:prstGeom>
          <a:ln w="9525" cap="rnd">
            <a:solidFill>
              <a:srgbClr val="1F7A6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Box 44"/>
          <p:cNvSpPr txBox="1"/>
          <p:nvPr/>
        </p:nvSpPr>
        <p:spPr>
          <a:xfrm>
            <a:off x="10555634" y="2819400"/>
            <a:ext cx="666750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F1B2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11184284" y="2705100"/>
            <a:ext cx="609600" cy="676275"/>
            <a:chOff x="0" y="0"/>
            <a:chExt cx="812800" cy="9017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12800" cy="901700"/>
            </a:xfrm>
            <a:custGeom>
              <a:avLst/>
              <a:gdLst/>
              <a:ahLst/>
              <a:cxnLst/>
              <a:rect l="l" t="t" r="r" b="b"/>
              <a:pathLst>
                <a:path w="812800" h="901700">
                  <a:moveTo>
                    <a:pt x="0" y="0"/>
                  </a:moveTo>
                  <a:lnTo>
                    <a:pt x="812800" y="0"/>
                  </a:lnTo>
                  <a:lnTo>
                    <a:pt x="812800" y="901700"/>
                  </a:lnTo>
                  <a:lnTo>
                    <a:pt x="0" y="901700"/>
                  </a:lnTo>
                  <a:close/>
                </a:path>
              </a:pathLst>
            </a:custGeom>
            <a:solidFill>
              <a:srgbClr val="DCEFEA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812800" cy="93980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1F7A6D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●</a:t>
              </a:r>
            </a:p>
          </p:txBody>
        </p:sp>
      </p:grpSp>
      <p:sp>
        <p:nvSpPr>
          <p:cNvPr id="48" name="AutoShape 48"/>
          <p:cNvSpPr/>
          <p:nvPr/>
        </p:nvSpPr>
        <p:spPr>
          <a:xfrm rot="5305860">
            <a:off x="10846013" y="3038475"/>
            <a:ext cx="695582" cy="0"/>
          </a:xfrm>
          <a:prstGeom prst="line">
            <a:avLst/>
          </a:prstGeom>
          <a:ln w="9525" cap="rnd">
            <a:solidFill>
              <a:srgbClr val="1F7A6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49" name="Group 49"/>
          <p:cNvGrpSpPr/>
          <p:nvPr/>
        </p:nvGrpSpPr>
        <p:grpSpPr>
          <a:xfrm>
            <a:off x="11936759" y="2900362"/>
            <a:ext cx="457200" cy="285750"/>
            <a:chOff x="0" y="0"/>
            <a:chExt cx="609600" cy="381000"/>
          </a:xfrm>
        </p:grpSpPr>
        <p:sp>
          <p:nvSpPr>
            <p:cNvPr id="50" name="Freeform 50" descr="arrow-right"/>
            <p:cNvSpPr/>
            <p:nvPr/>
          </p:nvSpPr>
          <p:spPr>
            <a:xfrm>
              <a:off x="0" y="0"/>
              <a:ext cx="609600" cy="381000"/>
            </a:xfrm>
            <a:custGeom>
              <a:avLst/>
              <a:gdLst/>
              <a:ahLst/>
              <a:cxnLst/>
              <a:rect l="l" t="t" r="r" b="b"/>
              <a:pathLst>
                <a:path w="609600" h="381000">
                  <a:moveTo>
                    <a:pt x="0" y="0"/>
                  </a:moveTo>
                  <a:lnTo>
                    <a:pt x="609600" y="0"/>
                  </a:lnTo>
                  <a:lnTo>
                    <a:pt x="6096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2508259" y="2705100"/>
            <a:ext cx="1059209" cy="676275"/>
            <a:chOff x="0" y="0"/>
            <a:chExt cx="1412278" cy="9017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412240" cy="901700"/>
            </a:xfrm>
            <a:custGeom>
              <a:avLst/>
              <a:gdLst/>
              <a:ahLst/>
              <a:cxnLst/>
              <a:rect l="l" t="t" r="r" b="b"/>
              <a:pathLst>
                <a:path w="1412240" h="9017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1285240" y="0"/>
                  </a:lnTo>
                  <a:cubicBezTo>
                    <a:pt x="1355344" y="0"/>
                    <a:pt x="1412240" y="56896"/>
                    <a:pt x="1412240" y="127000"/>
                  </a:cubicBezTo>
                  <a:lnTo>
                    <a:pt x="1412240" y="774700"/>
                  </a:lnTo>
                  <a:cubicBezTo>
                    <a:pt x="1412240" y="844804"/>
                    <a:pt x="1355344" y="901700"/>
                    <a:pt x="1285240" y="901700"/>
                  </a:cubicBezTo>
                  <a:lnTo>
                    <a:pt x="127000" y="901700"/>
                  </a:lnTo>
                  <a:cubicBezTo>
                    <a:pt x="56896" y="901700"/>
                    <a:pt x="0" y="844804"/>
                    <a:pt x="0" y="774700"/>
                  </a:cubicBezTo>
                  <a:close/>
                </a:path>
              </a:pathLst>
            </a:custGeom>
            <a:solidFill>
              <a:srgbClr val="0F1B2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38100"/>
              <a:ext cx="1412278" cy="939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r>
                <a:rPr lang="en-US" sz="2100" b="1">
                  <a:solidFill>
                    <a:srgbClr val="F5F3EC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NULL</a:t>
              </a:r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1219200" y="3638550"/>
            <a:ext cx="16325088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3B4A5E"/>
                </a:solidFill>
                <a:latin typeface="IBM Plex Sans"/>
                <a:ea typeface="IBM Plex Sans"/>
                <a:cs typeface="IBM Plex Sans"/>
                <a:sym typeface="IBM Plex Sans"/>
              </a:rPr>
              <a:t>Each node holds id | source | destination | next. The dashed node is a newly completed request being attached at the tail.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1219200" y="4257675"/>
            <a:ext cx="5130851" cy="3333750"/>
            <a:chOff x="0" y="0"/>
            <a:chExt cx="6841134" cy="4445000"/>
          </a:xfrm>
        </p:grpSpPr>
        <p:sp>
          <p:nvSpPr>
            <p:cNvPr id="56" name="Freeform 56"/>
            <p:cNvSpPr/>
            <p:nvPr/>
          </p:nvSpPr>
          <p:spPr>
            <a:xfrm>
              <a:off x="6350" y="6350"/>
              <a:ext cx="6828409" cy="4432300"/>
            </a:xfrm>
            <a:custGeom>
              <a:avLst/>
              <a:gdLst/>
              <a:ahLst/>
              <a:cxnLst/>
              <a:rect l="l" t="t" r="r" b="b"/>
              <a:pathLst>
                <a:path w="6828409" h="4432300">
                  <a:moveTo>
                    <a:pt x="0" y="196850"/>
                  </a:moveTo>
                  <a:cubicBezTo>
                    <a:pt x="0" y="88138"/>
                    <a:pt x="88265" y="0"/>
                    <a:pt x="196977" y="0"/>
                  </a:cubicBezTo>
                  <a:lnTo>
                    <a:pt x="6631432" y="0"/>
                  </a:lnTo>
                  <a:cubicBezTo>
                    <a:pt x="6740271" y="0"/>
                    <a:pt x="6828409" y="88138"/>
                    <a:pt x="6828409" y="196850"/>
                  </a:cubicBezTo>
                  <a:lnTo>
                    <a:pt x="6828409" y="4235450"/>
                  </a:lnTo>
                  <a:cubicBezTo>
                    <a:pt x="6828409" y="4344162"/>
                    <a:pt x="6740144" y="4432300"/>
                    <a:pt x="6631432" y="4432300"/>
                  </a:cubicBezTo>
                  <a:lnTo>
                    <a:pt x="196977" y="4432300"/>
                  </a:lnTo>
                  <a:cubicBezTo>
                    <a:pt x="88265" y="4432300"/>
                    <a:pt x="0" y="4344162"/>
                    <a:pt x="0" y="4235450"/>
                  </a:cubicBezTo>
                  <a:close/>
                </a:path>
              </a:pathLst>
            </a:custGeom>
            <a:solidFill>
              <a:srgbClr val="FDFCF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Freeform 57"/>
            <p:cNvSpPr/>
            <p:nvPr/>
          </p:nvSpPr>
          <p:spPr>
            <a:xfrm>
              <a:off x="0" y="0"/>
              <a:ext cx="6841109" cy="4445000"/>
            </a:xfrm>
            <a:custGeom>
              <a:avLst/>
              <a:gdLst/>
              <a:ahLst/>
              <a:cxnLst/>
              <a:rect l="l" t="t" r="r" b="b"/>
              <a:pathLst>
                <a:path w="6841109" h="4445000">
                  <a:moveTo>
                    <a:pt x="0" y="203200"/>
                  </a:moveTo>
                  <a:cubicBezTo>
                    <a:pt x="0" y="90932"/>
                    <a:pt x="91059" y="0"/>
                    <a:pt x="203327" y="0"/>
                  </a:cubicBezTo>
                  <a:lnTo>
                    <a:pt x="6637782" y="0"/>
                  </a:lnTo>
                  <a:lnTo>
                    <a:pt x="6637782" y="6350"/>
                  </a:lnTo>
                  <a:lnTo>
                    <a:pt x="6637782" y="0"/>
                  </a:lnTo>
                  <a:cubicBezTo>
                    <a:pt x="6750050" y="0"/>
                    <a:pt x="6841109" y="90932"/>
                    <a:pt x="6841109" y="203200"/>
                  </a:cubicBezTo>
                  <a:lnTo>
                    <a:pt x="6834759" y="203200"/>
                  </a:lnTo>
                  <a:lnTo>
                    <a:pt x="6841109" y="203200"/>
                  </a:lnTo>
                  <a:lnTo>
                    <a:pt x="6841109" y="4241800"/>
                  </a:lnTo>
                  <a:lnTo>
                    <a:pt x="6834759" y="4241800"/>
                  </a:lnTo>
                  <a:lnTo>
                    <a:pt x="6841109" y="4241800"/>
                  </a:lnTo>
                  <a:cubicBezTo>
                    <a:pt x="6841109" y="4354068"/>
                    <a:pt x="6750050" y="4445000"/>
                    <a:pt x="6637782" y="4445000"/>
                  </a:cubicBezTo>
                  <a:lnTo>
                    <a:pt x="6637782" y="4438650"/>
                  </a:lnTo>
                  <a:lnTo>
                    <a:pt x="6637782" y="4445000"/>
                  </a:lnTo>
                  <a:lnTo>
                    <a:pt x="203327" y="4445000"/>
                  </a:lnTo>
                  <a:lnTo>
                    <a:pt x="203327" y="4438650"/>
                  </a:lnTo>
                  <a:lnTo>
                    <a:pt x="203327" y="4445000"/>
                  </a:lnTo>
                  <a:cubicBezTo>
                    <a:pt x="91059" y="4445000"/>
                    <a:pt x="0" y="4354068"/>
                    <a:pt x="0" y="4241800"/>
                  </a:cubicBezTo>
                  <a:lnTo>
                    <a:pt x="0" y="203200"/>
                  </a:lnTo>
                  <a:lnTo>
                    <a:pt x="6350" y="203200"/>
                  </a:lnTo>
                  <a:lnTo>
                    <a:pt x="0" y="203200"/>
                  </a:lnTo>
                  <a:moveTo>
                    <a:pt x="12700" y="203200"/>
                  </a:moveTo>
                  <a:lnTo>
                    <a:pt x="12700" y="4241800"/>
                  </a:lnTo>
                  <a:lnTo>
                    <a:pt x="6350" y="4241800"/>
                  </a:lnTo>
                  <a:lnTo>
                    <a:pt x="12700" y="4241800"/>
                  </a:lnTo>
                  <a:cubicBezTo>
                    <a:pt x="12700" y="4346956"/>
                    <a:pt x="98044" y="4432300"/>
                    <a:pt x="203327" y="4432300"/>
                  </a:cubicBezTo>
                  <a:lnTo>
                    <a:pt x="6637782" y="4432300"/>
                  </a:lnTo>
                  <a:cubicBezTo>
                    <a:pt x="6743064" y="4432300"/>
                    <a:pt x="6828409" y="4346956"/>
                    <a:pt x="6828409" y="4241800"/>
                  </a:cubicBezTo>
                  <a:lnTo>
                    <a:pt x="6828409" y="203200"/>
                  </a:lnTo>
                  <a:cubicBezTo>
                    <a:pt x="6828409" y="98044"/>
                    <a:pt x="6743064" y="12700"/>
                    <a:pt x="6637782" y="12700"/>
                  </a:cubicBezTo>
                  <a:lnTo>
                    <a:pt x="203327" y="12700"/>
                  </a:lnTo>
                  <a:lnTo>
                    <a:pt x="203327" y="6350"/>
                  </a:lnTo>
                  <a:lnTo>
                    <a:pt x="203327" y="12700"/>
                  </a:lnTo>
                  <a:cubicBezTo>
                    <a:pt x="98044" y="12700"/>
                    <a:pt x="12700" y="98044"/>
                    <a:pt x="12700" y="203200"/>
                  </a:cubicBezTo>
                  <a:close/>
                </a:path>
              </a:pathLst>
            </a:custGeom>
            <a:solidFill>
              <a:srgbClr val="DAD6C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1533525" y="4572000"/>
            <a:ext cx="4637265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0F1B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Why a separate list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533525" y="5000625"/>
            <a:ext cx="4637265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B4A5E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queue shrinks and serves requests in order. The history only grows and is read back.</a:t>
            </a:r>
          </a:p>
        </p:txBody>
      </p:sp>
      <p:grpSp>
        <p:nvGrpSpPr>
          <p:cNvPr id="60" name="Group 60"/>
          <p:cNvGrpSpPr/>
          <p:nvPr/>
        </p:nvGrpSpPr>
        <p:grpSpPr>
          <a:xfrm>
            <a:off x="6578651" y="4257675"/>
            <a:ext cx="5130851" cy="3333750"/>
            <a:chOff x="0" y="0"/>
            <a:chExt cx="6841134" cy="4445000"/>
          </a:xfrm>
        </p:grpSpPr>
        <p:sp>
          <p:nvSpPr>
            <p:cNvPr id="61" name="Freeform 61"/>
            <p:cNvSpPr/>
            <p:nvPr/>
          </p:nvSpPr>
          <p:spPr>
            <a:xfrm>
              <a:off x="6350" y="6350"/>
              <a:ext cx="6828409" cy="4432300"/>
            </a:xfrm>
            <a:custGeom>
              <a:avLst/>
              <a:gdLst/>
              <a:ahLst/>
              <a:cxnLst/>
              <a:rect l="l" t="t" r="r" b="b"/>
              <a:pathLst>
                <a:path w="6828409" h="4432300">
                  <a:moveTo>
                    <a:pt x="0" y="196850"/>
                  </a:moveTo>
                  <a:cubicBezTo>
                    <a:pt x="0" y="88138"/>
                    <a:pt x="88265" y="0"/>
                    <a:pt x="196977" y="0"/>
                  </a:cubicBezTo>
                  <a:lnTo>
                    <a:pt x="6631432" y="0"/>
                  </a:lnTo>
                  <a:cubicBezTo>
                    <a:pt x="6740271" y="0"/>
                    <a:pt x="6828409" y="88138"/>
                    <a:pt x="6828409" y="196850"/>
                  </a:cubicBezTo>
                  <a:lnTo>
                    <a:pt x="6828409" y="4235450"/>
                  </a:lnTo>
                  <a:cubicBezTo>
                    <a:pt x="6828409" y="4344162"/>
                    <a:pt x="6740144" y="4432300"/>
                    <a:pt x="6631432" y="4432300"/>
                  </a:cubicBezTo>
                  <a:lnTo>
                    <a:pt x="196977" y="4432300"/>
                  </a:lnTo>
                  <a:cubicBezTo>
                    <a:pt x="88265" y="4432300"/>
                    <a:pt x="0" y="4344162"/>
                    <a:pt x="0" y="4235450"/>
                  </a:cubicBezTo>
                  <a:close/>
                </a:path>
              </a:pathLst>
            </a:custGeom>
            <a:solidFill>
              <a:srgbClr val="FDFCF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Freeform 62"/>
            <p:cNvSpPr/>
            <p:nvPr/>
          </p:nvSpPr>
          <p:spPr>
            <a:xfrm>
              <a:off x="0" y="0"/>
              <a:ext cx="6841109" cy="4445000"/>
            </a:xfrm>
            <a:custGeom>
              <a:avLst/>
              <a:gdLst/>
              <a:ahLst/>
              <a:cxnLst/>
              <a:rect l="l" t="t" r="r" b="b"/>
              <a:pathLst>
                <a:path w="6841109" h="4445000">
                  <a:moveTo>
                    <a:pt x="0" y="203200"/>
                  </a:moveTo>
                  <a:cubicBezTo>
                    <a:pt x="0" y="90932"/>
                    <a:pt x="91059" y="0"/>
                    <a:pt x="203327" y="0"/>
                  </a:cubicBezTo>
                  <a:lnTo>
                    <a:pt x="6637782" y="0"/>
                  </a:lnTo>
                  <a:lnTo>
                    <a:pt x="6637782" y="6350"/>
                  </a:lnTo>
                  <a:lnTo>
                    <a:pt x="6637782" y="0"/>
                  </a:lnTo>
                  <a:cubicBezTo>
                    <a:pt x="6750050" y="0"/>
                    <a:pt x="6841109" y="90932"/>
                    <a:pt x="6841109" y="203200"/>
                  </a:cubicBezTo>
                  <a:lnTo>
                    <a:pt x="6834759" y="203200"/>
                  </a:lnTo>
                  <a:lnTo>
                    <a:pt x="6841109" y="203200"/>
                  </a:lnTo>
                  <a:lnTo>
                    <a:pt x="6841109" y="4241800"/>
                  </a:lnTo>
                  <a:lnTo>
                    <a:pt x="6834759" y="4241800"/>
                  </a:lnTo>
                  <a:lnTo>
                    <a:pt x="6841109" y="4241800"/>
                  </a:lnTo>
                  <a:cubicBezTo>
                    <a:pt x="6841109" y="4354068"/>
                    <a:pt x="6750050" y="4445000"/>
                    <a:pt x="6637782" y="4445000"/>
                  </a:cubicBezTo>
                  <a:lnTo>
                    <a:pt x="6637782" y="4438650"/>
                  </a:lnTo>
                  <a:lnTo>
                    <a:pt x="6637782" y="4445000"/>
                  </a:lnTo>
                  <a:lnTo>
                    <a:pt x="203327" y="4445000"/>
                  </a:lnTo>
                  <a:lnTo>
                    <a:pt x="203327" y="4438650"/>
                  </a:lnTo>
                  <a:lnTo>
                    <a:pt x="203327" y="4445000"/>
                  </a:lnTo>
                  <a:cubicBezTo>
                    <a:pt x="91059" y="4445000"/>
                    <a:pt x="0" y="4354068"/>
                    <a:pt x="0" y="4241800"/>
                  </a:cubicBezTo>
                  <a:lnTo>
                    <a:pt x="0" y="203200"/>
                  </a:lnTo>
                  <a:lnTo>
                    <a:pt x="6350" y="203200"/>
                  </a:lnTo>
                  <a:lnTo>
                    <a:pt x="0" y="203200"/>
                  </a:lnTo>
                  <a:moveTo>
                    <a:pt x="12700" y="203200"/>
                  </a:moveTo>
                  <a:lnTo>
                    <a:pt x="12700" y="4241800"/>
                  </a:lnTo>
                  <a:lnTo>
                    <a:pt x="6350" y="4241800"/>
                  </a:lnTo>
                  <a:lnTo>
                    <a:pt x="12700" y="4241800"/>
                  </a:lnTo>
                  <a:cubicBezTo>
                    <a:pt x="12700" y="4346956"/>
                    <a:pt x="98044" y="4432300"/>
                    <a:pt x="203327" y="4432300"/>
                  </a:cubicBezTo>
                  <a:lnTo>
                    <a:pt x="6637782" y="4432300"/>
                  </a:lnTo>
                  <a:cubicBezTo>
                    <a:pt x="6743064" y="4432300"/>
                    <a:pt x="6828409" y="4346956"/>
                    <a:pt x="6828409" y="4241800"/>
                  </a:cubicBezTo>
                  <a:lnTo>
                    <a:pt x="6828409" y="203200"/>
                  </a:lnTo>
                  <a:cubicBezTo>
                    <a:pt x="6828409" y="98044"/>
                    <a:pt x="6743064" y="12700"/>
                    <a:pt x="6637782" y="12700"/>
                  </a:cubicBezTo>
                  <a:lnTo>
                    <a:pt x="203327" y="12700"/>
                  </a:lnTo>
                  <a:lnTo>
                    <a:pt x="203327" y="6350"/>
                  </a:lnTo>
                  <a:lnTo>
                    <a:pt x="203327" y="12700"/>
                  </a:lnTo>
                  <a:cubicBezTo>
                    <a:pt x="98044" y="12700"/>
                    <a:pt x="12700" y="98044"/>
                    <a:pt x="12700" y="203200"/>
                  </a:cubicBezTo>
                  <a:close/>
                </a:path>
              </a:pathLst>
            </a:custGeom>
            <a:solidFill>
              <a:srgbClr val="DAD6C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6892976" y="4572000"/>
            <a:ext cx="4637265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0F1B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Adding a completed request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6978253" y="5000625"/>
            <a:ext cx="4540558" cy="231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0048" lvl="1" indent="-190024" algn="l">
              <a:lnSpc>
                <a:spcPts val="2940"/>
              </a:lnSpc>
              <a:buAutoNum type="arabicPeriod"/>
            </a:pPr>
            <a:r>
              <a:rPr lang="en-US" sz="2100">
                <a:solidFill>
                  <a:srgbClr val="3B4A5E"/>
                </a:solidFill>
                <a:latin typeface="IBM Plex Sans"/>
                <a:ea typeface="IBM Plex Sans"/>
                <a:cs typeface="IBM Plex Sans"/>
                <a:sym typeface="IBM Plex Sans"/>
              </a:rPr>
              <a:t>Allocate a node (malloc)</a:t>
            </a:r>
          </a:p>
          <a:p>
            <a:pPr marL="380048" lvl="1" indent="-190024" algn="l">
              <a:lnSpc>
                <a:spcPts val="2940"/>
              </a:lnSpc>
              <a:buAutoNum type="arabicPeriod"/>
            </a:pPr>
            <a:r>
              <a:rPr lang="en-US" sz="2100">
                <a:solidFill>
                  <a:srgbClr val="3B4A5E"/>
                </a:solidFill>
                <a:latin typeface="IBM Plex Sans"/>
                <a:ea typeface="IBM Plex Sans"/>
                <a:cs typeface="IBM Plex Sans"/>
                <a:sym typeface="IBM Plex Sans"/>
              </a:rPr>
              <a:t>Store id, source, destination; next = NULL</a:t>
            </a:r>
          </a:p>
          <a:p>
            <a:pPr marL="380048" lvl="1" indent="-190024" algn="l">
              <a:lnSpc>
                <a:spcPts val="2940"/>
              </a:lnSpc>
              <a:buAutoNum type="arabicPeriod"/>
            </a:pPr>
            <a:r>
              <a:rPr lang="en-US" sz="2100">
                <a:solidFill>
                  <a:srgbClr val="3B4A5E"/>
                </a:solidFill>
                <a:latin typeface="IBM Plex Sans"/>
                <a:ea typeface="IBM Plex Sans"/>
                <a:cs typeface="IBM Plex Sans"/>
                <a:sym typeface="IBM Plex Sans"/>
              </a:rPr>
              <a:t>Empty list: the node is head</a:t>
            </a:r>
          </a:p>
          <a:p>
            <a:pPr marL="380048" lvl="1" indent="-190024" algn="l">
              <a:lnSpc>
                <a:spcPts val="2940"/>
              </a:lnSpc>
              <a:buAutoNum type="arabicPeriod"/>
            </a:pPr>
            <a:r>
              <a:rPr lang="en-US" sz="2100">
                <a:solidFill>
                  <a:srgbClr val="3B4A5E"/>
                </a:solidFill>
                <a:latin typeface="IBM Plex Sans"/>
                <a:ea typeface="IBM Plex Sans"/>
                <a:cs typeface="IBM Plex Sans"/>
                <a:sym typeface="IBM Plex Sans"/>
              </a:rPr>
              <a:t>Else walk to the last node and attach</a:t>
            </a:r>
          </a:p>
        </p:txBody>
      </p:sp>
      <p:grpSp>
        <p:nvGrpSpPr>
          <p:cNvPr id="65" name="Group 65"/>
          <p:cNvGrpSpPr/>
          <p:nvPr/>
        </p:nvGrpSpPr>
        <p:grpSpPr>
          <a:xfrm>
            <a:off x="11938102" y="4257675"/>
            <a:ext cx="5130851" cy="3333750"/>
            <a:chOff x="0" y="0"/>
            <a:chExt cx="6841134" cy="4445000"/>
          </a:xfrm>
        </p:grpSpPr>
        <p:sp>
          <p:nvSpPr>
            <p:cNvPr id="66" name="Freeform 66"/>
            <p:cNvSpPr/>
            <p:nvPr/>
          </p:nvSpPr>
          <p:spPr>
            <a:xfrm>
              <a:off x="6350" y="6350"/>
              <a:ext cx="6828409" cy="4432300"/>
            </a:xfrm>
            <a:custGeom>
              <a:avLst/>
              <a:gdLst/>
              <a:ahLst/>
              <a:cxnLst/>
              <a:rect l="l" t="t" r="r" b="b"/>
              <a:pathLst>
                <a:path w="6828409" h="4432300">
                  <a:moveTo>
                    <a:pt x="0" y="196850"/>
                  </a:moveTo>
                  <a:cubicBezTo>
                    <a:pt x="0" y="88138"/>
                    <a:pt x="88265" y="0"/>
                    <a:pt x="196977" y="0"/>
                  </a:cubicBezTo>
                  <a:lnTo>
                    <a:pt x="6631432" y="0"/>
                  </a:lnTo>
                  <a:cubicBezTo>
                    <a:pt x="6740271" y="0"/>
                    <a:pt x="6828409" y="88138"/>
                    <a:pt x="6828409" y="196850"/>
                  </a:cubicBezTo>
                  <a:lnTo>
                    <a:pt x="6828409" y="4235450"/>
                  </a:lnTo>
                  <a:cubicBezTo>
                    <a:pt x="6828409" y="4344162"/>
                    <a:pt x="6740144" y="4432300"/>
                    <a:pt x="6631432" y="4432300"/>
                  </a:cubicBezTo>
                  <a:lnTo>
                    <a:pt x="196977" y="4432300"/>
                  </a:lnTo>
                  <a:cubicBezTo>
                    <a:pt x="88265" y="4432300"/>
                    <a:pt x="0" y="4344162"/>
                    <a:pt x="0" y="4235450"/>
                  </a:cubicBezTo>
                  <a:close/>
                </a:path>
              </a:pathLst>
            </a:custGeom>
            <a:solidFill>
              <a:srgbClr val="FDFCF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7" name="Freeform 67"/>
            <p:cNvSpPr/>
            <p:nvPr/>
          </p:nvSpPr>
          <p:spPr>
            <a:xfrm>
              <a:off x="0" y="0"/>
              <a:ext cx="6841109" cy="4445000"/>
            </a:xfrm>
            <a:custGeom>
              <a:avLst/>
              <a:gdLst/>
              <a:ahLst/>
              <a:cxnLst/>
              <a:rect l="l" t="t" r="r" b="b"/>
              <a:pathLst>
                <a:path w="6841109" h="4445000">
                  <a:moveTo>
                    <a:pt x="0" y="203200"/>
                  </a:moveTo>
                  <a:cubicBezTo>
                    <a:pt x="0" y="90932"/>
                    <a:pt x="91059" y="0"/>
                    <a:pt x="203327" y="0"/>
                  </a:cubicBezTo>
                  <a:lnTo>
                    <a:pt x="6637782" y="0"/>
                  </a:lnTo>
                  <a:lnTo>
                    <a:pt x="6637782" y="6350"/>
                  </a:lnTo>
                  <a:lnTo>
                    <a:pt x="6637782" y="0"/>
                  </a:lnTo>
                  <a:cubicBezTo>
                    <a:pt x="6750050" y="0"/>
                    <a:pt x="6841109" y="90932"/>
                    <a:pt x="6841109" y="203200"/>
                  </a:cubicBezTo>
                  <a:lnTo>
                    <a:pt x="6834759" y="203200"/>
                  </a:lnTo>
                  <a:lnTo>
                    <a:pt x="6841109" y="203200"/>
                  </a:lnTo>
                  <a:lnTo>
                    <a:pt x="6841109" y="4241800"/>
                  </a:lnTo>
                  <a:lnTo>
                    <a:pt x="6834759" y="4241800"/>
                  </a:lnTo>
                  <a:lnTo>
                    <a:pt x="6841109" y="4241800"/>
                  </a:lnTo>
                  <a:cubicBezTo>
                    <a:pt x="6841109" y="4354068"/>
                    <a:pt x="6750050" y="4445000"/>
                    <a:pt x="6637782" y="4445000"/>
                  </a:cubicBezTo>
                  <a:lnTo>
                    <a:pt x="6637782" y="4438650"/>
                  </a:lnTo>
                  <a:lnTo>
                    <a:pt x="6637782" y="4445000"/>
                  </a:lnTo>
                  <a:lnTo>
                    <a:pt x="203327" y="4445000"/>
                  </a:lnTo>
                  <a:lnTo>
                    <a:pt x="203327" y="4438650"/>
                  </a:lnTo>
                  <a:lnTo>
                    <a:pt x="203327" y="4445000"/>
                  </a:lnTo>
                  <a:cubicBezTo>
                    <a:pt x="91059" y="4445000"/>
                    <a:pt x="0" y="4354068"/>
                    <a:pt x="0" y="4241800"/>
                  </a:cubicBezTo>
                  <a:lnTo>
                    <a:pt x="0" y="203200"/>
                  </a:lnTo>
                  <a:lnTo>
                    <a:pt x="6350" y="203200"/>
                  </a:lnTo>
                  <a:lnTo>
                    <a:pt x="0" y="203200"/>
                  </a:lnTo>
                  <a:moveTo>
                    <a:pt x="12700" y="203200"/>
                  </a:moveTo>
                  <a:lnTo>
                    <a:pt x="12700" y="4241800"/>
                  </a:lnTo>
                  <a:lnTo>
                    <a:pt x="6350" y="4241800"/>
                  </a:lnTo>
                  <a:lnTo>
                    <a:pt x="12700" y="4241800"/>
                  </a:lnTo>
                  <a:cubicBezTo>
                    <a:pt x="12700" y="4346956"/>
                    <a:pt x="98044" y="4432300"/>
                    <a:pt x="203327" y="4432300"/>
                  </a:cubicBezTo>
                  <a:lnTo>
                    <a:pt x="6637782" y="4432300"/>
                  </a:lnTo>
                  <a:cubicBezTo>
                    <a:pt x="6743064" y="4432300"/>
                    <a:pt x="6828409" y="4346956"/>
                    <a:pt x="6828409" y="4241800"/>
                  </a:cubicBezTo>
                  <a:lnTo>
                    <a:pt x="6828409" y="203200"/>
                  </a:lnTo>
                  <a:cubicBezTo>
                    <a:pt x="6828409" y="98044"/>
                    <a:pt x="6743064" y="12700"/>
                    <a:pt x="6637782" y="12700"/>
                  </a:cubicBezTo>
                  <a:lnTo>
                    <a:pt x="203327" y="12700"/>
                  </a:lnTo>
                  <a:lnTo>
                    <a:pt x="203327" y="6350"/>
                  </a:lnTo>
                  <a:lnTo>
                    <a:pt x="203327" y="12700"/>
                  </a:lnTo>
                  <a:cubicBezTo>
                    <a:pt x="98044" y="12700"/>
                    <a:pt x="12700" y="98044"/>
                    <a:pt x="12700" y="203200"/>
                  </a:cubicBezTo>
                  <a:close/>
                </a:path>
              </a:pathLst>
            </a:custGeom>
            <a:solidFill>
              <a:srgbClr val="DAD6C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8" name="TextBox 68"/>
          <p:cNvSpPr txBox="1"/>
          <p:nvPr/>
        </p:nvSpPr>
        <p:spPr>
          <a:xfrm>
            <a:off x="12252427" y="4572000"/>
            <a:ext cx="4637265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0F1B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Traversal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2252427" y="5000625"/>
            <a:ext cx="4637265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B4A5E"/>
                </a:solidFill>
                <a:latin typeface="IBM Plex Sans"/>
                <a:ea typeface="IBM Plex Sans"/>
                <a:cs typeface="IBM Plex Sans"/>
                <a:sym typeface="IBM Plex Sans"/>
              </a:rPr>
              <a:t>Start at head and follow next until NULL. With no nodes, print “No completed requests”.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219200" y="9324975"/>
            <a:ext cx="16325088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B7A8F"/>
                </a:solidFill>
                <a:latin typeface="IBM Plex Sans"/>
                <a:ea typeface="IBM Plex Sans"/>
                <a:cs typeface="IBM Plex Sans"/>
                <a:sym typeface="IBM Plex Sans"/>
              </a:rPr>
              <a:t>Elevator Request Management System ·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19200" y="1181100"/>
            <a:ext cx="16325088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225">
                <a:solidFill>
                  <a:srgbClr val="E8A3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CONTROL FLOW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19200" y="1819275"/>
            <a:ext cx="16325088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4200" b="1">
                <a:solidFill>
                  <a:srgbClr val="F5F3E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System Algorithm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28700" y="2676525"/>
            <a:ext cx="7027236" cy="4048601"/>
            <a:chOff x="0" y="0"/>
            <a:chExt cx="9369648" cy="5398135"/>
          </a:xfrm>
        </p:grpSpPr>
        <p:sp>
          <p:nvSpPr>
            <p:cNvPr id="5" name="Freeform 5"/>
            <p:cNvSpPr/>
            <p:nvPr/>
          </p:nvSpPr>
          <p:spPr>
            <a:xfrm>
              <a:off x="8366" y="5475"/>
              <a:ext cx="9352916" cy="5387186"/>
            </a:xfrm>
            <a:custGeom>
              <a:avLst/>
              <a:gdLst/>
              <a:ahLst/>
              <a:cxnLst/>
              <a:rect l="l" t="t" r="r" b="b"/>
              <a:pathLst>
                <a:path w="9352916" h="5387186">
                  <a:moveTo>
                    <a:pt x="0" y="169718"/>
                  </a:moveTo>
                  <a:cubicBezTo>
                    <a:pt x="0" y="75990"/>
                    <a:pt x="116116" y="0"/>
                    <a:pt x="259338" y="0"/>
                  </a:cubicBezTo>
                  <a:lnTo>
                    <a:pt x="9093578" y="0"/>
                  </a:lnTo>
                  <a:cubicBezTo>
                    <a:pt x="9236799" y="0"/>
                    <a:pt x="9352916" y="75990"/>
                    <a:pt x="9352916" y="169718"/>
                  </a:cubicBezTo>
                  <a:lnTo>
                    <a:pt x="9352916" y="5217467"/>
                  </a:lnTo>
                  <a:cubicBezTo>
                    <a:pt x="9352916" y="5311195"/>
                    <a:pt x="9236799" y="5387185"/>
                    <a:pt x="9093578" y="5387185"/>
                  </a:cubicBezTo>
                  <a:lnTo>
                    <a:pt x="259338" y="5387185"/>
                  </a:lnTo>
                  <a:cubicBezTo>
                    <a:pt x="116116" y="5387185"/>
                    <a:pt x="0" y="5311195"/>
                    <a:pt x="0" y="5217467"/>
                  </a:cubicBezTo>
                  <a:close/>
                </a:path>
              </a:pathLst>
            </a:custGeom>
            <a:solidFill>
              <a:srgbClr val="1A2A4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Freeform 6"/>
            <p:cNvSpPr/>
            <p:nvPr/>
          </p:nvSpPr>
          <p:spPr>
            <a:xfrm>
              <a:off x="0" y="0"/>
              <a:ext cx="9369648" cy="5398135"/>
            </a:xfrm>
            <a:custGeom>
              <a:avLst/>
              <a:gdLst/>
              <a:ahLst/>
              <a:cxnLst/>
              <a:rect l="l" t="t" r="r" b="b"/>
              <a:pathLst>
                <a:path w="9369648" h="5398135">
                  <a:moveTo>
                    <a:pt x="0" y="175193"/>
                  </a:moveTo>
                  <a:cubicBezTo>
                    <a:pt x="0" y="78399"/>
                    <a:pt x="119798" y="0"/>
                    <a:pt x="267704" y="0"/>
                  </a:cubicBezTo>
                  <a:lnTo>
                    <a:pt x="9101944" y="0"/>
                  </a:lnTo>
                  <a:lnTo>
                    <a:pt x="9101944" y="5475"/>
                  </a:lnTo>
                  <a:lnTo>
                    <a:pt x="9101944" y="0"/>
                  </a:lnTo>
                  <a:cubicBezTo>
                    <a:pt x="9249851" y="0"/>
                    <a:pt x="9369648" y="78399"/>
                    <a:pt x="9369648" y="175193"/>
                  </a:cubicBezTo>
                  <a:lnTo>
                    <a:pt x="9361282" y="175193"/>
                  </a:lnTo>
                  <a:lnTo>
                    <a:pt x="9369648" y="175193"/>
                  </a:lnTo>
                  <a:lnTo>
                    <a:pt x="9369648" y="5222942"/>
                  </a:lnTo>
                  <a:lnTo>
                    <a:pt x="9361282" y="5222942"/>
                  </a:lnTo>
                  <a:lnTo>
                    <a:pt x="9369648" y="5222942"/>
                  </a:lnTo>
                  <a:cubicBezTo>
                    <a:pt x="9369648" y="5319736"/>
                    <a:pt x="9249851" y="5398135"/>
                    <a:pt x="9101944" y="5398135"/>
                  </a:cubicBezTo>
                  <a:lnTo>
                    <a:pt x="9101944" y="5392660"/>
                  </a:lnTo>
                  <a:lnTo>
                    <a:pt x="9101944" y="5398135"/>
                  </a:lnTo>
                  <a:lnTo>
                    <a:pt x="267704" y="5398135"/>
                  </a:lnTo>
                  <a:lnTo>
                    <a:pt x="267704" y="5392660"/>
                  </a:lnTo>
                  <a:lnTo>
                    <a:pt x="267704" y="5398135"/>
                  </a:lnTo>
                  <a:cubicBezTo>
                    <a:pt x="119798" y="5398135"/>
                    <a:pt x="0" y="5319736"/>
                    <a:pt x="0" y="5222942"/>
                  </a:cubicBezTo>
                  <a:lnTo>
                    <a:pt x="0" y="175193"/>
                  </a:lnTo>
                  <a:lnTo>
                    <a:pt x="8366" y="175193"/>
                  </a:lnTo>
                  <a:lnTo>
                    <a:pt x="0" y="175193"/>
                  </a:lnTo>
                  <a:moveTo>
                    <a:pt x="16732" y="175193"/>
                  </a:moveTo>
                  <a:lnTo>
                    <a:pt x="16732" y="5222942"/>
                  </a:lnTo>
                  <a:lnTo>
                    <a:pt x="8366" y="5222942"/>
                  </a:lnTo>
                  <a:lnTo>
                    <a:pt x="16732" y="5222942"/>
                  </a:lnTo>
                  <a:cubicBezTo>
                    <a:pt x="16732" y="5313604"/>
                    <a:pt x="129167" y="5387186"/>
                    <a:pt x="267704" y="5387186"/>
                  </a:cubicBezTo>
                  <a:lnTo>
                    <a:pt x="9101944" y="5387186"/>
                  </a:lnTo>
                  <a:cubicBezTo>
                    <a:pt x="9240648" y="5387186"/>
                    <a:pt x="9352917" y="5313714"/>
                    <a:pt x="9352917" y="5222942"/>
                  </a:cubicBezTo>
                  <a:lnTo>
                    <a:pt x="9352917" y="175193"/>
                  </a:lnTo>
                  <a:cubicBezTo>
                    <a:pt x="9352917" y="84531"/>
                    <a:pt x="9240481" y="10950"/>
                    <a:pt x="9101944" y="10950"/>
                  </a:cubicBezTo>
                  <a:lnTo>
                    <a:pt x="267704" y="10950"/>
                  </a:lnTo>
                  <a:lnTo>
                    <a:pt x="267704" y="5475"/>
                  </a:lnTo>
                  <a:lnTo>
                    <a:pt x="267704" y="10950"/>
                  </a:lnTo>
                  <a:cubicBezTo>
                    <a:pt x="129167" y="10950"/>
                    <a:pt x="16732" y="84421"/>
                    <a:pt x="16732" y="175193"/>
                  </a:cubicBezTo>
                  <a:close/>
                </a:path>
              </a:pathLst>
            </a:custGeom>
            <a:solidFill>
              <a:srgbClr val="2C4062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533525" y="2990850"/>
            <a:ext cx="48465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5F3E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Setup: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533525" y="3552825"/>
            <a:ext cx="419100" cy="409575"/>
            <a:chOff x="0" y="0"/>
            <a:chExt cx="558800" cy="546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58800" cy="546100"/>
            </a:xfrm>
            <a:custGeom>
              <a:avLst/>
              <a:gdLst/>
              <a:ahLst/>
              <a:cxnLst/>
              <a:rect l="l" t="t" r="r" b="b"/>
              <a:pathLst>
                <a:path w="558800" h="546100">
                  <a:moveTo>
                    <a:pt x="0" y="273050"/>
                  </a:moveTo>
                  <a:cubicBezTo>
                    <a:pt x="0" y="122301"/>
                    <a:pt x="122301" y="0"/>
                    <a:pt x="273050" y="0"/>
                  </a:cubicBezTo>
                  <a:lnTo>
                    <a:pt x="285750" y="0"/>
                  </a:lnTo>
                  <a:cubicBezTo>
                    <a:pt x="436499" y="0"/>
                    <a:pt x="558800" y="122301"/>
                    <a:pt x="558800" y="273050"/>
                  </a:cubicBezTo>
                  <a:cubicBezTo>
                    <a:pt x="558800" y="423799"/>
                    <a:pt x="436499" y="546100"/>
                    <a:pt x="285750" y="546100"/>
                  </a:cubicBezTo>
                  <a:lnTo>
                    <a:pt x="273050" y="546100"/>
                  </a:lnTo>
                  <a:cubicBezTo>
                    <a:pt x="122301" y="546100"/>
                    <a:pt x="0" y="423799"/>
                    <a:pt x="0" y="273050"/>
                  </a:cubicBezTo>
                  <a:close/>
                </a:path>
              </a:pathLst>
            </a:custGeom>
            <a:solidFill>
              <a:srgbClr val="B9C6D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495425" y="3562350"/>
            <a:ext cx="49530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0F1B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05025" y="3552825"/>
            <a:ext cx="412051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B9C6D8"/>
                </a:solidFill>
                <a:latin typeface="IBM Plex Sans"/>
                <a:ea typeface="IBM Plex Sans"/>
                <a:cs typeface="IBM Plex Sans"/>
                <a:sym typeface="IBM Plex Sans"/>
              </a:rPr>
              <a:t>Start the program.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533525" y="4238625"/>
            <a:ext cx="419100" cy="409575"/>
            <a:chOff x="0" y="0"/>
            <a:chExt cx="558800" cy="5461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58800" cy="546100"/>
            </a:xfrm>
            <a:custGeom>
              <a:avLst/>
              <a:gdLst/>
              <a:ahLst/>
              <a:cxnLst/>
              <a:rect l="l" t="t" r="r" b="b"/>
              <a:pathLst>
                <a:path w="558800" h="546100">
                  <a:moveTo>
                    <a:pt x="0" y="273050"/>
                  </a:moveTo>
                  <a:cubicBezTo>
                    <a:pt x="0" y="122301"/>
                    <a:pt x="122301" y="0"/>
                    <a:pt x="273050" y="0"/>
                  </a:cubicBezTo>
                  <a:lnTo>
                    <a:pt x="285750" y="0"/>
                  </a:lnTo>
                  <a:cubicBezTo>
                    <a:pt x="436499" y="0"/>
                    <a:pt x="558800" y="122301"/>
                    <a:pt x="558800" y="273050"/>
                  </a:cubicBezTo>
                  <a:cubicBezTo>
                    <a:pt x="558800" y="423799"/>
                    <a:pt x="436499" y="546100"/>
                    <a:pt x="285750" y="546100"/>
                  </a:cubicBezTo>
                  <a:lnTo>
                    <a:pt x="273050" y="546100"/>
                  </a:lnTo>
                  <a:cubicBezTo>
                    <a:pt x="122301" y="546100"/>
                    <a:pt x="0" y="423799"/>
                    <a:pt x="0" y="273050"/>
                  </a:cubicBezTo>
                  <a:close/>
                </a:path>
              </a:pathLst>
            </a:custGeom>
            <a:solidFill>
              <a:srgbClr val="B9C6D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495425" y="4248150"/>
            <a:ext cx="49530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0F1B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05025" y="4206240"/>
            <a:ext cx="4504796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B9C6D8"/>
                </a:solidFill>
                <a:latin typeface="IBM Plex Sans"/>
                <a:ea typeface="IBM Plex Sans"/>
                <a:cs typeface="IBM Plex Sans"/>
                <a:sym typeface="IBM Plex Sans"/>
              </a:rPr>
              <a:t>Set the elevator's current floor to 1.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533525" y="4933950"/>
            <a:ext cx="419100" cy="409575"/>
            <a:chOff x="0" y="0"/>
            <a:chExt cx="558800" cy="5461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58800" cy="546100"/>
            </a:xfrm>
            <a:custGeom>
              <a:avLst/>
              <a:gdLst/>
              <a:ahLst/>
              <a:cxnLst/>
              <a:rect l="l" t="t" r="r" b="b"/>
              <a:pathLst>
                <a:path w="558800" h="546100">
                  <a:moveTo>
                    <a:pt x="0" y="273050"/>
                  </a:moveTo>
                  <a:cubicBezTo>
                    <a:pt x="0" y="122301"/>
                    <a:pt x="122301" y="0"/>
                    <a:pt x="273050" y="0"/>
                  </a:cubicBezTo>
                  <a:lnTo>
                    <a:pt x="285750" y="0"/>
                  </a:lnTo>
                  <a:cubicBezTo>
                    <a:pt x="436499" y="0"/>
                    <a:pt x="558800" y="122301"/>
                    <a:pt x="558800" y="273050"/>
                  </a:cubicBezTo>
                  <a:cubicBezTo>
                    <a:pt x="558800" y="423799"/>
                    <a:pt x="436499" y="546100"/>
                    <a:pt x="285750" y="546100"/>
                  </a:cubicBezTo>
                  <a:lnTo>
                    <a:pt x="273050" y="546100"/>
                  </a:lnTo>
                  <a:cubicBezTo>
                    <a:pt x="122301" y="546100"/>
                    <a:pt x="0" y="423799"/>
                    <a:pt x="0" y="273050"/>
                  </a:cubicBezTo>
                  <a:close/>
                </a:path>
              </a:pathLst>
            </a:custGeom>
            <a:solidFill>
              <a:srgbClr val="B9C6D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495425" y="4943475"/>
            <a:ext cx="49530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0F1B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105025" y="4787265"/>
            <a:ext cx="5357418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B9C6D8"/>
                </a:solidFill>
                <a:latin typeface="IBM Plex Sans"/>
                <a:ea typeface="IBM Plex Sans"/>
                <a:cs typeface="IBM Plex Sans"/>
                <a:sym typeface="IBM Plex Sans"/>
              </a:rPr>
              <a:t>Create a queue to store pending elevator requests.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533525" y="5729288"/>
            <a:ext cx="419100" cy="409575"/>
            <a:chOff x="0" y="0"/>
            <a:chExt cx="558800" cy="5461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58800" cy="546100"/>
            </a:xfrm>
            <a:custGeom>
              <a:avLst/>
              <a:gdLst/>
              <a:ahLst/>
              <a:cxnLst/>
              <a:rect l="l" t="t" r="r" b="b"/>
              <a:pathLst>
                <a:path w="558800" h="546100">
                  <a:moveTo>
                    <a:pt x="0" y="273050"/>
                  </a:moveTo>
                  <a:cubicBezTo>
                    <a:pt x="0" y="122301"/>
                    <a:pt x="122301" y="0"/>
                    <a:pt x="273050" y="0"/>
                  </a:cubicBezTo>
                  <a:lnTo>
                    <a:pt x="285750" y="0"/>
                  </a:lnTo>
                  <a:cubicBezTo>
                    <a:pt x="436499" y="0"/>
                    <a:pt x="558800" y="122301"/>
                    <a:pt x="558800" y="273050"/>
                  </a:cubicBezTo>
                  <a:cubicBezTo>
                    <a:pt x="558800" y="423799"/>
                    <a:pt x="436499" y="546100"/>
                    <a:pt x="285750" y="546100"/>
                  </a:cubicBezTo>
                  <a:lnTo>
                    <a:pt x="273050" y="546100"/>
                  </a:lnTo>
                  <a:cubicBezTo>
                    <a:pt x="122301" y="546100"/>
                    <a:pt x="0" y="423799"/>
                    <a:pt x="0" y="273050"/>
                  </a:cubicBezTo>
                  <a:close/>
                </a:path>
              </a:pathLst>
            </a:custGeom>
            <a:solidFill>
              <a:srgbClr val="B9C6D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495425" y="5761672"/>
            <a:ext cx="4953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0F1B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105025" y="5600700"/>
            <a:ext cx="5177286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B9C6D8"/>
                </a:solidFill>
                <a:latin typeface="IBM Plex Sans"/>
                <a:ea typeface="IBM Plex Sans"/>
                <a:cs typeface="IBM Plex Sans"/>
                <a:sym typeface="IBM Plex Sans"/>
              </a:rPr>
              <a:t>Create a linked list to store completed requests.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8672414" y="2531759"/>
            <a:ext cx="8996024" cy="4941542"/>
            <a:chOff x="0" y="0"/>
            <a:chExt cx="10306326" cy="5661294"/>
          </a:xfrm>
        </p:grpSpPr>
        <p:sp>
          <p:nvSpPr>
            <p:cNvPr id="25" name="Freeform 25"/>
            <p:cNvSpPr/>
            <p:nvPr/>
          </p:nvSpPr>
          <p:spPr>
            <a:xfrm>
              <a:off x="4807" y="5742"/>
              <a:ext cx="10296711" cy="5649811"/>
            </a:xfrm>
            <a:custGeom>
              <a:avLst/>
              <a:gdLst/>
              <a:ahLst/>
              <a:cxnLst/>
              <a:rect l="l" t="t" r="r" b="b"/>
              <a:pathLst>
                <a:path w="10296711" h="5649811">
                  <a:moveTo>
                    <a:pt x="0" y="177992"/>
                  </a:moveTo>
                  <a:cubicBezTo>
                    <a:pt x="0" y="79694"/>
                    <a:pt x="66818" y="0"/>
                    <a:pt x="149211" y="0"/>
                  </a:cubicBezTo>
                  <a:lnTo>
                    <a:pt x="10147500" y="0"/>
                  </a:lnTo>
                  <a:cubicBezTo>
                    <a:pt x="10229894" y="0"/>
                    <a:pt x="10296711" y="79694"/>
                    <a:pt x="10296711" y="177992"/>
                  </a:cubicBezTo>
                  <a:lnTo>
                    <a:pt x="10296711" y="5471819"/>
                  </a:lnTo>
                  <a:cubicBezTo>
                    <a:pt x="10296711" y="5570116"/>
                    <a:pt x="10229894" y="5649810"/>
                    <a:pt x="10147500" y="5649810"/>
                  </a:cubicBezTo>
                  <a:lnTo>
                    <a:pt x="149211" y="5649810"/>
                  </a:lnTo>
                  <a:cubicBezTo>
                    <a:pt x="66818" y="5649810"/>
                    <a:pt x="0" y="5570116"/>
                    <a:pt x="0" y="5471819"/>
                  </a:cubicBezTo>
                  <a:close/>
                </a:path>
              </a:pathLst>
            </a:custGeom>
            <a:solidFill>
              <a:srgbClr val="1A2A4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0" y="0"/>
              <a:ext cx="10306326" cy="5661294"/>
            </a:xfrm>
            <a:custGeom>
              <a:avLst/>
              <a:gdLst/>
              <a:ahLst/>
              <a:cxnLst/>
              <a:rect l="l" t="t" r="r" b="b"/>
              <a:pathLst>
                <a:path w="10306326" h="5661294">
                  <a:moveTo>
                    <a:pt x="0" y="183734"/>
                  </a:moveTo>
                  <a:cubicBezTo>
                    <a:pt x="0" y="82221"/>
                    <a:pt x="68933" y="0"/>
                    <a:pt x="154018" y="0"/>
                  </a:cubicBezTo>
                  <a:lnTo>
                    <a:pt x="10152307" y="0"/>
                  </a:lnTo>
                  <a:lnTo>
                    <a:pt x="10152307" y="5742"/>
                  </a:lnTo>
                  <a:lnTo>
                    <a:pt x="10152307" y="0"/>
                  </a:lnTo>
                  <a:cubicBezTo>
                    <a:pt x="10237296" y="0"/>
                    <a:pt x="10306326" y="82221"/>
                    <a:pt x="10306326" y="183734"/>
                  </a:cubicBezTo>
                  <a:lnTo>
                    <a:pt x="10301518" y="183734"/>
                  </a:lnTo>
                  <a:lnTo>
                    <a:pt x="10306326" y="183734"/>
                  </a:lnTo>
                  <a:lnTo>
                    <a:pt x="10306326" y="5477561"/>
                  </a:lnTo>
                  <a:lnTo>
                    <a:pt x="10301518" y="5477561"/>
                  </a:lnTo>
                  <a:lnTo>
                    <a:pt x="10306326" y="5477561"/>
                  </a:lnTo>
                  <a:cubicBezTo>
                    <a:pt x="10306326" y="5579073"/>
                    <a:pt x="10237392" y="5661294"/>
                    <a:pt x="10152307" y="5661294"/>
                  </a:cubicBezTo>
                  <a:lnTo>
                    <a:pt x="10152307" y="5655552"/>
                  </a:lnTo>
                  <a:lnTo>
                    <a:pt x="10152307" y="5661294"/>
                  </a:lnTo>
                  <a:lnTo>
                    <a:pt x="154018" y="5661294"/>
                  </a:lnTo>
                  <a:lnTo>
                    <a:pt x="154018" y="5655552"/>
                  </a:lnTo>
                  <a:lnTo>
                    <a:pt x="154018" y="5661294"/>
                  </a:lnTo>
                  <a:cubicBezTo>
                    <a:pt x="68933" y="5661294"/>
                    <a:pt x="0" y="5579073"/>
                    <a:pt x="0" y="5477561"/>
                  </a:cubicBezTo>
                  <a:lnTo>
                    <a:pt x="0" y="183734"/>
                  </a:lnTo>
                  <a:lnTo>
                    <a:pt x="4807" y="183734"/>
                  </a:lnTo>
                  <a:lnTo>
                    <a:pt x="0" y="183734"/>
                  </a:lnTo>
                  <a:moveTo>
                    <a:pt x="9614" y="183734"/>
                  </a:moveTo>
                  <a:lnTo>
                    <a:pt x="9614" y="5477561"/>
                  </a:lnTo>
                  <a:lnTo>
                    <a:pt x="4807" y="5477561"/>
                  </a:lnTo>
                  <a:lnTo>
                    <a:pt x="9614" y="5477561"/>
                  </a:lnTo>
                  <a:cubicBezTo>
                    <a:pt x="9614" y="5572643"/>
                    <a:pt x="74221" y="5649811"/>
                    <a:pt x="154018" y="5649811"/>
                  </a:cubicBezTo>
                  <a:lnTo>
                    <a:pt x="10152307" y="5649811"/>
                  </a:lnTo>
                  <a:cubicBezTo>
                    <a:pt x="10232009" y="5649811"/>
                    <a:pt x="10296712" y="5572643"/>
                    <a:pt x="10296712" y="5477561"/>
                  </a:cubicBezTo>
                  <a:lnTo>
                    <a:pt x="10296712" y="183734"/>
                  </a:lnTo>
                  <a:cubicBezTo>
                    <a:pt x="10296712" y="88652"/>
                    <a:pt x="10232105" y="11483"/>
                    <a:pt x="10152307" y="11483"/>
                  </a:cubicBezTo>
                  <a:lnTo>
                    <a:pt x="154018" y="11483"/>
                  </a:lnTo>
                  <a:lnTo>
                    <a:pt x="154018" y="5742"/>
                  </a:lnTo>
                  <a:lnTo>
                    <a:pt x="154018" y="11483"/>
                  </a:lnTo>
                  <a:cubicBezTo>
                    <a:pt x="74221" y="11483"/>
                    <a:pt x="9614" y="88651"/>
                    <a:pt x="9614" y="183734"/>
                  </a:cubicBezTo>
                  <a:close/>
                </a:path>
              </a:pathLst>
            </a:custGeom>
            <a:solidFill>
              <a:srgbClr val="2C4062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9144000" y="2754630"/>
            <a:ext cx="9869614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2879"/>
              </a:lnSpc>
              <a:buAutoNum type="arabicPeriod"/>
            </a:pPr>
            <a:r>
              <a:rPr lang="en-US" sz="2400" b="1">
                <a:solidFill>
                  <a:srgbClr val="F5F3E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Display the menu: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367950" y="3256598"/>
            <a:ext cx="9439275" cy="409575"/>
            <a:chOff x="0" y="0"/>
            <a:chExt cx="12585700" cy="546100"/>
          </a:xfrm>
        </p:grpSpPr>
        <p:grpSp>
          <p:nvGrpSpPr>
            <p:cNvPr id="29" name="Group 29"/>
            <p:cNvGrpSpPr/>
            <p:nvPr/>
          </p:nvGrpSpPr>
          <p:grpSpPr>
            <a:xfrm>
              <a:off x="50800" y="0"/>
              <a:ext cx="558800" cy="546100"/>
              <a:chOff x="0" y="0"/>
              <a:chExt cx="558800" cy="5461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558800" cy="546100"/>
              </a:xfrm>
              <a:custGeom>
                <a:avLst/>
                <a:gdLst/>
                <a:ahLst/>
                <a:cxnLst/>
                <a:rect l="l" t="t" r="r" b="b"/>
                <a:pathLst>
                  <a:path w="558800" h="546100">
                    <a:moveTo>
                      <a:pt x="0" y="273050"/>
                    </a:moveTo>
                    <a:cubicBezTo>
                      <a:pt x="0" y="122301"/>
                      <a:pt x="122301" y="0"/>
                      <a:pt x="273050" y="0"/>
                    </a:cubicBezTo>
                    <a:lnTo>
                      <a:pt x="285750" y="0"/>
                    </a:lnTo>
                    <a:cubicBezTo>
                      <a:pt x="436499" y="0"/>
                      <a:pt x="558800" y="122301"/>
                      <a:pt x="558800" y="273050"/>
                    </a:cubicBezTo>
                    <a:cubicBezTo>
                      <a:pt x="558800" y="423799"/>
                      <a:pt x="436499" y="546100"/>
                      <a:pt x="285750" y="546100"/>
                    </a:cubicBezTo>
                    <a:lnTo>
                      <a:pt x="273050" y="546100"/>
                    </a:lnTo>
                    <a:cubicBezTo>
                      <a:pt x="122301" y="546100"/>
                      <a:pt x="0" y="423799"/>
                      <a:pt x="0" y="273050"/>
                    </a:cubicBezTo>
                    <a:close/>
                  </a:path>
                </a:pathLst>
              </a:custGeom>
              <a:solidFill>
                <a:srgbClr val="2F6FB0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0" y="29210"/>
              <a:ext cx="6604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2800" y="-22225"/>
              <a:ext cx="1177290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5F3EC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Add Request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219200" y="9324975"/>
            <a:ext cx="16325088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7F93B2"/>
                </a:solidFill>
                <a:latin typeface="IBM Plex Sans"/>
                <a:ea typeface="IBM Plex Sans"/>
                <a:cs typeface="IBM Plex Sans"/>
                <a:sym typeface="IBM Plex Sans"/>
              </a:rPr>
              <a:t>Elevator Request Management System · 8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9367950" y="5002530"/>
            <a:ext cx="9439275" cy="409575"/>
            <a:chOff x="0" y="0"/>
            <a:chExt cx="12585700" cy="546100"/>
          </a:xfrm>
        </p:grpSpPr>
        <p:grpSp>
          <p:nvGrpSpPr>
            <p:cNvPr id="35" name="Group 35"/>
            <p:cNvGrpSpPr/>
            <p:nvPr/>
          </p:nvGrpSpPr>
          <p:grpSpPr>
            <a:xfrm>
              <a:off x="50800" y="0"/>
              <a:ext cx="558800" cy="546100"/>
              <a:chOff x="0" y="0"/>
              <a:chExt cx="558800" cy="5461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558800" cy="546100"/>
              </a:xfrm>
              <a:custGeom>
                <a:avLst/>
                <a:gdLst/>
                <a:ahLst/>
                <a:cxnLst/>
                <a:rect l="l" t="t" r="r" b="b"/>
                <a:pathLst>
                  <a:path w="558800" h="546100">
                    <a:moveTo>
                      <a:pt x="0" y="273050"/>
                    </a:moveTo>
                    <a:cubicBezTo>
                      <a:pt x="0" y="122301"/>
                      <a:pt x="122301" y="0"/>
                      <a:pt x="273050" y="0"/>
                    </a:cubicBezTo>
                    <a:lnTo>
                      <a:pt x="285750" y="0"/>
                    </a:lnTo>
                    <a:cubicBezTo>
                      <a:pt x="436499" y="0"/>
                      <a:pt x="558800" y="122301"/>
                      <a:pt x="558800" y="273050"/>
                    </a:cubicBezTo>
                    <a:cubicBezTo>
                      <a:pt x="558800" y="423799"/>
                      <a:pt x="436499" y="546100"/>
                      <a:pt x="285750" y="546100"/>
                    </a:cubicBezTo>
                    <a:lnTo>
                      <a:pt x="273050" y="546100"/>
                    </a:lnTo>
                    <a:cubicBezTo>
                      <a:pt x="122301" y="546100"/>
                      <a:pt x="0" y="423799"/>
                      <a:pt x="0" y="273050"/>
                    </a:cubicBezTo>
                    <a:close/>
                  </a:path>
                </a:pathLst>
              </a:custGeom>
              <a:solidFill>
                <a:srgbClr val="2F6FB0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0" y="29210"/>
              <a:ext cx="6604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2800" y="-22225"/>
              <a:ext cx="1177290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5F3EC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Cancel Request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367950" y="6198870"/>
            <a:ext cx="9439275" cy="409575"/>
            <a:chOff x="0" y="0"/>
            <a:chExt cx="12585700" cy="546100"/>
          </a:xfrm>
        </p:grpSpPr>
        <p:grpSp>
          <p:nvGrpSpPr>
            <p:cNvPr id="40" name="Group 40"/>
            <p:cNvGrpSpPr/>
            <p:nvPr/>
          </p:nvGrpSpPr>
          <p:grpSpPr>
            <a:xfrm>
              <a:off x="50800" y="0"/>
              <a:ext cx="558800" cy="546100"/>
              <a:chOff x="0" y="0"/>
              <a:chExt cx="558800" cy="5461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558800" cy="546100"/>
              </a:xfrm>
              <a:custGeom>
                <a:avLst/>
                <a:gdLst/>
                <a:ahLst/>
                <a:cxnLst/>
                <a:rect l="l" t="t" r="r" b="b"/>
                <a:pathLst>
                  <a:path w="558800" h="546100">
                    <a:moveTo>
                      <a:pt x="0" y="273050"/>
                    </a:moveTo>
                    <a:cubicBezTo>
                      <a:pt x="0" y="122301"/>
                      <a:pt x="122301" y="0"/>
                      <a:pt x="273050" y="0"/>
                    </a:cubicBezTo>
                    <a:lnTo>
                      <a:pt x="285750" y="0"/>
                    </a:lnTo>
                    <a:cubicBezTo>
                      <a:pt x="436499" y="0"/>
                      <a:pt x="558800" y="122301"/>
                      <a:pt x="558800" y="273050"/>
                    </a:cubicBezTo>
                    <a:cubicBezTo>
                      <a:pt x="558800" y="423799"/>
                      <a:pt x="436499" y="546100"/>
                      <a:pt x="285750" y="546100"/>
                    </a:cubicBezTo>
                    <a:lnTo>
                      <a:pt x="273050" y="546100"/>
                    </a:lnTo>
                    <a:cubicBezTo>
                      <a:pt x="122301" y="546100"/>
                      <a:pt x="0" y="423799"/>
                      <a:pt x="0" y="273050"/>
                    </a:cubicBezTo>
                    <a:close/>
                  </a:path>
                </a:pathLst>
              </a:custGeom>
              <a:solidFill>
                <a:srgbClr val="2F6FB0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0" y="29210"/>
              <a:ext cx="6604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6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12800" y="-22225"/>
              <a:ext cx="1177290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5F3EC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Display Current Floor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367950" y="6798945"/>
            <a:ext cx="9439275" cy="409575"/>
            <a:chOff x="0" y="0"/>
            <a:chExt cx="12585700" cy="546100"/>
          </a:xfrm>
        </p:grpSpPr>
        <p:grpSp>
          <p:nvGrpSpPr>
            <p:cNvPr id="45" name="Group 45"/>
            <p:cNvGrpSpPr/>
            <p:nvPr/>
          </p:nvGrpSpPr>
          <p:grpSpPr>
            <a:xfrm>
              <a:off x="50800" y="0"/>
              <a:ext cx="558800" cy="546100"/>
              <a:chOff x="0" y="0"/>
              <a:chExt cx="558800" cy="5461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558800" cy="546100"/>
              </a:xfrm>
              <a:custGeom>
                <a:avLst/>
                <a:gdLst/>
                <a:ahLst/>
                <a:cxnLst/>
                <a:rect l="l" t="t" r="r" b="b"/>
                <a:pathLst>
                  <a:path w="558800" h="546100">
                    <a:moveTo>
                      <a:pt x="0" y="273050"/>
                    </a:moveTo>
                    <a:cubicBezTo>
                      <a:pt x="0" y="122301"/>
                      <a:pt x="122301" y="0"/>
                      <a:pt x="273050" y="0"/>
                    </a:cubicBezTo>
                    <a:lnTo>
                      <a:pt x="285750" y="0"/>
                    </a:lnTo>
                    <a:cubicBezTo>
                      <a:pt x="436499" y="0"/>
                      <a:pt x="558800" y="122301"/>
                      <a:pt x="558800" y="273050"/>
                    </a:cubicBezTo>
                    <a:cubicBezTo>
                      <a:pt x="558800" y="423799"/>
                      <a:pt x="436499" y="546100"/>
                      <a:pt x="285750" y="546100"/>
                    </a:cubicBezTo>
                    <a:lnTo>
                      <a:pt x="273050" y="546100"/>
                    </a:lnTo>
                    <a:cubicBezTo>
                      <a:pt x="122301" y="546100"/>
                      <a:pt x="0" y="423799"/>
                      <a:pt x="0" y="273050"/>
                    </a:cubicBezTo>
                    <a:close/>
                  </a:path>
                </a:pathLst>
              </a:custGeom>
              <a:solidFill>
                <a:srgbClr val="2F6FB0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47" name="TextBox 47"/>
            <p:cNvSpPr txBox="1"/>
            <p:nvPr/>
          </p:nvSpPr>
          <p:spPr>
            <a:xfrm>
              <a:off x="0" y="29210"/>
              <a:ext cx="6604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7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12800" y="-22225"/>
              <a:ext cx="1177290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5F3EC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Exit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367950" y="5627370"/>
            <a:ext cx="9439275" cy="409575"/>
            <a:chOff x="0" y="0"/>
            <a:chExt cx="12585700" cy="546100"/>
          </a:xfrm>
        </p:grpSpPr>
        <p:grpSp>
          <p:nvGrpSpPr>
            <p:cNvPr id="50" name="Group 50"/>
            <p:cNvGrpSpPr/>
            <p:nvPr/>
          </p:nvGrpSpPr>
          <p:grpSpPr>
            <a:xfrm>
              <a:off x="50800" y="0"/>
              <a:ext cx="558800" cy="546100"/>
              <a:chOff x="0" y="0"/>
              <a:chExt cx="558800" cy="54610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558800" cy="546100"/>
              </a:xfrm>
              <a:custGeom>
                <a:avLst/>
                <a:gdLst/>
                <a:ahLst/>
                <a:cxnLst/>
                <a:rect l="l" t="t" r="r" b="b"/>
                <a:pathLst>
                  <a:path w="558800" h="546100">
                    <a:moveTo>
                      <a:pt x="0" y="273050"/>
                    </a:moveTo>
                    <a:cubicBezTo>
                      <a:pt x="0" y="122301"/>
                      <a:pt x="122301" y="0"/>
                      <a:pt x="273050" y="0"/>
                    </a:cubicBezTo>
                    <a:lnTo>
                      <a:pt x="285750" y="0"/>
                    </a:lnTo>
                    <a:cubicBezTo>
                      <a:pt x="436499" y="0"/>
                      <a:pt x="558800" y="122301"/>
                      <a:pt x="558800" y="273050"/>
                    </a:cubicBezTo>
                    <a:cubicBezTo>
                      <a:pt x="558800" y="423799"/>
                      <a:pt x="436499" y="546100"/>
                      <a:pt x="285750" y="546100"/>
                    </a:cubicBezTo>
                    <a:lnTo>
                      <a:pt x="273050" y="546100"/>
                    </a:lnTo>
                    <a:cubicBezTo>
                      <a:pt x="122301" y="546100"/>
                      <a:pt x="0" y="423799"/>
                      <a:pt x="0" y="273050"/>
                    </a:cubicBezTo>
                    <a:close/>
                  </a:path>
                </a:pathLst>
              </a:custGeom>
              <a:solidFill>
                <a:srgbClr val="2F6FB0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52" name="TextBox 52"/>
            <p:cNvSpPr txBox="1"/>
            <p:nvPr/>
          </p:nvSpPr>
          <p:spPr>
            <a:xfrm>
              <a:off x="0" y="29210"/>
              <a:ext cx="6604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5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12800" y="-22225"/>
              <a:ext cx="1177290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5F3EC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Display Completed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9367950" y="4400550"/>
            <a:ext cx="9439275" cy="409575"/>
            <a:chOff x="0" y="0"/>
            <a:chExt cx="12585700" cy="546100"/>
          </a:xfrm>
        </p:grpSpPr>
        <p:grpSp>
          <p:nvGrpSpPr>
            <p:cNvPr id="55" name="Group 55"/>
            <p:cNvGrpSpPr/>
            <p:nvPr/>
          </p:nvGrpSpPr>
          <p:grpSpPr>
            <a:xfrm>
              <a:off x="50800" y="0"/>
              <a:ext cx="558800" cy="546100"/>
              <a:chOff x="0" y="0"/>
              <a:chExt cx="558800" cy="54610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558800" cy="546100"/>
              </a:xfrm>
              <a:custGeom>
                <a:avLst/>
                <a:gdLst/>
                <a:ahLst/>
                <a:cxnLst/>
                <a:rect l="l" t="t" r="r" b="b"/>
                <a:pathLst>
                  <a:path w="558800" h="546100">
                    <a:moveTo>
                      <a:pt x="0" y="273050"/>
                    </a:moveTo>
                    <a:cubicBezTo>
                      <a:pt x="0" y="122301"/>
                      <a:pt x="122301" y="0"/>
                      <a:pt x="273050" y="0"/>
                    </a:cubicBezTo>
                    <a:lnTo>
                      <a:pt x="285750" y="0"/>
                    </a:lnTo>
                    <a:cubicBezTo>
                      <a:pt x="436499" y="0"/>
                      <a:pt x="558800" y="122301"/>
                      <a:pt x="558800" y="273050"/>
                    </a:cubicBezTo>
                    <a:cubicBezTo>
                      <a:pt x="558800" y="423799"/>
                      <a:pt x="436499" y="546100"/>
                      <a:pt x="285750" y="546100"/>
                    </a:cubicBezTo>
                    <a:lnTo>
                      <a:pt x="273050" y="546100"/>
                    </a:lnTo>
                    <a:cubicBezTo>
                      <a:pt x="122301" y="546100"/>
                      <a:pt x="0" y="423799"/>
                      <a:pt x="0" y="273050"/>
                    </a:cubicBezTo>
                    <a:close/>
                  </a:path>
                </a:pathLst>
              </a:custGeom>
              <a:solidFill>
                <a:srgbClr val="2F6FB0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57" name="TextBox 57"/>
            <p:cNvSpPr txBox="1"/>
            <p:nvPr/>
          </p:nvSpPr>
          <p:spPr>
            <a:xfrm>
              <a:off x="0" y="29210"/>
              <a:ext cx="6604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12800" y="-22225"/>
              <a:ext cx="1177290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5F3EC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Display Pending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9359170" y="3829050"/>
            <a:ext cx="9439275" cy="409575"/>
            <a:chOff x="0" y="0"/>
            <a:chExt cx="12585700" cy="546100"/>
          </a:xfrm>
        </p:grpSpPr>
        <p:grpSp>
          <p:nvGrpSpPr>
            <p:cNvPr id="60" name="Group 60"/>
            <p:cNvGrpSpPr/>
            <p:nvPr/>
          </p:nvGrpSpPr>
          <p:grpSpPr>
            <a:xfrm>
              <a:off x="50800" y="0"/>
              <a:ext cx="558800" cy="546100"/>
              <a:chOff x="0" y="0"/>
              <a:chExt cx="558800" cy="54610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0" y="0"/>
                <a:ext cx="558800" cy="546100"/>
              </a:xfrm>
              <a:custGeom>
                <a:avLst/>
                <a:gdLst/>
                <a:ahLst/>
                <a:cxnLst/>
                <a:rect l="l" t="t" r="r" b="b"/>
                <a:pathLst>
                  <a:path w="558800" h="546100">
                    <a:moveTo>
                      <a:pt x="0" y="273050"/>
                    </a:moveTo>
                    <a:cubicBezTo>
                      <a:pt x="0" y="122301"/>
                      <a:pt x="122301" y="0"/>
                      <a:pt x="273050" y="0"/>
                    </a:cubicBezTo>
                    <a:lnTo>
                      <a:pt x="285750" y="0"/>
                    </a:lnTo>
                    <a:cubicBezTo>
                      <a:pt x="436499" y="0"/>
                      <a:pt x="558800" y="122301"/>
                      <a:pt x="558800" y="273050"/>
                    </a:cubicBezTo>
                    <a:cubicBezTo>
                      <a:pt x="558800" y="423799"/>
                      <a:pt x="436499" y="546100"/>
                      <a:pt x="285750" y="546100"/>
                    </a:cubicBezTo>
                    <a:lnTo>
                      <a:pt x="273050" y="546100"/>
                    </a:lnTo>
                    <a:cubicBezTo>
                      <a:pt x="122301" y="546100"/>
                      <a:pt x="0" y="423799"/>
                      <a:pt x="0" y="273050"/>
                    </a:cubicBezTo>
                    <a:close/>
                  </a:path>
                </a:pathLst>
              </a:custGeom>
              <a:solidFill>
                <a:srgbClr val="2F6FB0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62" name="TextBox 62"/>
            <p:cNvSpPr txBox="1"/>
            <p:nvPr/>
          </p:nvSpPr>
          <p:spPr>
            <a:xfrm>
              <a:off x="0" y="29210"/>
              <a:ext cx="6604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2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12800" y="-22225"/>
              <a:ext cx="1177290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5F3EC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Process Request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19200" y="1181100"/>
            <a:ext cx="16325088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225">
                <a:solidFill>
                  <a:srgbClr val="E8A3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CONTROL FLOW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19200" y="1819275"/>
            <a:ext cx="16325088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4200" b="1">
                <a:solidFill>
                  <a:srgbClr val="F5F3E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System Algorithm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219200" y="2735531"/>
            <a:ext cx="7207518" cy="3924349"/>
            <a:chOff x="0" y="0"/>
            <a:chExt cx="9864024" cy="5370764"/>
          </a:xfrm>
        </p:grpSpPr>
        <p:sp>
          <p:nvSpPr>
            <p:cNvPr id="5" name="Freeform 5"/>
            <p:cNvSpPr/>
            <p:nvPr/>
          </p:nvSpPr>
          <p:spPr>
            <a:xfrm>
              <a:off x="8807" y="5447"/>
              <a:ext cx="9846410" cy="5359870"/>
            </a:xfrm>
            <a:custGeom>
              <a:avLst/>
              <a:gdLst/>
              <a:ahLst/>
              <a:cxnLst/>
              <a:rect l="l" t="t" r="r" b="b"/>
              <a:pathLst>
                <a:path w="9846410" h="5359870">
                  <a:moveTo>
                    <a:pt x="0" y="168858"/>
                  </a:moveTo>
                  <a:cubicBezTo>
                    <a:pt x="0" y="75605"/>
                    <a:pt x="122244" y="0"/>
                    <a:pt x="273022" y="0"/>
                  </a:cubicBezTo>
                  <a:lnTo>
                    <a:pt x="9573388" y="0"/>
                  </a:lnTo>
                  <a:cubicBezTo>
                    <a:pt x="9724167" y="0"/>
                    <a:pt x="9846410" y="75605"/>
                    <a:pt x="9846410" y="168858"/>
                  </a:cubicBezTo>
                  <a:lnTo>
                    <a:pt x="9846410" y="5191012"/>
                  </a:lnTo>
                  <a:cubicBezTo>
                    <a:pt x="9846410" y="5284265"/>
                    <a:pt x="9724167" y="5359870"/>
                    <a:pt x="9573388" y="5359870"/>
                  </a:cubicBezTo>
                  <a:lnTo>
                    <a:pt x="273022" y="5359870"/>
                  </a:lnTo>
                  <a:cubicBezTo>
                    <a:pt x="122244" y="5359870"/>
                    <a:pt x="0" y="5284265"/>
                    <a:pt x="0" y="5191012"/>
                  </a:cubicBezTo>
                  <a:close/>
                </a:path>
              </a:pathLst>
            </a:custGeom>
            <a:solidFill>
              <a:srgbClr val="1A2A4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Freeform 6"/>
            <p:cNvSpPr/>
            <p:nvPr/>
          </p:nvSpPr>
          <p:spPr>
            <a:xfrm>
              <a:off x="0" y="0"/>
              <a:ext cx="9864024" cy="5370764"/>
            </a:xfrm>
            <a:custGeom>
              <a:avLst/>
              <a:gdLst/>
              <a:ahLst/>
              <a:cxnLst/>
              <a:rect l="l" t="t" r="r" b="b"/>
              <a:pathLst>
                <a:path w="9864024" h="5370764">
                  <a:moveTo>
                    <a:pt x="0" y="174305"/>
                  </a:moveTo>
                  <a:cubicBezTo>
                    <a:pt x="0" y="78001"/>
                    <a:pt x="126119" y="0"/>
                    <a:pt x="281829" y="0"/>
                  </a:cubicBezTo>
                  <a:lnTo>
                    <a:pt x="9582195" y="0"/>
                  </a:lnTo>
                  <a:lnTo>
                    <a:pt x="9582195" y="5447"/>
                  </a:lnTo>
                  <a:lnTo>
                    <a:pt x="9582195" y="0"/>
                  </a:lnTo>
                  <a:cubicBezTo>
                    <a:pt x="9737906" y="0"/>
                    <a:pt x="9864024" y="78001"/>
                    <a:pt x="9864024" y="174305"/>
                  </a:cubicBezTo>
                  <a:lnTo>
                    <a:pt x="9855217" y="174305"/>
                  </a:lnTo>
                  <a:lnTo>
                    <a:pt x="9864024" y="174305"/>
                  </a:lnTo>
                  <a:lnTo>
                    <a:pt x="9864024" y="5196459"/>
                  </a:lnTo>
                  <a:lnTo>
                    <a:pt x="9855217" y="5196459"/>
                  </a:lnTo>
                  <a:lnTo>
                    <a:pt x="9864024" y="5196459"/>
                  </a:lnTo>
                  <a:cubicBezTo>
                    <a:pt x="9864024" y="5292762"/>
                    <a:pt x="9737906" y="5370764"/>
                    <a:pt x="9582195" y="5370764"/>
                  </a:cubicBezTo>
                  <a:lnTo>
                    <a:pt x="9582195" y="5365317"/>
                  </a:lnTo>
                  <a:lnTo>
                    <a:pt x="9582195" y="5370764"/>
                  </a:lnTo>
                  <a:lnTo>
                    <a:pt x="281829" y="5370764"/>
                  </a:lnTo>
                  <a:lnTo>
                    <a:pt x="281829" y="5365317"/>
                  </a:lnTo>
                  <a:lnTo>
                    <a:pt x="281829" y="5370764"/>
                  </a:lnTo>
                  <a:cubicBezTo>
                    <a:pt x="126119" y="5370764"/>
                    <a:pt x="0" y="5292762"/>
                    <a:pt x="0" y="5196459"/>
                  </a:cubicBezTo>
                  <a:lnTo>
                    <a:pt x="0" y="174305"/>
                  </a:lnTo>
                  <a:lnTo>
                    <a:pt x="8807" y="174305"/>
                  </a:lnTo>
                  <a:lnTo>
                    <a:pt x="0" y="174305"/>
                  </a:lnTo>
                  <a:moveTo>
                    <a:pt x="17614" y="174305"/>
                  </a:moveTo>
                  <a:lnTo>
                    <a:pt x="17614" y="5196459"/>
                  </a:lnTo>
                  <a:lnTo>
                    <a:pt x="8807" y="5196459"/>
                  </a:lnTo>
                  <a:lnTo>
                    <a:pt x="17614" y="5196459"/>
                  </a:lnTo>
                  <a:cubicBezTo>
                    <a:pt x="17614" y="5286662"/>
                    <a:pt x="135983" y="5359870"/>
                    <a:pt x="281829" y="5359870"/>
                  </a:cubicBezTo>
                  <a:lnTo>
                    <a:pt x="9582195" y="5359870"/>
                  </a:lnTo>
                  <a:cubicBezTo>
                    <a:pt x="9728218" y="5359870"/>
                    <a:pt x="9846410" y="5286771"/>
                    <a:pt x="9846410" y="5196459"/>
                  </a:cubicBezTo>
                  <a:lnTo>
                    <a:pt x="9846410" y="174305"/>
                  </a:lnTo>
                  <a:cubicBezTo>
                    <a:pt x="9846410" y="84102"/>
                    <a:pt x="9728043" y="10894"/>
                    <a:pt x="9582195" y="10894"/>
                  </a:cubicBezTo>
                  <a:lnTo>
                    <a:pt x="281829" y="10894"/>
                  </a:lnTo>
                  <a:lnTo>
                    <a:pt x="281829" y="5447"/>
                  </a:lnTo>
                  <a:lnTo>
                    <a:pt x="281829" y="10894"/>
                  </a:lnTo>
                  <a:cubicBezTo>
                    <a:pt x="135983" y="10894"/>
                    <a:pt x="17614" y="83993"/>
                    <a:pt x="17614" y="174305"/>
                  </a:cubicBezTo>
                  <a:close/>
                </a:path>
              </a:pathLst>
            </a:custGeom>
            <a:solidFill>
              <a:srgbClr val="2C4062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379030" y="2828925"/>
            <a:ext cx="48465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2879"/>
              </a:lnSpc>
              <a:buAutoNum type="arabicPeriod"/>
            </a:pPr>
            <a:r>
              <a:rPr lang="en-US" sz="2400" b="1">
                <a:solidFill>
                  <a:srgbClr val="F5F3E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For Add Request: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533409" y="3505200"/>
            <a:ext cx="417823" cy="409575"/>
            <a:chOff x="0" y="0"/>
            <a:chExt cx="557098" cy="546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57098" cy="546100"/>
            </a:xfrm>
            <a:custGeom>
              <a:avLst/>
              <a:gdLst/>
              <a:ahLst/>
              <a:cxnLst/>
              <a:rect l="l" t="t" r="r" b="b"/>
              <a:pathLst>
                <a:path w="557098" h="546100">
                  <a:moveTo>
                    <a:pt x="0" y="273050"/>
                  </a:moveTo>
                  <a:cubicBezTo>
                    <a:pt x="0" y="122301"/>
                    <a:pt x="121928" y="0"/>
                    <a:pt x="272218" y="0"/>
                  </a:cubicBezTo>
                  <a:lnTo>
                    <a:pt x="284879" y="0"/>
                  </a:lnTo>
                  <a:cubicBezTo>
                    <a:pt x="435169" y="0"/>
                    <a:pt x="557098" y="122301"/>
                    <a:pt x="557098" y="273050"/>
                  </a:cubicBezTo>
                  <a:cubicBezTo>
                    <a:pt x="557098" y="423799"/>
                    <a:pt x="435169" y="546100"/>
                    <a:pt x="284879" y="546100"/>
                  </a:cubicBezTo>
                  <a:lnTo>
                    <a:pt x="272218" y="546100"/>
                  </a:lnTo>
                  <a:cubicBezTo>
                    <a:pt x="121928" y="546100"/>
                    <a:pt x="0" y="423799"/>
                    <a:pt x="0" y="273050"/>
                  </a:cubicBezTo>
                  <a:close/>
                </a:path>
              </a:pathLst>
            </a:custGeom>
            <a:solidFill>
              <a:srgbClr val="B9C6D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495425" y="3514725"/>
            <a:ext cx="493791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0F1B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03168" y="3476625"/>
            <a:ext cx="4434623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B9C6D8"/>
                </a:solidFill>
                <a:latin typeface="IBM Plex Sans"/>
                <a:ea typeface="IBM Plex Sans"/>
                <a:cs typeface="IBM Plex Sans"/>
                <a:sym typeface="IBM Plex Sans"/>
              </a:rPr>
              <a:t>Enter source and destination floors.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533525" y="4233862"/>
            <a:ext cx="419100" cy="409575"/>
            <a:chOff x="0" y="0"/>
            <a:chExt cx="558800" cy="5461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58800" cy="546100"/>
            </a:xfrm>
            <a:custGeom>
              <a:avLst/>
              <a:gdLst/>
              <a:ahLst/>
              <a:cxnLst/>
              <a:rect l="l" t="t" r="r" b="b"/>
              <a:pathLst>
                <a:path w="558800" h="546100">
                  <a:moveTo>
                    <a:pt x="0" y="273050"/>
                  </a:moveTo>
                  <a:cubicBezTo>
                    <a:pt x="0" y="122301"/>
                    <a:pt x="122301" y="0"/>
                    <a:pt x="273050" y="0"/>
                  </a:cubicBezTo>
                  <a:lnTo>
                    <a:pt x="285750" y="0"/>
                  </a:lnTo>
                  <a:cubicBezTo>
                    <a:pt x="436499" y="0"/>
                    <a:pt x="558800" y="122301"/>
                    <a:pt x="558800" y="273050"/>
                  </a:cubicBezTo>
                  <a:cubicBezTo>
                    <a:pt x="558800" y="423799"/>
                    <a:pt x="436499" y="546100"/>
                    <a:pt x="285750" y="546100"/>
                  </a:cubicBezTo>
                  <a:lnTo>
                    <a:pt x="273050" y="546100"/>
                  </a:lnTo>
                  <a:cubicBezTo>
                    <a:pt x="122301" y="546100"/>
                    <a:pt x="0" y="423799"/>
                    <a:pt x="0" y="273050"/>
                  </a:cubicBezTo>
                  <a:close/>
                </a:path>
              </a:pathLst>
            </a:custGeom>
            <a:solidFill>
              <a:srgbClr val="B9C6D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495425" y="4243388"/>
            <a:ext cx="49530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0F1B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05025" y="4285297"/>
            <a:ext cx="4752278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B9C6D8"/>
                </a:solidFill>
                <a:latin typeface="IBM Plex Sans"/>
                <a:ea typeface="IBM Plex Sans"/>
                <a:cs typeface="IBM Plex Sans"/>
                <a:sym typeface="IBM Plex Sans"/>
              </a:rPr>
              <a:t>Check whether the floors are valid.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533525" y="4962525"/>
            <a:ext cx="419100" cy="409575"/>
            <a:chOff x="0" y="0"/>
            <a:chExt cx="558800" cy="5461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58800" cy="546100"/>
            </a:xfrm>
            <a:custGeom>
              <a:avLst/>
              <a:gdLst/>
              <a:ahLst/>
              <a:cxnLst/>
              <a:rect l="l" t="t" r="r" b="b"/>
              <a:pathLst>
                <a:path w="558800" h="546100">
                  <a:moveTo>
                    <a:pt x="0" y="273050"/>
                  </a:moveTo>
                  <a:cubicBezTo>
                    <a:pt x="0" y="122301"/>
                    <a:pt x="122301" y="0"/>
                    <a:pt x="273050" y="0"/>
                  </a:cubicBezTo>
                  <a:lnTo>
                    <a:pt x="285750" y="0"/>
                  </a:lnTo>
                  <a:cubicBezTo>
                    <a:pt x="436499" y="0"/>
                    <a:pt x="558800" y="122301"/>
                    <a:pt x="558800" y="273050"/>
                  </a:cubicBezTo>
                  <a:cubicBezTo>
                    <a:pt x="558800" y="423799"/>
                    <a:pt x="436499" y="546100"/>
                    <a:pt x="285750" y="546100"/>
                  </a:cubicBezTo>
                  <a:lnTo>
                    <a:pt x="273050" y="546100"/>
                  </a:lnTo>
                  <a:cubicBezTo>
                    <a:pt x="122301" y="546100"/>
                    <a:pt x="0" y="423799"/>
                    <a:pt x="0" y="273050"/>
                  </a:cubicBezTo>
                  <a:close/>
                </a:path>
              </a:pathLst>
            </a:custGeom>
            <a:solidFill>
              <a:srgbClr val="B9C6D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495425" y="4972050"/>
            <a:ext cx="49530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0F1B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105025" y="4933950"/>
            <a:ext cx="600039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B9C6D8"/>
                </a:solidFill>
                <a:latin typeface="IBM Plex Sans"/>
                <a:ea typeface="IBM Plex Sans"/>
                <a:cs typeface="IBM Plex Sans"/>
                <a:sym typeface="IBM Plex Sans"/>
              </a:rPr>
              <a:t>Check that source and destination are different.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533525" y="5705475"/>
            <a:ext cx="419100" cy="409575"/>
            <a:chOff x="0" y="0"/>
            <a:chExt cx="558800" cy="5461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58800" cy="546100"/>
            </a:xfrm>
            <a:custGeom>
              <a:avLst/>
              <a:gdLst/>
              <a:ahLst/>
              <a:cxnLst/>
              <a:rect l="l" t="t" r="r" b="b"/>
              <a:pathLst>
                <a:path w="558800" h="546100">
                  <a:moveTo>
                    <a:pt x="0" y="273050"/>
                  </a:moveTo>
                  <a:cubicBezTo>
                    <a:pt x="0" y="122301"/>
                    <a:pt x="122301" y="0"/>
                    <a:pt x="273050" y="0"/>
                  </a:cubicBezTo>
                  <a:lnTo>
                    <a:pt x="285750" y="0"/>
                  </a:lnTo>
                  <a:cubicBezTo>
                    <a:pt x="436499" y="0"/>
                    <a:pt x="558800" y="122301"/>
                    <a:pt x="558800" y="273050"/>
                  </a:cubicBezTo>
                  <a:cubicBezTo>
                    <a:pt x="558800" y="423799"/>
                    <a:pt x="436499" y="546100"/>
                    <a:pt x="285750" y="546100"/>
                  </a:cubicBezTo>
                  <a:lnTo>
                    <a:pt x="273050" y="546100"/>
                  </a:lnTo>
                  <a:cubicBezTo>
                    <a:pt x="122301" y="546100"/>
                    <a:pt x="0" y="423799"/>
                    <a:pt x="0" y="273050"/>
                  </a:cubicBezTo>
                  <a:close/>
                </a:path>
              </a:pathLst>
            </a:custGeom>
            <a:solidFill>
              <a:srgbClr val="B9C6D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493916" y="5743575"/>
            <a:ext cx="4953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0F1B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105025" y="5697855"/>
            <a:ext cx="412051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B9C6D8"/>
                </a:solidFill>
                <a:latin typeface="IBM Plex Sans"/>
                <a:ea typeface="IBM Plex Sans"/>
                <a:cs typeface="IBM Plex Sans"/>
                <a:sym typeface="IBM Plex Sans"/>
              </a:rPr>
              <a:t>Add the request to the queue.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8926174" y="2549635"/>
            <a:ext cx="8618114" cy="5115341"/>
            <a:chOff x="0" y="0"/>
            <a:chExt cx="11490818" cy="6820454"/>
          </a:xfrm>
        </p:grpSpPr>
        <p:sp>
          <p:nvSpPr>
            <p:cNvPr id="25" name="Freeform 25"/>
            <p:cNvSpPr/>
            <p:nvPr/>
          </p:nvSpPr>
          <p:spPr>
            <a:xfrm>
              <a:off x="5360" y="6917"/>
              <a:ext cx="11480099" cy="6806620"/>
            </a:xfrm>
            <a:custGeom>
              <a:avLst/>
              <a:gdLst/>
              <a:ahLst/>
              <a:cxnLst/>
              <a:rect l="l" t="t" r="r" b="b"/>
              <a:pathLst>
                <a:path w="11480099" h="6806620">
                  <a:moveTo>
                    <a:pt x="0" y="214436"/>
                  </a:moveTo>
                  <a:cubicBezTo>
                    <a:pt x="0" y="96012"/>
                    <a:pt x="74497" y="0"/>
                    <a:pt x="166359" y="0"/>
                  </a:cubicBezTo>
                  <a:lnTo>
                    <a:pt x="11313739" y="0"/>
                  </a:lnTo>
                  <a:cubicBezTo>
                    <a:pt x="11405602" y="0"/>
                    <a:pt x="11480099" y="96012"/>
                    <a:pt x="11480099" y="214436"/>
                  </a:cubicBezTo>
                  <a:lnTo>
                    <a:pt x="11480099" y="6592184"/>
                  </a:lnTo>
                  <a:cubicBezTo>
                    <a:pt x="11480099" y="6710608"/>
                    <a:pt x="11405602" y="6806620"/>
                    <a:pt x="11313739" y="6806620"/>
                  </a:cubicBezTo>
                  <a:lnTo>
                    <a:pt x="166359" y="6806620"/>
                  </a:lnTo>
                  <a:cubicBezTo>
                    <a:pt x="74497" y="6806620"/>
                    <a:pt x="0" y="6710608"/>
                    <a:pt x="0" y="6592184"/>
                  </a:cubicBezTo>
                  <a:close/>
                </a:path>
              </a:pathLst>
            </a:custGeom>
            <a:solidFill>
              <a:srgbClr val="1A2A4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0" y="0"/>
              <a:ext cx="11490819" cy="6820454"/>
            </a:xfrm>
            <a:custGeom>
              <a:avLst/>
              <a:gdLst/>
              <a:ahLst/>
              <a:cxnLst/>
              <a:rect l="l" t="t" r="r" b="b"/>
              <a:pathLst>
                <a:path w="11490819" h="6820454">
                  <a:moveTo>
                    <a:pt x="0" y="221353"/>
                  </a:moveTo>
                  <a:cubicBezTo>
                    <a:pt x="0" y="99056"/>
                    <a:pt x="76856" y="0"/>
                    <a:pt x="171719" y="0"/>
                  </a:cubicBezTo>
                  <a:lnTo>
                    <a:pt x="11319099" y="0"/>
                  </a:lnTo>
                  <a:lnTo>
                    <a:pt x="11319099" y="6917"/>
                  </a:lnTo>
                  <a:lnTo>
                    <a:pt x="11319099" y="0"/>
                  </a:lnTo>
                  <a:cubicBezTo>
                    <a:pt x="11413855" y="0"/>
                    <a:pt x="11490819" y="99056"/>
                    <a:pt x="11490819" y="221353"/>
                  </a:cubicBezTo>
                  <a:lnTo>
                    <a:pt x="11485459" y="221353"/>
                  </a:lnTo>
                  <a:lnTo>
                    <a:pt x="11490819" y="221353"/>
                  </a:lnTo>
                  <a:lnTo>
                    <a:pt x="11490819" y="6599101"/>
                  </a:lnTo>
                  <a:lnTo>
                    <a:pt x="11485459" y="6599101"/>
                  </a:lnTo>
                  <a:lnTo>
                    <a:pt x="11490819" y="6599101"/>
                  </a:lnTo>
                  <a:cubicBezTo>
                    <a:pt x="11490819" y="6721398"/>
                    <a:pt x="11413962" y="6820454"/>
                    <a:pt x="11319099" y="6820454"/>
                  </a:cubicBezTo>
                  <a:lnTo>
                    <a:pt x="11319099" y="6813537"/>
                  </a:lnTo>
                  <a:lnTo>
                    <a:pt x="11319099" y="6820454"/>
                  </a:lnTo>
                  <a:lnTo>
                    <a:pt x="171719" y="6820454"/>
                  </a:lnTo>
                  <a:lnTo>
                    <a:pt x="171719" y="6813537"/>
                  </a:lnTo>
                  <a:lnTo>
                    <a:pt x="171719" y="6820454"/>
                  </a:lnTo>
                  <a:cubicBezTo>
                    <a:pt x="76856" y="6820454"/>
                    <a:pt x="0" y="6721398"/>
                    <a:pt x="0" y="6599101"/>
                  </a:cubicBezTo>
                  <a:lnTo>
                    <a:pt x="0" y="221353"/>
                  </a:lnTo>
                  <a:lnTo>
                    <a:pt x="5360" y="221353"/>
                  </a:lnTo>
                  <a:lnTo>
                    <a:pt x="0" y="221353"/>
                  </a:lnTo>
                  <a:moveTo>
                    <a:pt x="10719" y="221353"/>
                  </a:moveTo>
                  <a:lnTo>
                    <a:pt x="10719" y="6599101"/>
                  </a:lnTo>
                  <a:lnTo>
                    <a:pt x="5360" y="6599101"/>
                  </a:lnTo>
                  <a:lnTo>
                    <a:pt x="10719" y="6599101"/>
                  </a:lnTo>
                  <a:cubicBezTo>
                    <a:pt x="10719" y="6713651"/>
                    <a:pt x="82751" y="6806619"/>
                    <a:pt x="171719" y="6806619"/>
                  </a:cubicBezTo>
                  <a:lnTo>
                    <a:pt x="11319099" y="6806619"/>
                  </a:lnTo>
                  <a:cubicBezTo>
                    <a:pt x="11407960" y="6806619"/>
                    <a:pt x="11480099" y="6713651"/>
                    <a:pt x="11480099" y="6599101"/>
                  </a:cubicBezTo>
                  <a:lnTo>
                    <a:pt x="11480099" y="221353"/>
                  </a:lnTo>
                  <a:cubicBezTo>
                    <a:pt x="11480099" y="106803"/>
                    <a:pt x="11408068" y="13835"/>
                    <a:pt x="11319099" y="13835"/>
                  </a:cubicBezTo>
                  <a:lnTo>
                    <a:pt x="171719" y="13835"/>
                  </a:lnTo>
                  <a:lnTo>
                    <a:pt x="171719" y="6917"/>
                  </a:lnTo>
                  <a:lnTo>
                    <a:pt x="171719" y="13835"/>
                  </a:lnTo>
                  <a:cubicBezTo>
                    <a:pt x="82751" y="13835"/>
                    <a:pt x="10719" y="106803"/>
                    <a:pt x="10719" y="221353"/>
                  </a:cubicBezTo>
                  <a:close/>
                </a:path>
              </a:pathLst>
            </a:custGeom>
            <a:solidFill>
              <a:srgbClr val="2C4062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9319788" y="2895600"/>
            <a:ext cx="9869614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2879"/>
              </a:lnSpc>
              <a:buAutoNum type="arabicPeriod"/>
            </a:pPr>
            <a:r>
              <a:rPr lang="en-US" sz="2400" b="1">
                <a:solidFill>
                  <a:srgbClr val="F5F3E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For Process Request: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395988" y="3457575"/>
            <a:ext cx="419100" cy="409575"/>
            <a:chOff x="0" y="0"/>
            <a:chExt cx="558800" cy="5461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58800" cy="546100"/>
            </a:xfrm>
            <a:custGeom>
              <a:avLst/>
              <a:gdLst/>
              <a:ahLst/>
              <a:cxnLst/>
              <a:rect l="l" t="t" r="r" b="b"/>
              <a:pathLst>
                <a:path w="558800" h="546100">
                  <a:moveTo>
                    <a:pt x="0" y="273050"/>
                  </a:moveTo>
                  <a:cubicBezTo>
                    <a:pt x="0" y="122301"/>
                    <a:pt x="122301" y="0"/>
                    <a:pt x="273050" y="0"/>
                  </a:cubicBezTo>
                  <a:lnTo>
                    <a:pt x="285750" y="0"/>
                  </a:lnTo>
                  <a:cubicBezTo>
                    <a:pt x="436499" y="0"/>
                    <a:pt x="558800" y="122301"/>
                    <a:pt x="558800" y="273050"/>
                  </a:cubicBezTo>
                  <a:cubicBezTo>
                    <a:pt x="558800" y="423799"/>
                    <a:pt x="436499" y="546100"/>
                    <a:pt x="285750" y="546100"/>
                  </a:cubicBezTo>
                  <a:lnTo>
                    <a:pt x="273050" y="546100"/>
                  </a:lnTo>
                  <a:cubicBezTo>
                    <a:pt x="122301" y="546100"/>
                    <a:pt x="0" y="423799"/>
                    <a:pt x="0" y="273050"/>
                  </a:cubicBezTo>
                  <a:close/>
                </a:path>
              </a:pathLst>
            </a:custGeom>
            <a:solidFill>
              <a:srgbClr val="2F6FB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9357888" y="3486150"/>
            <a:ext cx="4953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943243" y="3429000"/>
            <a:ext cx="882967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5F3EC"/>
                </a:solidFill>
                <a:latin typeface="IBM Plex Sans"/>
                <a:ea typeface="IBM Plex Sans"/>
                <a:cs typeface="IBM Plex Sans"/>
                <a:sym typeface="IBM Plex Sans"/>
              </a:rPr>
              <a:t>Check whether the queue is empty.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9395988" y="4133850"/>
            <a:ext cx="419100" cy="409575"/>
            <a:chOff x="0" y="0"/>
            <a:chExt cx="558800" cy="5461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58800" cy="546100"/>
            </a:xfrm>
            <a:custGeom>
              <a:avLst/>
              <a:gdLst/>
              <a:ahLst/>
              <a:cxnLst/>
              <a:rect l="l" t="t" r="r" b="b"/>
              <a:pathLst>
                <a:path w="558800" h="546100">
                  <a:moveTo>
                    <a:pt x="0" y="273050"/>
                  </a:moveTo>
                  <a:cubicBezTo>
                    <a:pt x="0" y="122301"/>
                    <a:pt x="122301" y="0"/>
                    <a:pt x="273050" y="0"/>
                  </a:cubicBezTo>
                  <a:lnTo>
                    <a:pt x="285750" y="0"/>
                  </a:lnTo>
                  <a:cubicBezTo>
                    <a:pt x="436499" y="0"/>
                    <a:pt x="558800" y="122301"/>
                    <a:pt x="558800" y="273050"/>
                  </a:cubicBezTo>
                  <a:cubicBezTo>
                    <a:pt x="558800" y="423799"/>
                    <a:pt x="436499" y="546100"/>
                    <a:pt x="285750" y="546100"/>
                  </a:cubicBezTo>
                  <a:lnTo>
                    <a:pt x="273050" y="546100"/>
                  </a:lnTo>
                  <a:cubicBezTo>
                    <a:pt x="122301" y="546100"/>
                    <a:pt x="0" y="423799"/>
                    <a:pt x="0" y="273050"/>
                  </a:cubicBezTo>
                  <a:close/>
                </a:path>
              </a:pathLst>
            </a:custGeom>
            <a:solidFill>
              <a:srgbClr val="2F6FB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9357888" y="4144328"/>
            <a:ext cx="4953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2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943243" y="4085272"/>
            <a:ext cx="882967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5F3EC"/>
                </a:solidFill>
                <a:latin typeface="IBM Plex Sans"/>
                <a:ea typeface="IBM Plex Sans"/>
                <a:cs typeface="IBM Plex Sans"/>
                <a:sym typeface="IBM Plex Sans"/>
              </a:rPr>
              <a:t>Take the first request from the queue.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9395988" y="4776788"/>
            <a:ext cx="419100" cy="409575"/>
            <a:chOff x="0" y="0"/>
            <a:chExt cx="558800" cy="5461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558800" cy="546100"/>
            </a:xfrm>
            <a:custGeom>
              <a:avLst/>
              <a:gdLst/>
              <a:ahLst/>
              <a:cxnLst/>
              <a:rect l="l" t="t" r="r" b="b"/>
              <a:pathLst>
                <a:path w="558800" h="546100">
                  <a:moveTo>
                    <a:pt x="0" y="273050"/>
                  </a:moveTo>
                  <a:cubicBezTo>
                    <a:pt x="0" y="122301"/>
                    <a:pt x="122301" y="0"/>
                    <a:pt x="273050" y="0"/>
                  </a:cubicBezTo>
                  <a:lnTo>
                    <a:pt x="285750" y="0"/>
                  </a:lnTo>
                  <a:cubicBezTo>
                    <a:pt x="436499" y="0"/>
                    <a:pt x="558800" y="122301"/>
                    <a:pt x="558800" y="273050"/>
                  </a:cubicBezTo>
                  <a:cubicBezTo>
                    <a:pt x="558800" y="423799"/>
                    <a:pt x="436499" y="546100"/>
                    <a:pt x="285750" y="546100"/>
                  </a:cubicBezTo>
                  <a:lnTo>
                    <a:pt x="273050" y="546100"/>
                  </a:lnTo>
                  <a:cubicBezTo>
                    <a:pt x="122301" y="546100"/>
                    <a:pt x="0" y="423799"/>
                    <a:pt x="0" y="273050"/>
                  </a:cubicBezTo>
                  <a:close/>
                </a:path>
              </a:pathLst>
            </a:custGeom>
            <a:solidFill>
              <a:srgbClr val="2F6FB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9357888" y="4786832"/>
            <a:ext cx="4953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3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943243" y="4741545"/>
            <a:ext cx="882967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5F3EC"/>
                </a:solidFill>
                <a:latin typeface="IBM Plex Sans"/>
                <a:ea typeface="IBM Plex Sans"/>
                <a:cs typeface="IBM Plex Sans"/>
                <a:sym typeface="IBM Plex Sans"/>
              </a:rPr>
              <a:t>Move the elevator to the source floor.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9395988" y="5407862"/>
            <a:ext cx="419100" cy="409575"/>
            <a:chOff x="0" y="0"/>
            <a:chExt cx="558800" cy="5461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58800" cy="546100"/>
            </a:xfrm>
            <a:custGeom>
              <a:avLst/>
              <a:gdLst/>
              <a:ahLst/>
              <a:cxnLst/>
              <a:rect l="l" t="t" r="r" b="b"/>
              <a:pathLst>
                <a:path w="558800" h="546100">
                  <a:moveTo>
                    <a:pt x="0" y="273050"/>
                  </a:moveTo>
                  <a:cubicBezTo>
                    <a:pt x="0" y="122301"/>
                    <a:pt x="122301" y="0"/>
                    <a:pt x="273050" y="0"/>
                  </a:cubicBezTo>
                  <a:lnTo>
                    <a:pt x="285750" y="0"/>
                  </a:lnTo>
                  <a:cubicBezTo>
                    <a:pt x="436499" y="0"/>
                    <a:pt x="558800" y="122301"/>
                    <a:pt x="558800" y="273050"/>
                  </a:cubicBezTo>
                  <a:cubicBezTo>
                    <a:pt x="558800" y="423799"/>
                    <a:pt x="436499" y="546100"/>
                    <a:pt x="285750" y="546100"/>
                  </a:cubicBezTo>
                  <a:lnTo>
                    <a:pt x="273050" y="546100"/>
                  </a:lnTo>
                  <a:cubicBezTo>
                    <a:pt x="122301" y="546100"/>
                    <a:pt x="0" y="423799"/>
                    <a:pt x="0" y="273050"/>
                  </a:cubicBezTo>
                  <a:close/>
                </a:path>
              </a:pathLst>
            </a:custGeom>
            <a:solidFill>
              <a:srgbClr val="2F6FB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9357888" y="5432108"/>
            <a:ext cx="4953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4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943243" y="5397817"/>
            <a:ext cx="882967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5F3EC"/>
                </a:solidFill>
                <a:latin typeface="IBM Plex Sans"/>
                <a:ea typeface="IBM Plex Sans"/>
                <a:cs typeface="IBM Plex Sans"/>
                <a:sym typeface="IBM Plex Sans"/>
              </a:rPr>
              <a:t>Move the elevator to the destination floor.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9395988" y="6063615"/>
            <a:ext cx="419100" cy="409575"/>
            <a:chOff x="0" y="0"/>
            <a:chExt cx="558800" cy="5461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58800" cy="546100"/>
            </a:xfrm>
            <a:custGeom>
              <a:avLst/>
              <a:gdLst/>
              <a:ahLst/>
              <a:cxnLst/>
              <a:rect l="l" t="t" r="r" b="b"/>
              <a:pathLst>
                <a:path w="558800" h="546100">
                  <a:moveTo>
                    <a:pt x="0" y="273050"/>
                  </a:moveTo>
                  <a:cubicBezTo>
                    <a:pt x="0" y="122301"/>
                    <a:pt x="122301" y="0"/>
                    <a:pt x="273050" y="0"/>
                  </a:cubicBezTo>
                  <a:lnTo>
                    <a:pt x="285750" y="0"/>
                  </a:lnTo>
                  <a:cubicBezTo>
                    <a:pt x="436499" y="0"/>
                    <a:pt x="558800" y="122301"/>
                    <a:pt x="558800" y="273050"/>
                  </a:cubicBezTo>
                  <a:cubicBezTo>
                    <a:pt x="558800" y="423799"/>
                    <a:pt x="436499" y="546100"/>
                    <a:pt x="285750" y="546100"/>
                  </a:cubicBezTo>
                  <a:lnTo>
                    <a:pt x="273050" y="546100"/>
                  </a:lnTo>
                  <a:cubicBezTo>
                    <a:pt x="122301" y="546100"/>
                    <a:pt x="0" y="423799"/>
                    <a:pt x="0" y="273050"/>
                  </a:cubicBezTo>
                  <a:close/>
                </a:path>
              </a:pathLst>
            </a:custGeom>
            <a:solidFill>
              <a:srgbClr val="2F6FB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9357888" y="6073140"/>
            <a:ext cx="4953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5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943243" y="6063615"/>
            <a:ext cx="882967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5F3EC"/>
                </a:solidFill>
                <a:latin typeface="IBM Plex Sans"/>
                <a:ea typeface="IBM Plex Sans"/>
                <a:cs typeface="IBM Plex Sans"/>
                <a:sym typeface="IBM Plex Sans"/>
              </a:rPr>
              <a:t>Update the current floor.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9395988" y="6738938"/>
            <a:ext cx="419100" cy="409575"/>
            <a:chOff x="0" y="0"/>
            <a:chExt cx="558800" cy="5461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558800" cy="546100"/>
            </a:xfrm>
            <a:custGeom>
              <a:avLst/>
              <a:gdLst/>
              <a:ahLst/>
              <a:cxnLst/>
              <a:rect l="l" t="t" r="r" b="b"/>
              <a:pathLst>
                <a:path w="558800" h="546100">
                  <a:moveTo>
                    <a:pt x="0" y="273050"/>
                  </a:moveTo>
                  <a:cubicBezTo>
                    <a:pt x="0" y="122301"/>
                    <a:pt x="122301" y="0"/>
                    <a:pt x="273050" y="0"/>
                  </a:cubicBezTo>
                  <a:lnTo>
                    <a:pt x="285750" y="0"/>
                  </a:lnTo>
                  <a:cubicBezTo>
                    <a:pt x="436499" y="0"/>
                    <a:pt x="558800" y="122301"/>
                    <a:pt x="558800" y="273050"/>
                  </a:cubicBezTo>
                  <a:cubicBezTo>
                    <a:pt x="558800" y="423799"/>
                    <a:pt x="436499" y="546100"/>
                    <a:pt x="285750" y="546100"/>
                  </a:cubicBezTo>
                  <a:lnTo>
                    <a:pt x="273050" y="546100"/>
                  </a:lnTo>
                  <a:cubicBezTo>
                    <a:pt x="122301" y="546100"/>
                    <a:pt x="0" y="423799"/>
                    <a:pt x="0" y="273050"/>
                  </a:cubicBezTo>
                  <a:close/>
                </a:path>
              </a:pathLst>
            </a:custGeom>
            <a:solidFill>
              <a:srgbClr val="2F6FB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9357888" y="6744653"/>
            <a:ext cx="4953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6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943243" y="6710363"/>
            <a:ext cx="882967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5F3EC"/>
                </a:solidFill>
                <a:latin typeface="IBM Plex Sans"/>
                <a:ea typeface="IBM Plex Sans"/>
                <a:cs typeface="IBM Plex Sans"/>
                <a:sym typeface="IBM Plex Sans"/>
              </a:rPr>
              <a:t>Add the completed request to the linked list.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219200" y="9324975"/>
            <a:ext cx="16325088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7F93B2"/>
                </a:solidFill>
                <a:latin typeface="IBM Plex Sans"/>
                <a:ea typeface="IBM Plex Sans"/>
                <a:cs typeface="IBM Plex Sans"/>
                <a:sym typeface="IBM Plex Sans"/>
              </a:rPr>
              <a:t>Elevator Request Management System ·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19200" y="1181100"/>
            <a:ext cx="16325088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225">
                <a:solidFill>
                  <a:srgbClr val="E8A3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CONTROL FLOW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19200" y="1819275"/>
            <a:ext cx="16325088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4200" b="1">
                <a:solidFill>
                  <a:srgbClr val="F5F3E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System Algorithm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28700" y="2714625"/>
            <a:ext cx="9284478" cy="1557337"/>
            <a:chOff x="0" y="0"/>
            <a:chExt cx="21703720" cy="3640487"/>
          </a:xfrm>
        </p:grpSpPr>
        <p:sp>
          <p:nvSpPr>
            <p:cNvPr id="5" name="Freeform 5"/>
            <p:cNvSpPr/>
            <p:nvPr/>
          </p:nvSpPr>
          <p:spPr>
            <a:xfrm>
              <a:off x="10123" y="3692"/>
              <a:ext cx="21683474" cy="3633102"/>
            </a:xfrm>
            <a:custGeom>
              <a:avLst/>
              <a:gdLst/>
              <a:ahLst/>
              <a:cxnLst/>
              <a:rect l="l" t="t" r="r" b="b"/>
              <a:pathLst>
                <a:path w="21683474" h="3633102">
                  <a:moveTo>
                    <a:pt x="0" y="114458"/>
                  </a:moveTo>
                  <a:cubicBezTo>
                    <a:pt x="0" y="51248"/>
                    <a:pt x="140710" y="0"/>
                    <a:pt x="314218" y="0"/>
                  </a:cubicBezTo>
                  <a:lnTo>
                    <a:pt x="21369256" y="0"/>
                  </a:lnTo>
                  <a:cubicBezTo>
                    <a:pt x="21542766" y="0"/>
                    <a:pt x="21683474" y="51248"/>
                    <a:pt x="21683474" y="114458"/>
                  </a:cubicBezTo>
                  <a:lnTo>
                    <a:pt x="21683474" y="3518645"/>
                  </a:lnTo>
                  <a:cubicBezTo>
                    <a:pt x="21683474" y="3581855"/>
                    <a:pt x="21542766" y="3633102"/>
                    <a:pt x="21369256" y="3633102"/>
                  </a:cubicBezTo>
                  <a:lnTo>
                    <a:pt x="314218" y="3633102"/>
                  </a:lnTo>
                  <a:cubicBezTo>
                    <a:pt x="140710" y="3633102"/>
                    <a:pt x="0" y="3581855"/>
                    <a:pt x="0" y="3518645"/>
                  </a:cubicBezTo>
                  <a:close/>
                </a:path>
              </a:pathLst>
            </a:custGeom>
            <a:solidFill>
              <a:srgbClr val="1A2A4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Freeform 6"/>
            <p:cNvSpPr/>
            <p:nvPr/>
          </p:nvSpPr>
          <p:spPr>
            <a:xfrm>
              <a:off x="0" y="0"/>
              <a:ext cx="21703720" cy="3640487"/>
            </a:xfrm>
            <a:custGeom>
              <a:avLst/>
              <a:gdLst/>
              <a:ahLst/>
              <a:cxnLst/>
              <a:rect l="l" t="t" r="r" b="b"/>
              <a:pathLst>
                <a:path w="21703720" h="3640487">
                  <a:moveTo>
                    <a:pt x="0" y="118150"/>
                  </a:moveTo>
                  <a:cubicBezTo>
                    <a:pt x="0" y="52872"/>
                    <a:pt x="145164" y="0"/>
                    <a:pt x="324341" y="0"/>
                  </a:cubicBezTo>
                  <a:lnTo>
                    <a:pt x="21379379" y="0"/>
                  </a:lnTo>
                  <a:lnTo>
                    <a:pt x="21379379" y="3692"/>
                  </a:lnTo>
                  <a:lnTo>
                    <a:pt x="21379379" y="0"/>
                  </a:lnTo>
                  <a:cubicBezTo>
                    <a:pt x="21558352" y="0"/>
                    <a:pt x="21703720" y="52872"/>
                    <a:pt x="21703720" y="118150"/>
                  </a:cubicBezTo>
                  <a:lnTo>
                    <a:pt x="21693597" y="118150"/>
                  </a:lnTo>
                  <a:lnTo>
                    <a:pt x="21703720" y="118150"/>
                  </a:lnTo>
                  <a:lnTo>
                    <a:pt x="21703720" y="3522337"/>
                  </a:lnTo>
                  <a:lnTo>
                    <a:pt x="21693597" y="3522337"/>
                  </a:lnTo>
                  <a:lnTo>
                    <a:pt x="21703720" y="3522337"/>
                  </a:lnTo>
                  <a:cubicBezTo>
                    <a:pt x="21703720" y="3587615"/>
                    <a:pt x="21558555" y="3640487"/>
                    <a:pt x="21379379" y="3640487"/>
                  </a:cubicBezTo>
                  <a:lnTo>
                    <a:pt x="21379379" y="3636794"/>
                  </a:lnTo>
                  <a:lnTo>
                    <a:pt x="21379379" y="3640487"/>
                  </a:lnTo>
                  <a:lnTo>
                    <a:pt x="324341" y="3640487"/>
                  </a:lnTo>
                  <a:lnTo>
                    <a:pt x="324341" y="3636794"/>
                  </a:lnTo>
                  <a:lnTo>
                    <a:pt x="324341" y="3640487"/>
                  </a:lnTo>
                  <a:cubicBezTo>
                    <a:pt x="145164" y="3640487"/>
                    <a:pt x="0" y="3587615"/>
                    <a:pt x="0" y="3522337"/>
                  </a:cubicBezTo>
                  <a:lnTo>
                    <a:pt x="0" y="118150"/>
                  </a:lnTo>
                  <a:lnTo>
                    <a:pt x="10123" y="118150"/>
                  </a:lnTo>
                  <a:lnTo>
                    <a:pt x="0" y="118150"/>
                  </a:lnTo>
                  <a:moveTo>
                    <a:pt x="20246" y="118150"/>
                  </a:moveTo>
                  <a:lnTo>
                    <a:pt x="20246" y="3522337"/>
                  </a:lnTo>
                  <a:lnTo>
                    <a:pt x="10123" y="3522337"/>
                  </a:lnTo>
                  <a:lnTo>
                    <a:pt x="20246" y="3522337"/>
                  </a:lnTo>
                  <a:cubicBezTo>
                    <a:pt x="20246" y="3583479"/>
                    <a:pt x="156299" y="3633102"/>
                    <a:pt x="324341" y="3633102"/>
                  </a:cubicBezTo>
                  <a:lnTo>
                    <a:pt x="21379379" y="3633102"/>
                  </a:lnTo>
                  <a:cubicBezTo>
                    <a:pt x="21547220" y="3633102"/>
                    <a:pt x="21683473" y="3583479"/>
                    <a:pt x="21683473" y="3522337"/>
                  </a:cubicBezTo>
                  <a:lnTo>
                    <a:pt x="21683473" y="118150"/>
                  </a:lnTo>
                  <a:cubicBezTo>
                    <a:pt x="21683473" y="57007"/>
                    <a:pt x="21547421" y="7384"/>
                    <a:pt x="21379379" y="7384"/>
                  </a:cubicBezTo>
                  <a:lnTo>
                    <a:pt x="324341" y="7384"/>
                  </a:lnTo>
                  <a:lnTo>
                    <a:pt x="324341" y="3692"/>
                  </a:lnTo>
                  <a:lnTo>
                    <a:pt x="324341" y="7384"/>
                  </a:lnTo>
                  <a:cubicBezTo>
                    <a:pt x="156299" y="7384"/>
                    <a:pt x="20246" y="57007"/>
                    <a:pt x="20246" y="118150"/>
                  </a:cubicBezTo>
                  <a:close/>
                </a:path>
              </a:pathLst>
            </a:custGeom>
            <a:solidFill>
              <a:srgbClr val="2C4062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76497" y="3533775"/>
            <a:ext cx="419851" cy="409575"/>
            <a:chOff x="0" y="0"/>
            <a:chExt cx="559801" cy="5461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59801" cy="546100"/>
            </a:xfrm>
            <a:custGeom>
              <a:avLst/>
              <a:gdLst/>
              <a:ahLst/>
              <a:cxnLst/>
              <a:rect l="l" t="t" r="r" b="b"/>
              <a:pathLst>
                <a:path w="559801" h="546100">
                  <a:moveTo>
                    <a:pt x="0" y="273050"/>
                  </a:moveTo>
                  <a:cubicBezTo>
                    <a:pt x="0" y="122301"/>
                    <a:pt x="122520" y="0"/>
                    <a:pt x="273539" y="0"/>
                  </a:cubicBezTo>
                  <a:lnTo>
                    <a:pt x="286262" y="0"/>
                  </a:lnTo>
                  <a:cubicBezTo>
                    <a:pt x="437281" y="0"/>
                    <a:pt x="559801" y="122301"/>
                    <a:pt x="559801" y="273050"/>
                  </a:cubicBezTo>
                  <a:cubicBezTo>
                    <a:pt x="559801" y="423799"/>
                    <a:pt x="437281" y="546100"/>
                    <a:pt x="286262" y="546100"/>
                  </a:cubicBezTo>
                  <a:lnTo>
                    <a:pt x="273539" y="546100"/>
                  </a:lnTo>
                  <a:cubicBezTo>
                    <a:pt x="122520" y="546100"/>
                    <a:pt x="0" y="423799"/>
                    <a:pt x="0" y="273050"/>
                  </a:cubicBezTo>
                  <a:close/>
                </a:path>
              </a:pathLst>
            </a:custGeom>
            <a:solidFill>
              <a:srgbClr val="2F6FB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538329" y="3543300"/>
            <a:ext cx="496187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56397" y="2857500"/>
            <a:ext cx="6030584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2879"/>
              </a:lnSpc>
              <a:buAutoNum type="arabicPeriod"/>
            </a:pPr>
            <a:r>
              <a:rPr lang="en-US" sz="2400" b="1">
                <a:solidFill>
                  <a:srgbClr val="F5F3E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For Display Pending Requests: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28700" y="4548188"/>
            <a:ext cx="9267875" cy="2780824"/>
            <a:chOff x="0" y="0"/>
            <a:chExt cx="21664908" cy="6500551"/>
          </a:xfrm>
        </p:grpSpPr>
        <p:sp>
          <p:nvSpPr>
            <p:cNvPr id="12" name="Freeform 12"/>
            <p:cNvSpPr/>
            <p:nvPr/>
          </p:nvSpPr>
          <p:spPr>
            <a:xfrm>
              <a:off x="10105" y="6593"/>
              <a:ext cx="21644697" cy="6487365"/>
            </a:xfrm>
            <a:custGeom>
              <a:avLst/>
              <a:gdLst/>
              <a:ahLst/>
              <a:cxnLst/>
              <a:rect l="l" t="t" r="r" b="b"/>
              <a:pathLst>
                <a:path w="21644697" h="6487365">
                  <a:moveTo>
                    <a:pt x="0" y="204378"/>
                  </a:moveTo>
                  <a:cubicBezTo>
                    <a:pt x="0" y="91509"/>
                    <a:pt x="140458" y="0"/>
                    <a:pt x="313656" y="0"/>
                  </a:cubicBezTo>
                  <a:lnTo>
                    <a:pt x="21331042" y="0"/>
                  </a:lnTo>
                  <a:cubicBezTo>
                    <a:pt x="21504241" y="0"/>
                    <a:pt x="21644697" y="91509"/>
                    <a:pt x="21644697" y="204378"/>
                  </a:cubicBezTo>
                  <a:lnTo>
                    <a:pt x="21644697" y="6282987"/>
                  </a:lnTo>
                  <a:cubicBezTo>
                    <a:pt x="21644697" y="6395856"/>
                    <a:pt x="21504241" y="6487365"/>
                    <a:pt x="21331042" y="6487365"/>
                  </a:cubicBezTo>
                  <a:lnTo>
                    <a:pt x="313656" y="6487365"/>
                  </a:lnTo>
                  <a:cubicBezTo>
                    <a:pt x="140458" y="6487365"/>
                    <a:pt x="0" y="6395856"/>
                    <a:pt x="0" y="6282987"/>
                  </a:cubicBezTo>
                  <a:close/>
                </a:path>
              </a:pathLst>
            </a:custGeom>
            <a:solidFill>
              <a:srgbClr val="1A2A4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21664909" cy="6500551"/>
            </a:xfrm>
            <a:custGeom>
              <a:avLst/>
              <a:gdLst/>
              <a:ahLst/>
              <a:cxnLst/>
              <a:rect l="l" t="t" r="r" b="b"/>
              <a:pathLst>
                <a:path w="21664909" h="6500551">
                  <a:moveTo>
                    <a:pt x="0" y="210971"/>
                  </a:moveTo>
                  <a:cubicBezTo>
                    <a:pt x="0" y="94410"/>
                    <a:pt x="144904" y="0"/>
                    <a:pt x="323761" y="0"/>
                  </a:cubicBezTo>
                  <a:lnTo>
                    <a:pt x="21341147" y="0"/>
                  </a:lnTo>
                  <a:lnTo>
                    <a:pt x="21341147" y="6593"/>
                  </a:lnTo>
                  <a:lnTo>
                    <a:pt x="21341147" y="0"/>
                  </a:lnTo>
                  <a:cubicBezTo>
                    <a:pt x="21519801" y="0"/>
                    <a:pt x="21664909" y="94410"/>
                    <a:pt x="21664909" y="210971"/>
                  </a:cubicBezTo>
                  <a:lnTo>
                    <a:pt x="21654802" y="210971"/>
                  </a:lnTo>
                  <a:lnTo>
                    <a:pt x="21664909" y="210971"/>
                  </a:lnTo>
                  <a:lnTo>
                    <a:pt x="21664909" y="6289580"/>
                  </a:lnTo>
                  <a:lnTo>
                    <a:pt x="21654802" y="6289580"/>
                  </a:lnTo>
                  <a:lnTo>
                    <a:pt x="21664909" y="6289580"/>
                  </a:lnTo>
                  <a:cubicBezTo>
                    <a:pt x="21664909" y="6406141"/>
                    <a:pt x="21520003" y="6500551"/>
                    <a:pt x="21341147" y="6500551"/>
                  </a:cubicBezTo>
                  <a:lnTo>
                    <a:pt x="21341147" y="6493958"/>
                  </a:lnTo>
                  <a:lnTo>
                    <a:pt x="21341147" y="6500551"/>
                  </a:lnTo>
                  <a:lnTo>
                    <a:pt x="323761" y="6500551"/>
                  </a:lnTo>
                  <a:lnTo>
                    <a:pt x="323761" y="6493958"/>
                  </a:lnTo>
                  <a:lnTo>
                    <a:pt x="323761" y="6500551"/>
                  </a:lnTo>
                  <a:cubicBezTo>
                    <a:pt x="144904" y="6500551"/>
                    <a:pt x="0" y="6406141"/>
                    <a:pt x="0" y="6289580"/>
                  </a:cubicBezTo>
                  <a:lnTo>
                    <a:pt x="0" y="210971"/>
                  </a:lnTo>
                  <a:lnTo>
                    <a:pt x="10105" y="210971"/>
                  </a:lnTo>
                  <a:lnTo>
                    <a:pt x="0" y="210971"/>
                  </a:lnTo>
                  <a:moveTo>
                    <a:pt x="20210" y="210971"/>
                  </a:moveTo>
                  <a:lnTo>
                    <a:pt x="20210" y="6289580"/>
                  </a:lnTo>
                  <a:lnTo>
                    <a:pt x="10105" y="6289580"/>
                  </a:lnTo>
                  <a:lnTo>
                    <a:pt x="20210" y="6289580"/>
                  </a:lnTo>
                  <a:cubicBezTo>
                    <a:pt x="20210" y="6398757"/>
                    <a:pt x="156020" y="6487365"/>
                    <a:pt x="323761" y="6487365"/>
                  </a:cubicBezTo>
                  <a:lnTo>
                    <a:pt x="21341147" y="6487365"/>
                  </a:lnTo>
                  <a:cubicBezTo>
                    <a:pt x="21508687" y="6487365"/>
                    <a:pt x="21644697" y="6398757"/>
                    <a:pt x="21644697" y="6289580"/>
                  </a:cubicBezTo>
                  <a:lnTo>
                    <a:pt x="21644697" y="210971"/>
                  </a:lnTo>
                  <a:cubicBezTo>
                    <a:pt x="21644697" y="101794"/>
                    <a:pt x="21508889" y="13186"/>
                    <a:pt x="21341147" y="13186"/>
                  </a:cubicBezTo>
                  <a:lnTo>
                    <a:pt x="323761" y="13186"/>
                  </a:lnTo>
                  <a:lnTo>
                    <a:pt x="323761" y="6593"/>
                  </a:lnTo>
                  <a:lnTo>
                    <a:pt x="323761" y="13186"/>
                  </a:lnTo>
                  <a:cubicBezTo>
                    <a:pt x="156020" y="13186"/>
                    <a:pt x="20210" y="101794"/>
                    <a:pt x="20210" y="210971"/>
                  </a:cubicBezTo>
                  <a:close/>
                </a:path>
              </a:pathLst>
            </a:custGeom>
            <a:solidFill>
              <a:srgbClr val="2C4062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06090" y="5424130"/>
            <a:ext cx="495300" cy="409575"/>
            <a:chOff x="0" y="0"/>
            <a:chExt cx="660400" cy="546100"/>
          </a:xfrm>
        </p:grpSpPr>
        <p:grpSp>
          <p:nvGrpSpPr>
            <p:cNvPr id="15" name="Group 15"/>
            <p:cNvGrpSpPr/>
            <p:nvPr/>
          </p:nvGrpSpPr>
          <p:grpSpPr>
            <a:xfrm>
              <a:off x="50800" y="0"/>
              <a:ext cx="558800" cy="546100"/>
              <a:chOff x="0" y="0"/>
              <a:chExt cx="558800" cy="5461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558800" cy="546100"/>
              </a:xfrm>
              <a:custGeom>
                <a:avLst/>
                <a:gdLst/>
                <a:ahLst/>
                <a:cxnLst/>
                <a:rect l="l" t="t" r="r" b="b"/>
                <a:pathLst>
                  <a:path w="558800" h="546100">
                    <a:moveTo>
                      <a:pt x="0" y="273050"/>
                    </a:moveTo>
                    <a:cubicBezTo>
                      <a:pt x="0" y="122301"/>
                      <a:pt x="122301" y="0"/>
                      <a:pt x="273050" y="0"/>
                    </a:cubicBezTo>
                    <a:lnTo>
                      <a:pt x="285750" y="0"/>
                    </a:lnTo>
                    <a:cubicBezTo>
                      <a:pt x="436499" y="0"/>
                      <a:pt x="558800" y="122301"/>
                      <a:pt x="558800" y="273050"/>
                    </a:cubicBezTo>
                    <a:cubicBezTo>
                      <a:pt x="558800" y="423799"/>
                      <a:pt x="436499" y="546100"/>
                      <a:pt x="285750" y="546100"/>
                    </a:cubicBezTo>
                    <a:lnTo>
                      <a:pt x="273050" y="546100"/>
                    </a:lnTo>
                    <a:cubicBezTo>
                      <a:pt x="122301" y="546100"/>
                      <a:pt x="0" y="423799"/>
                      <a:pt x="0" y="273050"/>
                    </a:cubicBezTo>
                    <a:close/>
                  </a:path>
                </a:pathLst>
              </a:custGeom>
              <a:solidFill>
                <a:srgbClr val="2F6FB0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0" y="25400"/>
              <a:ext cx="6604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1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993796" y="5386030"/>
            <a:ext cx="882967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5F3EC"/>
                </a:solidFill>
                <a:latin typeface="IBM Plex Sans"/>
                <a:ea typeface="IBM Plex Sans"/>
                <a:cs typeface="IBM Plex Sans"/>
                <a:sym typeface="IBM Plex Sans"/>
              </a:rPr>
              <a:t>Enter the request ID.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06090" y="4781550"/>
            <a:ext cx="601980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2879"/>
              </a:lnSpc>
              <a:buAutoNum type="arabicPeriod"/>
            </a:pPr>
            <a:r>
              <a:rPr lang="en-US" sz="2400" b="1">
                <a:solidFill>
                  <a:srgbClr val="F5F3E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For Cancel Request: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020008" y="6018490"/>
            <a:ext cx="882967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5F3EC"/>
                </a:solidFill>
                <a:latin typeface="IBM Plex Sans"/>
                <a:ea typeface="IBM Plex Sans"/>
                <a:cs typeface="IBM Plex Sans"/>
                <a:sym typeface="IBM Plex Sans"/>
              </a:rPr>
              <a:t>Search the queue.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020008" y="6646426"/>
            <a:ext cx="882967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5F3EC"/>
                </a:solidFill>
                <a:latin typeface="IBM Plex Sans"/>
                <a:ea typeface="IBM Plex Sans"/>
                <a:cs typeface="IBM Plex Sans"/>
                <a:sym typeface="IBM Plex Sans"/>
              </a:rPr>
              <a:t>If found, remove that request.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576066" y="3533775"/>
            <a:ext cx="419100" cy="409575"/>
            <a:chOff x="0" y="0"/>
            <a:chExt cx="558800" cy="5461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58800" cy="546100"/>
            </a:xfrm>
            <a:custGeom>
              <a:avLst/>
              <a:gdLst/>
              <a:ahLst/>
              <a:cxnLst/>
              <a:rect l="l" t="t" r="r" b="b"/>
              <a:pathLst>
                <a:path w="558800" h="546100">
                  <a:moveTo>
                    <a:pt x="0" y="273050"/>
                  </a:moveTo>
                  <a:cubicBezTo>
                    <a:pt x="0" y="122301"/>
                    <a:pt x="122301" y="0"/>
                    <a:pt x="273050" y="0"/>
                  </a:cubicBezTo>
                  <a:lnTo>
                    <a:pt x="285750" y="0"/>
                  </a:lnTo>
                  <a:cubicBezTo>
                    <a:pt x="436499" y="0"/>
                    <a:pt x="558800" y="122301"/>
                    <a:pt x="558800" y="273050"/>
                  </a:cubicBezTo>
                  <a:cubicBezTo>
                    <a:pt x="558800" y="423799"/>
                    <a:pt x="436499" y="546100"/>
                    <a:pt x="285750" y="546100"/>
                  </a:cubicBezTo>
                  <a:lnTo>
                    <a:pt x="273050" y="546100"/>
                  </a:lnTo>
                  <a:cubicBezTo>
                    <a:pt x="122301" y="546100"/>
                    <a:pt x="0" y="423799"/>
                    <a:pt x="0" y="273050"/>
                  </a:cubicBezTo>
                  <a:close/>
                </a:path>
              </a:pathLst>
            </a:custGeom>
            <a:solidFill>
              <a:srgbClr val="2F6FB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537966" y="3543300"/>
            <a:ext cx="4953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147566" y="3505200"/>
            <a:ext cx="741081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5F3EC"/>
                </a:solidFill>
                <a:latin typeface="IBM Plex Sans"/>
                <a:ea typeface="IBM Plex Sans"/>
                <a:cs typeface="IBM Plex Sans"/>
                <a:sym typeface="IBM Plex Sans"/>
              </a:rPr>
              <a:t>Display all requests currently in the queue.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028700" y="7614761"/>
            <a:ext cx="9267875" cy="1557337"/>
            <a:chOff x="0" y="0"/>
            <a:chExt cx="21664908" cy="3640487"/>
          </a:xfrm>
        </p:grpSpPr>
        <p:sp>
          <p:nvSpPr>
            <p:cNvPr id="27" name="Freeform 27"/>
            <p:cNvSpPr/>
            <p:nvPr/>
          </p:nvSpPr>
          <p:spPr>
            <a:xfrm>
              <a:off x="10105" y="3692"/>
              <a:ext cx="21644697" cy="3633102"/>
            </a:xfrm>
            <a:custGeom>
              <a:avLst/>
              <a:gdLst/>
              <a:ahLst/>
              <a:cxnLst/>
              <a:rect l="l" t="t" r="r" b="b"/>
              <a:pathLst>
                <a:path w="21644697" h="3633102">
                  <a:moveTo>
                    <a:pt x="0" y="114458"/>
                  </a:moveTo>
                  <a:cubicBezTo>
                    <a:pt x="0" y="51248"/>
                    <a:pt x="140458" y="0"/>
                    <a:pt x="313656" y="0"/>
                  </a:cubicBezTo>
                  <a:lnTo>
                    <a:pt x="21331042" y="0"/>
                  </a:lnTo>
                  <a:cubicBezTo>
                    <a:pt x="21504241" y="0"/>
                    <a:pt x="21644697" y="51248"/>
                    <a:pt x="21644697" y="114458"/>
                  </a:cubicBezTo>
                  <a:lnTo>
                    <a:pt x="21644697" y="3518645"/>
                  </a:lnTo>
                  <a:cubicBezTo>
                    <a:pt x="21644697" y="3581855"/>
                    <a:pt x="21504241" y="3633102"/>
                    <a:pt x="21331042" y="3633102"/>
                  </a:cubicBezTo>
                  <a:lnTo>
                    <a:pt x="313656" y="3633102"/>
                  </a:lnTo>
                  <a:cubicBezTo>
                    <a:pt x="140458" y="3633102"/>
                    <a:pt x="0" y="3581855"/>
                    <a:pt x="0" y="3518645"/>
                  </a:cubicBezTo>
                  <a:close/>
                </a:path>
              </a:pathLst>
            </a:custGeom>
            <a:solidFill>
              <a:srgbClr val="1A2A4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0" y="0"/>
              <a:ext cx="21664909" cy="3640487"/>
            </a:xfrm>
            <a:custGeom>
              <a:avLst/>
              <a:gdLst/>
              <a:ahLst/>
              <a:cxnLst/>
              <a:rect l="l" t="t" r="r" b="b"/>
              <a:pathLst>
                <a:path w="21664909" h="3640487">
                  <a:moveTo>
                    <a:pt x="0" y="118150"/>
                  </a:moveTo>
                  <a:cubicBezTo>
                    <a:pt x="0" y="52872"/>
                    <a:pt x="144904" y="0"/>
                    <a:pt x="323761" y="0"/>
                  </a:cubicBezTo>
                  <a:lnTo>
                    <a:pt x="21341147" y="0"/>
                  </a:lnTo>
                  <a:lnTo>
                    <a:pt x="21341147" y="3692"/>
                  </a:lnTo>
                  <a:lnTo>
                    <a:pt x="21341147" y="0"/>
                  </a:lnTo>
                  <a:cubicBezTo>
                    <a:pt x="21519801" y="0"/>
                    <a:pt x="21664909" y="52872"/>
                    <a:pt x="21664909" y="118150"/>
                  </a:cubicBezTo>
                  <a:lnTo>
                    <a:pt x="21654802" y="118150"/>
                  </a:lnTo>
                  <a:lnTo>
                    <a:pt x="21664909" y="118150"/>
                  </a:lnTo>
                  <a:lnTo>
                    <a:pt x="21664909" y="3522337"/>
                  </a:lnTo>
                  <a:lnTo>
                    <a:pt x="21654802" y="3522337"/>
                  </a:lnTo>
                  <a:lnTo>
                    <a:pt x="21664909" y="3522337"/>
                  </a:lnTo>
                  <a:cubicBezTo>
                    <a:pt x="21664909" y="3587615"/>
                    <a:pt x="21520003" y="3640487"/>
                    <a:pt x="21341147" y="3640487"/>
                  </a:cubicBezTo>
                  <a:lnTo>
                    <a:pt x="21341147" y="3636794"/>
                  </a:lnTo>
                  <a:lnTo>
                    <a:pt x="21341147" y="3640487"/>
                  </a:lnTo>
                  <a:lnTo>
                    <a:pt x="323761" y="3640487"/>
                  </a:lnTo>
                  <a:lnTo>
                    <a:pt x="323761" y="3636794"/>
                  </a:lnTo>
                  <a:lnTo>
                    <a:pt x="323761" y="3640487"/>
                  </a:lnTo>
                  <a:cubicBezTo>
                    <a:pt x="144904" y="3640487"/>
                    <a:pt x="0" y="3587615"/>
                    <a:pt x="0" y="3522337"/>
                  </a:cubicBezTo>
                  <a:lnTo>
                    <a:pt x="0" y="118150"/>
                  </a:lnTo>
                  <a:lnTo>
                    <a:pt x="10105" y="118150"/>
                  </a:lnTo>
                  <a:lnTo>
                    <a:pt x="0" y="118150"/>
                  </a:lnTo>
                  <a:moveTo>
                    <a:pt x="20210" y="118150"/>
                  </a:moveTo>
                  <a:lnTo>
                    <a:pt x="20210" y="3522337"/>
                  </a:lnTo>
                  <a:lnTo>
                    <a:pt x="10105" y="3522337"/>
                  </a:lnTo>
                  <a:lnTo>
                    <a:pt x="20210" y="3522337"/>
                  </a:lnTo>
                  <a:cubicBezTo>
                    <a:pt x="20210" y="3583479"/>
                    <a:pt x="156020" y="3633102"/>
                    <a:pt x="323761" y="3633102"/>
                  </a:cubicBezTo>
                  <a:lnTo>
                    <a:pt x="21341147" y="3633102"/>
                  </a:lnTo>
                  <a:cubicBezTo>
                    <a:pt x="21508687" y="3633102"/>
                    <a:pt x="21644697" y="3583479"/>
                    <a:pt x="21644697" y="3522337"/>
                  </a:cubicBezTo>
                  <a:lnTo>
                    <a:pt x="21644697" y="118150"/>
                  </a:lnTo>
                  <a:cubicBezTo>
                    <a:pt x="21644697" y="57007"/>
                    <a:pt x="21508889" y="7384"/>
                    <a:pt x="21341147" y="7384"/>
                  </a:cubicBezTo>
                  <a:lnTo>
                    <a:pt x="323761" y="7384"/>
                  </a:lnTo>
                  <a:lnTo>
                    <a:pt x="323761" y="3692"/>
                  </a:lnTo>
                  <a:lnTo>
                    <a:pt x="323761" y="7384"/>
                  </a:lnTo>
                  <a:cubicBezTo>
                    <a:pt x="156020" y="7384"/>
                    <a:pt x="20210" y="57007"/>
                    <a:pt x="20210" y="118150"/>
                  </a:cubicBezTo>
                  <a:close/>
                </a:path>
              </a:pathLst>
            </a:custGeom>
            <a:solidFill>
              <a:srgbClr val="2C4062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406090" y="8538686"/>
            <a:ext cx="419100" cy="409575"/>
            <a:chOff x="0" y="0"/>
            <a:chExt cx="558800" cy="5461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58800" cy="546100"/>
            </a:xfrm>
            <a:custGeom>
              <a:avLst/>
              <a:gdLst/>
              <a:ahLst/>
              <a:cxnLst/>
              <a:rect l="l" t="t" r="r" b="b"/>
              <a:pathLst>
                <a:path w="558800" h="546100">
                  <a:moveTo>
                    <a:pt x="0" y="273050"/>
                  </a:moveTo>
                  <a:cubicBezTo>
                    <a:pt x="0" y="122301"/>
                    <a:pt x="122301" y="0"/>
                    <a:pt x="273050" y="0"/>
                  </a:cubicBezTo>
                  <a:lnTo>
                    <a:pt x="285750" y="0"/>
                  </a:lnTo>
                  <a:cubicBezTo>
                    <a:pt x="436499" y="0"/>
                    <a:pt x="558800" y="122301"/>
                    <a:pt x="558800" y="273050"/>
                  </a:cubicBezTo>
                  <a:cubicBezTo>
                    <a:pt x="558800" y="423799"/>
                    <a:pt x="436499" y="546100"/>
                    <a:pt x="285750" y="546100"/>
                  </a:cubicBezTo>
                  <a:lnTo>
                    <a:pt x="273050" y="546100"/>
                  </a:lnTo>
                  <a:cubicBezTo>
                    <a:pt x="122301" y="546100"/>
                    <a:pt x="0" y="423799"/>
                    <a:pt x="0" y="273050"/>
                  </a:cubicBezTo>
                  <a:close/>
                </a:path>
              </a:pathLst>
            </a:custGeom>
            <a:solidFill>
              <a:srgbClr val="2F6FB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367990" y="8548211"/>
            <a:ext cx="4953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977590" y="8510111"/>
            <a:ext cx="882967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5F3EC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Traverse the linked list and display all completed requests.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523234" y="7910036"/>
            <a:ext cx="601980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2879"/>
              </a:lnSpc>
              <a:buAutoNum type="arabicPeriod"/>
            </a:pPr>
            <a:r>
              <a:rPr lang="en-US" sz="2400" b="1">
                <a:solidFill>
                  <a:srgbClr val="F5F3E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For Display Completed Requests: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0809894" y="2780586"/>
            <a:ext cx="7077651" cy="3153728"/>
            <a:chOff x="0" y="0"/>
            <a:chExt cx="9436868" cy="4204970"/>
          </a:xfrm>
        </p:grpSpPr>
        <p:grpSp>
          <p:nvGrpSpPr>
            <p:cNvPr id="35" name="Group 35"/>
            <p:cNvGrpSpPr/>
            <p:nvPr/>
          </p:nvGrpSpPr>
          <p:grpSpPr>
            <a:xfrm>
              <a:off x="0" y="0"/>
              <a:ext cx="9436868" cy="4204970"/>
              <a:chOff x="0" y="0"/>
              <a:chExt cx="8960891" cy="399288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8001" y="4050"/>
                <a:ext cx="8944890" cy="3984781"/>
              </a:xfrm>
              <a:custGeom>
                <a:avLst/>
                <a:gdLst/>
                <a:ahLst/>
                <a:cxnLst/>
                <a:rect l="l" t="t" r="r" b="b"/>
                <a:pathLst>
                  <a:path w="8944890" h="3984781">
                    <a:moveTo>
                      <a:pt x="0" y="125536"/>
                    </a:moveTo>
                    <a:cubicBezTo>
                      <a:pt x="0" y="56208"/>
                      <a:pt x="111051" y="0"/>
                      <a:pt x="248024" y="0"/>
                    </a:cubicBezTo>
                    <a:lnTo>
                      <a:pt x="8696865" y="0"/>
                    </a:lnTo>
                    <a:cubicBezTo>
                      <a:pt x="8833838" y="0"/>
                      <a:pt x="8944890" y="56208"/>
                      <a:pt x="8944890" y="125536"/>
                    </a:cubicBezTo>
                    <a:lnTo>
                      <a:pt x="8944890" y="3859244"/>
                    </a:lnTo>
                    <a:cubicBezTo>
                      <a:pt x="8944890" y="3928572"/>
                      <a:pt x="8833838" y="3984781"/>
                      <a:pt x="8696865" y="3984781"/>
                    </a:cubicBezTo>
                    <a:lnTo>
                      <a:pt x="248024" y="3984781"/>
                    </a:lnTo>
                    <a:cubicBezTo>
                      <a:pt x="111051" y="3984781"/>
                      <a:pt x="0" y="3928572"/>
                      <a:pt x="0" y="3859244"/>
                    </a:cubicBezTo>
                    <a:close/>
                  </a:path>
                </a:pathLst>
              </a:custGeom>
              <a:solidFill>
                <a:srgbClr val="1A2A42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Freeform 37"/>
              <p:cNvSpPr/>
              <p:nvPr/>
            </p:nvSpPr>
            <p:spPr>
              <a:xfrm>
                <a:off x="0" y="0"/>
                <a:ext cx="8960892" cy="3992880"/>
              </a:xfrm>
              <a:custGeom>
                <a:avLst/>
                <a:gdLst/>
                <a:ahLst/>
                <a:cxnLst/>
                <a:rect l="l" t="t" r="r" b="b"/>
                <a:pathLst>
                  <a:path w="8960892" h="3992880">
                    <a:moveTo>
                      <a:pt x="0" y="129586"/>
                    </a:moveTo>
                    <a:cubicBezTo>
                      <a:pt x="0" y="57990"/>
                      <a:pt x="114571" y="0"/>
                      <a:pt x="256025" y="0"/>
                    </a:cubicBezTo>
                    <a:lnTo>
                      <a:pt x="8704866" y="0"/>
                    </a:lnTo>
                    <a:lnTo>
                      <a:pt x="8704866" y="4050"/>
                    </a:lnTo>
                    <a:lnTo>
                      <a:pt x="8704866" y="0"/>
                    </a:lnTo>
                    <a:cubicBezTo>
                      <a:pt x="8846320" y="0"/>
                      <a:pt x="8960892" y="57990"/>
                      <a:pt x="8960892" y="129586"/>
                    </a:cubicBezTo>
                    <a:lnTo>
                      <a:pt x="8952891" y="129586"/>
                    </a:lnTo>
                    <a:lnTo>
                      <a:pt x="8960892" y="129586"/>
                    </a:lnTo>
                    <a:lnTo>
                      <a:pt x="8960892" y="3863294"/>
                    </a:lnTo>
                    <a:lnTo>
                      <a:pt x="8952891" y="3863294"/>
                    </a:lnTo>
                    <a:lnTo>
                      <a:pt x="8960892" y="3863294"/>
                    </a:lnTo>
                    <a:cubicBezTo>
                      <a:pt x="8960892" y="3934890"/>
                      <a:pt x="8846320" y="3992880"/>
                      <a:pt x="8704866" y="3992880"/>
                    </a:cubicBezTo>
                    <a:lnTo>
                      <a:pt x="8704866" y="3988831"/>
                    </a:lnTo>
                    <a:lnTo>
                      <a:pt x="8704866" y="3992880"/>
                    </a:lnTo>
                    <a:lnTo>
                      <a:pt x="256025" y="3992880"/>
                    </a:lnTo>
                    <a:lnTo>
                      <a:pt x="256025" y="3988831"/>
                    </a:lnTo>
                    <a:lnTo>
                      <a:pt x="256025" y="3992880"/>
                    </a:lnTo>
                    <a:cubicBezTo>
                      <a:pt x="114571" y="3992880"/>
                      <a:pt x="0" y="3934890"/>
                      <a:pt x="0" y="3863294"/>
                    </a:cubicBezTo>
                    <a:lnTo>
                      <a:pt x="0" y="129586"/>
                    </a:lnTo>
                    <a:lnTo>
                      <a:pt x="8001" y="129586"/>
                    </a:lnTo>
                    <a:lnTo>
                      <a:pt x="0" y="129586"/>
                    </a:lnTo>
                    <a:moveTo>
                      <a:pt x="16002" y="129586"/>
                    </a:moveTo>
                    <a:lnTo>
                      <a:pt x="16002" y="3863294"/>
                    </a:lnTo>
                    <a:lnTo>
                      <a:pt x="8001" y="3863294"/>
                    </a:lnTo>
                    <a:lnTo>
                      <a:pt x="16002" y="3863294"/>
                    </a:lnTo>
                    <a:cubicBezTo>
                      <a:pt x="16002" y="3930355"/>
                      <a:pt x="123532" y="3984781"/>
                      <a:pt x="256025" y="3984781"/>
                    </a:cubicBezTo>
                    <a:lnTo>
                      <a:pt x="8704866" y="3984781"/>
                    </a:lnTo>
                    <a:cubicBezTo>
                      <a:pt x="8837519" y="3984781"/>
                      <a:pt x="8944890" y="3930436"/>
                      <a:pt x="8944890" y="3863294"/>
                    </a:cubicBezTo>
                    <a:lnTo>
                      <a:pt x="8944890" y="129586"/>
                    </a:lnTo>
                    <a:cubicBezTo>
                      <a:pt x="8944890" y="62525"/>
                      <a:pt x="8837360" y="8099"/>
                      <a:pt x="8704866" y="8099"/>
                    </a:cubicBezTo>
                    <a:lnTo>
                      <a:pt x="256025" y="8099"/>
                    </a:lnTo>
                    <a:lnTo>
                      <a:pt x="256025" y="4050"/>
                    </a:lnTo>
                    <a:lnTo>
                      <a:pt x="256025" y="8099"/>
                    </a:lnTo>
                    <a:cubicBezTo>
                      <a:pt x="123532" y="8099"/>
                      <a:pt x="16002" y="62444"/>
                      <a:pt x="16002" y="129586"/>
                    </a:cubicBezTo>
                    <a:close/>
                  </a:path>
                </a:pathLst>
              </a:custGeom>
              <a:solidFill>
                <a:srgbClr val="2C4062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1555903" y="473710"/>
              <a:ext cx="7452284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B9C6D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Display the current elevator floor when required.</a:t>
              </a:r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674114" y="3104515"/>
              <a:ext cx="558800" cy="546100"/>
              <a:chOff x="0" y="0"/>
              <a:chExt cx="558800" cy="5461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558800" cy="546100"/>
              </a:xfrm>
              <a:custGeom>
                <a:avLst/>
                <a:gdLst/>
                <a:ahLst/>
                <a:cxnLst/>
                <a:rect l="l" t="t" r="r" b="b"/>
                <a:pathLst>
                  <a:path w="558800" h="546100">
                    <a:moveTo>
                      <a:pt x="0" y="273050"/>
                    </a:moveTo>
                    <a:cubicBezTo>
                      <a:pt x="0" y="122301"/>
                      <a:pt x="122301" y="0"/>
                      <a:pt x="273050" y="0"/>
                    </a:cubicBezTo>
                    <a:lnTo>
                      <a:pt x="285750" y="0"/>
                    </a:lnTo>
                    <a:cubicBezTo>
                      <a:pt x="436499" y="0"/>
                      <a:pt x="558800" y="122301"/>
                      <a:pt x="558800" y="273050"/>
                    </a:cubicBezTo>
                    <a:cubicBezTo>
                      <a:pt x="558800" y="423799"/>
                      <a:pt x="436499" y="546100"/>
                      <a:pt x="285750" y="546100"/>
                    </a:cubicBezTo>
                    <a:lnTo>
                      <a:pt x="273050" y="546100"/>
                    </a:lnTo>
                    <a:cubicBezTo>
                      <a:pt x="122301" y="546100"/>
                      <a:pt x="0" y="423799"/>
                      <a:pt x="0" y="273050"/>
                    </a:cubicBezTo>
                    <a:close/>
                  </a:path>
                </a:pathLst>
              </a:custGeom>
              <a:solidFill>
                <a:srgbClr val="B9C6D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623314" y="3160395"/>
              <a:ext cx="6604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0F1B2D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13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575058" y="1842770"/>
              <a:ext cx="7433129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B9C6D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Repeat the menu until the user selects Exit.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575058" y="3178810"/>
              <a:ext cx="549402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B9C6D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Stop.</a:t>
              </a:r>
            </a:p>
          </p:txBody>
        </p:sp>
        <p:grpSp>
          <p:nvGrpSpPr>
            <p:cNvPr id="44" name="Group 44"/>
            <p:cNvGrpSpPr/>
            <p:nvPr/>
          </p:nvGrpSpPr>
          <p:grpSpPr>
            <a:xfrm>
              <a:off x="674114" y="539115"/>
              <a:ext cx="558800" cy="546100"/>
              <a:chOff x="0" y="0"/>
              <a:chExt cx="558800" cy="5461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558800" cy="546100"/>
              </a:xfrm>
              <a:custGeom>
                <a:avLst/>
                <a:gdLst/>
                <a:ahLst/>
                <a:cxnLst/>
                <a:rect l="l" t="t" r="r" b="b"/>
                <a:pathLst>
                  <a:path w="558800" h="546100">
                    <a:moveTo>
                      <a:pt x="0" y="273050"/>
                    </a:moveTo>
                    <a:cubicBezTo>
                      <a:pt x="0" y="122301"/>
                      <a:pt x="122301" y="0"/>
                      <a:pt x="273050" y="0"/>
                    </a:cubicBezTo>
                    <a:lnTo>
                      <a:pt x="285750" y="0"/>
                    </a:lnTo>
                    <a:cubicBezTo>
                      <a:pt x="436499" y="0"/>
                      <a:pt x="558800" y="122301"/>
                      <a:pt x="558800" y="273050"/>
                    </a:cubicBezTo>
                    <a:cubicBezTo>
                      <a:pt x="558800" y="423799"/>
                      <a:pt x="436499" y="546100"/>
                      <a:pt x="285750" y="546100"/>
                    </a:cubicBezTo>
                    <a:lnTo>
                      <a:pt x="273050" y="546100"/>
                    </a:lnTo>
                    <a:cubicBezTo>
                      <a:pt x="122301" y="546100"/>
                      <a:pt x="0" y="423799"/>
                      <a:pt x="0" y="273050"/>
                    </a:cubicBezTo>
                    <a:close/>
                  </a:path>
                </a:pathLst>
              </a:custGeom>
              <a:solidFill>
                <a:srgbClr val="B9C6D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46" name="TextBox 46"/>
            <p:cNvSpPr txBox="1"/>
            <p:nvPr/>
          </p:nvSpPr>
          <p:spPr>
            <a:xfrm>
              <a:off x="623314" y="594995"/>
              <a:ext cx="6604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0F1B2D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11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674114" y="1829435"/>
              <a:ext cx="558800" cy="546100"/>
              <a:chOff x="0" y="0"/>
              <a:chExt cx="558800" cy="5461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558800" cy="546100"/>
              </a:xfrm>
              <a:custGeom>
                <a:avLst/>
                <a:gdLst/>
                <a:ahLst/>
                <a:cxnLst/>
                <a:rect l="l" t="t" r="r" b="b"/>
                <a:pathLst>
                  <a:path w="558800" h="546100">
                    <a:moveTo>
                      <a:pt x="0" y="273050"/>
                    </a:moveTo>
                    <a:cubicBezTo>
                      <a:pt x="0" y="122301"/>
                      <a:pt x="122301" y="0"/>
                      <a:pt x="273050" y="0"/>
                    </a:cubicBezTo>
                    <a:lnTo>
                      <a:pt x="285750" y="0"/>
                    </a:lnTo>
                    <a:cubicBezTo>
                      <a:pt x="436499" y="0"/>
                      <a:pt x="558800" y="122301"/>
                      <a:pt x="558800" y="273050"/>
                    </a:cubicBezTo>
                    <a:cubicBezTo>
                      <a:pt x="558800" y="423799"/>
                      <a:pt x="436499" y="546100"/>
                      <a:pt x="285750" y="546100"/>
                    </a:cubicBezTo>
                    <a:lnTo>
                      <a:pt x="273050" y="546100"/>
                    </a:lnTo>
                    <a:cubicBezTo>
                      <a:pt x="122301" y="546100"/>
                      <a:pt x="0" y="423799"/>
                      <a:pt x="0" y="273050"/>
                    </a:cubicBezTo>
                    <a:close/>
                  </a:path>
                </a:pathLst>
              </a:custGeom>
              <a:solidFill>
                <a:srgbClr val="B9C6D8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49" name="TextBox 49"/>
            <p:cNvSpPr txBox="1"/>
            <p:nvPr/>
          </p:nvSpPr>
          <p:spPr>
            <a:xfrm>
              <a:off x="623314" y="1885315"/>
              <a:ext cx="6604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 b="1">
                  <a:solidFill>
                    <a:srgbClr val="0F1B2D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12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219200" y="9324975"/>
            <a:ext cx="16325088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7F93B2"/>
                </a:solidFill>
                <a:latin typeface="IBM Plex Sans"/>
                <a:ea typeface="IBM Plex Sans"/>
                <a:cs typeface="IBM Plex Sans"/>
                <a:sym typeface="IBM Plex Sans"/>
              </a:rPr>
              <a:t>Elevator Request Management System · 10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1406090" y="6036231"/>
            <a:ext cx="495300" cy="409575"/>
            <a:chOff x="0" y="0"/>
            <a:chExt cx="660400" cy="546100"/>
          </a:xfrm>
        </p:grpSpPr>
        <p:grpSp>
          <p:nvGrpSpPr>
            <p:cNvPr id="52" name="Group 52"/>
            <p:cNvGrpSpPr/>
            <p:nvPr/>
          </p:nvGrpSpPr>
          <p:grpSpPr>
            <a:xfrm>
              <a:off x="50800" y="0"/>
              <a:ext cx="558800" cy="546100"/>
              <a:chOff x="0" y="0"/>
              <a:chExt cx="558800" cy="54610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558800" cy="546100"/>
              </a:xfrm>
              <a:custGeom>
                <a:avLst/>
                <a:gdLst/>
                <a:ahLst/>
                <a:cxnLst/>
                <a:rect l="l" t="t" r="r" b="b"/>
                <a:pathLst>
                  <a:path w="558800" h="546100">
                    <a:moveTo>
                      <a:pt x="0" y="273050"/>
                    </a:moveTo>
                    <a:cubicBezTo>
                      <a:pt x="0" y="122301"/>
                      <a:pt x="122301" y="0"/>
                      <a:pt x="273050" y="0"/>
                    </a:cubicBezTo>
                    <a:lnTo>
                      <a:pt x="285750" y="0"/>
                    </a:lnTo>
                    <a:cubicBezTo>
                      <a:pt x="436499" y="0"/>
                      <a:pt x="558800" y="122301"/>
                      <a:pt x="558800" y="273050"/>
                    </a:cubicBezTo>
                    <a:cubicBezTo>
                      <a:pt x="558800" y="423799"/>
                      <a:pt x="436499" y="546100"/>
                      <a:pt x="285750" y="546100"/>
                    </a:cubicBezTo>
                    <a:lnTo>
                      <a:pt x="273050" y="546100"/>
                    </a:lnTo>
                    <a:cubicBezTo>
                      <a:pt x="122301" y="546100"/>
                      <a:pt x="0" y="423799"/>
                      <a:pt x="0" y="273050"/>
                    </a:cubicBezTo>
                    <a:close/>
                  </a:path>
                </a:pathLst>
              </a:custGeom>
              <a:solidFill>
                <a:srgbClr val="2F6FB0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54" name="TextBox 54"/>
            <p:cNvSpPr txBox="1"/>
            <p:nvPr/>
          </p:nvSpPr>
          <p:spPr>
            <a:xfrm>
              <a:off x="0" y="25400"/>
              <a:ext cx="6604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2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406090" y="6648331"/>
            <a:ext cx="495300" cy="409575"/>
            <a:chOff x="0" y="0"/>
            <a:chExt cx="660400" cy="546100"/>
          </a:xfrm>
        </p:grpSpPr>
        <p:grpSp>
          <p:nvGrpSpPr>
            <p:cNvPr id="56" name="Group 56"/>
            <p:cNvGrpSpPr/>
            <p:nvPr/>
          </p:nvGrpSpPr>
          <p:grpSpPr>
            <a:xfrm>
              <a:off x="50800" y="0"/>
              <a:ext cx="558800" cy="546100"/>
              <a:chOff x="0" y="0"/>
              <a:chExt cx="558800" cy="54610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558800" cy="546100"/>
              </a:xfrm>
              <a:custGeom>
                <a:avLst/>
                <a:gdLst/>
                <a:ahLst/>
                <a:cxnLst/>
                <a:rect l="l" t="t" r="r" b="b"/>
                <a:pathLst>
                  <a:path w="558800" h="546100">
                    <a:moveTo>
                      <a:pt x="0" y="273050"/>
                    </a:moveTo>
                    <a:cubicBezTo>
                      <a:pt x="0" y="122301"/>
                      <a:pt x="122301" y="0"/>
                      <a:pt x="273050" y="0"/>
                    </a:cubicBezTo>
                    <a:lnTo>
                      <a:pt x="285750" y="0"/>
                    </a:lnTo>
                    <a:cubicBezTo>
                      <a:pt x="436499" y="0"/>
                      <a:pt x="558800" y="122301"/>
                      <a:pt x="558800" y="273050"/>
                    </a:cubicBezTo>
                    <a:cubicBezTo>
                      <a:pt x="558800" y="423799"/>
                      <a:pt x="436499" y="546100"/>
                      <a:pt x="285750" y="546100"/>
                    </a:cubicBezTo>
                    <a:lnTo>
                      <a:pt x="273050" y="546100"/>
                    </a:lnTo>
                    <a:cubicBezTo>
                      <a:pt x="122301" y="546100"/>
                      <a:pt x="0" y="423799"/>
                      <a:pt x="0" y="273050"/>
                    </a:cubicBezTo>
                    <a:close/>
                  </a:path>
                </a:pathLst>
              </a:custGeom>
              <a:solidFill>
                <a:srgbClr val="2F6FB0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58" name="TextBox 58"/>
            <p:cNvSpPr txBox="1"/>
            <p:nvPr/>
          </p:nvSpPr>
          <p:spPr>
            <a:xfrm>
              <a:off x="0" y="25400"/>
              <a:ext cx="6604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19200" y="1181100"/>
            <a:ext cx="16325088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225">
                <a:solidFill>
                  <a:srgbClr val="2F6FB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OPTION 2 OF THE MENU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19200" y="1819275"/>
            <a:ext cx="16325088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4200" b="1">
                <a:solidFill>
                  <a:srgbClr val="0F1B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Request Processing Algorithm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219200" y="2676525"/>
            <a:ext cx="4953000" cy="1104900"/>
            <a:chOff x="0" y="0"/>
            <a:chExt cx="6604000" cy="1473200"/>
          </a:xfrm>
        </p:grpSpPr>
        <p:sp>
          <p:nvSpPr>
            <p:cNvPr id="5" name="Freeform 5"/>
            <p:cNvSpPr/>
            <p:nvPr/>
          </p:nvSpPr>
          <p:spPr>
            <a:xfrm>
              <a:off x="19050" y="19050"/>
              <a:ext cx="6565900" cy="1435100"/>
            </a:xfrm>
            <a:custGeom>
              <a:avLst/>
              <a:gdLst/>
              <a:ahLst/>
              <a:cxnLst/>
              <a:rect l="l" t="t" r="r" b="b"/>
              <a:pathLst>
                <a:path w="6565900" h="1435100">
                  <a:moveTo>
                    <a:pt x="0" y="133350"/>
                  </a:moveTo>
                  <a:cubicBezTo>
                    <a:pt x="0" y="59690"/>
                    <a:pt x="60960" y="0"/>
                    <a:pt x="136144" y="0"/>
                  </a:cubicBezTo>
                  <a:lnTo>
                    <a:pt x="6429756" y="0"/>
                  </a:lnTo>
                  <a:cubicBezTo>
                    <a:pt x="6504940" y="0"/>
                    <a:pt x="6565900" y="59690"/>
                    <a:pt x="6565900" y="133350"/>
                  </a:cubicBezTo>
                  <a:lnTo>
                    <a:pt x="6565900" y="1301750"/>
                  </a:lnTo>
                  <a:cubicBezTo>
                    <a:pt x="6565900" y="1375410"/>
                    <a:pt x="6504940" y="1435100"/>
                    <a:pt x="6429756" y="1435100"/>
                  </a:cubicBezTo>
                  <a:lnTo>
                    <a:pt x="136144" y="1435100"/>
                  </a:lnTo>
                  <a:cubicBezTo>
                    <a:pt x="60960" y="1435100"/>
                    <a:pt x="0" y="1375410"/>
                    <a:pt x="0" y="1301750"/>
                  </a:cubicBezTo>
                  <a:close/>
                </a:path>
              </a:pathLst>
            </a:custGeom>
            <a:solidFill>
              <a:srgbClr val="FDFCF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Freeform 6"/>
            <p:cNvSpPr/>
            <p:nvPr/>
          </p:nvSpPr>
          <p:spPr>
            <a:xfrm>
              <a:off x="0" y="0"/>
              <a:ext cx="6604000" cy="1473200"/>
            </a:xfrm>
            <a:custGeom>
              <a:avLst/>
              <a:gdLst/>
              <a:ahLst/>
              <a:cxnLst/>
              <a:rect l="l" t="t" r="r" b="b"/>
              <a:pathLst>
                <a:path w="6604000" h="1473200">
                  <a:moveTo>
                    <a:pt x="0" y="152400"/>
                  </a:moveTo>
                  <a:cubicBezTo>
                    <a:pt x="0" y="67818"/>
                    <a:pt x="69850" y="0"/>
                    <a:pt x="155194" y="0"/>
                  </a:cubicBezTo>
                  <a:lnTo>
                    <a:pt x="6448806" y="0"/>
                  </a:lnTo>
                  <a:lnTo>
                    <a:pt x="6448806" y="19050"/>
                  </a:lnTo>
                  <a:lnTo>
                    <a:pt x="6448806" y="0"/>
                  </a:lnTo>
                  <a:cubicBezTo>
                    <a:pt x="6534150" y="0"/>
                    <a:pt x="6604000" y="67818"/>
                    <a:pt x="6604000" y="152400"/>
                  </a:cubicBezTo>
                  <a:lnTo>
                    <a:pt x="6584950" y="152400"/>
                  </a:lnTo>
                  <a:lnTo>
                    <a:pt x="6604000" y="152400"/>
                  </a:lnTo>
                  <a:lnTo>
                    <a:pt x="6604000" y="1320800"/>
                  </a:lnTo>
                  <a:lnTo>
                    <a:pt x="6584950" y="1320800"/>
                  </a:lnTo>
                  <a:lnTo>
                    <a:pt x="6604000" y="1320800"/>
                  </a:lnTo>
                  <a:cubicBezTo>
                    <a:pt x="6604000" y="1405382"/>
                    <a:pt x="6534150" y="1473200"/>
                    <a:pt x="6448806" y="1473200"/>
                  </a:cubicBezTo>
                  <a:lnTo>
                    <a:pt x="6448806" y="1454150"/>
                  </a:lnTo>
                  <a:lnTo>
                    <a:pt x="6448806" y="1473200"/>
                  </a:lnTo>
                  <a:lnTo>
                    <a:pt x="155194" y="1473200"/>
                  </a:lnTo>
                  <a:lnTo>
                    <a:pt x="155194" y="1454150"/>
                  </a:lnTo>
                  <a:lnTo>
                    <a:pt x="155194" y="1473200"/>
                  </a:lnTo>
                  <a:cubicBezTo>
                    <a:pt x="69850" y="1473200"/>
                    <a:pt x="0" y="1405382"/>
                    <a:pt x="0" y="1320800"/>
                  </a:cubicBezTo>
                  <a:lnTo>
                    <a:pt x="0" y="152400"/>
                  </a:lnTo>
                  <a:lnTo>
                    <a:pt x="19050" y="152400"/>
                  </a:lnTo>
                  <a:lnTo>
                    <a:pt x="0" y="152400"/>
                  </a:lnTo>
                  <a:moveTo>
                    <a:pt x="38100" y="152400"/>
                  </a:moveTo>
                  <a:lnTo>
                    <a:pt x="38100" y="1320800"/>
                  </a:lnTo>
                  <a:lnTo>
                    <a:pt x="19050" y="1320800"/>
                  </a:lnTo>
                  <a:lnTo>
                    <a:pt x="38100" y="1320800"/>
                  </a:lnTo>
                  <a:cubicBezTo>
                    <a:pt x="38100" y="1383538"/>
                    <a:pt x="90170" y="1435100"/>
                    <a:pt x="155194" y="1435100"/>
                  </a:cubicBezTo>
                  <a:lnTo>
                    <a:pt x="6448806" y="1435100"/>
                  </a:lnTo>
                  <a:cubicBezTo>
                    <a:pt x="6513830" y="1435100"/>
                    <a:pt x="6565900" y="1383538"/>
                    <a:pt x="6565900" y="1320800"/>
                  </a:cubicBezTo>
                  <a:lnTo>
                    <a:pt x="6565900" y="152400"/>
                  </a:lnTo>
                  <a:cubicBezTo>
                    <a:pt x="6565900" y="89662"/>
                    <a:pt x="6513830" y="38100"/>
                    <a:pt x="6448806" y="38100"/>
                  </a:cubicBezTo>
                  <a:lnTo>
                    <a:pt x="155194" y="38100"/>
                  </a:lnTo>
                  <a:lnTo>
                    <a:pt x="155194" y="19050"/>
                  </a:lnTo>
                  <a:lnTo>
                    <a:pt x="155194" y="38100"/>
                  </a:lnTo>
                  <a:cubicBezTo>
                    <a:pt x="90170" y="38100"/>
                    <a:pt x="38100" y="89662"/>
                    <a:pt x="38100" y="152400"/>
                  </a:cubicBezTo>
                  <a:close/>
                </a:path>
              </a:pathLst>
            </a:custGeom>
            <a:solidFill>
              <a:srgbClr val="B9C6D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476375" y="2809875"/>
            <a:ext cx="457181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0F1B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1 · Queue empty?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76375" y="3248025"/>
            <a:ext cx="457181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3B4A5E"/>
                </a:solidFill>
                <a:latin typeface="IBM Plex Sans"/>
                <a:ea typeface="IBM Plex Sans"/>
                <a:cs typeface="IBM Plex Sans"/>
                <a:sym typeface="IBM Plex Sans"/>
              </a:rPr>
              <a:t>Yes: “No pending requests”, stop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3562350" y="3857625"/>
            <a:ext cx="266700" cy="266700"/>
            <a:chOff x="0" y="0"/>
            <a:chExt cx="355600" cy="355600"/>
          </a:xfrm>
        </p:grpSpPr>
        <p:sp>
          <p:nvSpPr>
            <p:cNvPr id="10" name="Freeform 10" descr="arrow-down"/>
            <p:cNvSpPr/>
            <p:nvPr/>
          </p:nvSpPr>
          <p:spPr>
            <a:xfrm>
              <a:off x="0" y="0"/>
              <a:ext cx="355600" cy="355600"/>
            </a:xfrm>
            <a:custGeom>
              <a:avLst/>
              <a:gdLst/>
              <a:ahLst/>
              <a:cxnLst/>
              <a:rect l="l" t="t" r="r" b="b"/>
              <a:pathLst>
                <a:path w="355600" h="355600">
                  <a:moveTo>
                    <a:pt x="0" y="0"/>
                  </a:moveTo>
                  <a:lnTo>
                    <a:pt x="355600" y="0"/>
                  </a:lnTo>
                  <a:lnTo>
                    <a:pt x="355600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19200" y="4200525"/>
            <a:ext cx="4953000" cy="676275"/>
            <a:chOff x="0" y="0"/>
            <a:chExt cx="6604000" cy="9017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604000" cy="901700"/>
            </a:xfrm>
            <a:custGeom>
              <a:avLst/>
              <a:gdLst/>
              <a:ahLst/>
              <a:cxnLst/>
              <a:rect l="l" t="t" r="r" b="b"/>
              <a:pathLst>
                <a:path w="6604000" h="9017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451600" y="0"/>
                  </a:lnTo>
                  <a:cubicBezTo>
                    <a:pt x="6535801" y="0"/>
                    <a:pt x="6604000" y="68199"/>
                    <a:pt x="6604000" y="152400"/>
                  </a:cubicBezTo>
                  <a:lnTo>
                    <a:pt x="6604000" y="749300"/>
                  </a:lnTo>
                  <a:cubicBezTo>
                    <a:pt x="6604000" y="833501"/>
                    <a:pt x="6535801" y="901700"/>
                    <a:pt x="6451600" y="901700"/>
                  </a:cubicBezTo>
                  <a:lnTo>
                    <a:pt x="152400" y="901700"/>
                  </a:lnTo>
                  <a:cubicBezTo>
                    <a:pt x="68199" y="901700"/>
                    <a:pt x="0" y="833501"/>
                    <a:pt x="0" y="749300"/>
                  </a:cubicBezTo>
                  <a:close/>
                </a:path>
              </a:pathLst>
            </a:custGeom>
            <a:solidFill>
              <a:srgbClr val="0F1B2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6604000" cy="94932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F5F3EC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2 · Take the front request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562350" y="4953000"/>
            <a:ext cx="266700" cy="266700"/>
            <a:chOff x="0" y="0"/>
            <a:chExt cx="355600" cy="355600"/>
          </a:xfrm>
        </p:grpSpPr>
        <p:sp>
          <p:nvSpPr>
            <p:cNvPr id="15" name="Freeform 15" descr="arrow-down"/>
            <p:cNvSpPr/>
            <p:nvPr/>
          </p:nvSpPr>
          <p:spPr>
            <a:xfrm>
              <a:off x="0" y="0"/>
              <a:ext cx="355600" cy="355600"/>
            </a:xfrm>
            <a:custGeom>
              <a:avLst/>
              <a:gdLst/>
              <a:ahLst/>
              <a:cxnLst/>
              <a:rect l="l" t="t" r="r" b="b"/>
              <a:pathLst>
                <a:path w="355600" h="355600">
                  <a:moveTo>
                    <a:pt x="0" y="0"/>
                  </a:moveTo>
                  <a:lnTo>
                    <a:pt x="355600" y="0"/>
                  </a:lnTo>
                  <a:lnTo>
                    <a:pt x="355600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19200" y="5295900"/>
            <a:ext cx="4953000" cy="676275"/>
            <a:chOff x="0" y="0"/>
            <a:chExt cx="6604000" cy="9017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604000" cy="901700"/>
            </a:xfrm>
            <a:custGeom>
              <a:avLst/>
              <a:gdLst/>
              <a:ahLst/>
              <a:cxnLst/>
              <a:rect l="l" t="t" r="r" b="b"/>
              <a:pathLst>
                <a:path w="6604000" h="9017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451600" y="0"/>
                  </a:lnTo>
                  <a:cubicBezTo>
                    <a:pt x="6535801" y="0"/>
                    <a:pt x="6604000" y="68199"/>
                    <a:pt x="6604000" y="152400"/>
                  </a:cubicBezTo>
                  <a:lnTo>
                    <a:pt x="6604000" y="749300"/>
                  </a:lnTo>
                  <a:cubicBezTo>
                    <a:pt x="6604000" y="833501"/>
                    <a:pt x="6535801" y="901700"/>
                    <a:pt x="6451600" y="901700"/>
                  </a:cubicBezTo>
                  <a:lnTo>
                    <a:pt x="152400" y="901700"/>
                  </a:lnTo>
                  <a:cubicBezTo>
                    <a:pt x="68199" y="901700"/>
                    <a:pt x="0" y="833501"/>
                    <a:pt x="0" y="749300"/>
                  </a:cubicBezTo>
                  <a:close/>
                </a:path>
              </a:pathLst>
            </a:custGeom>
            <a:solidFill>
              <a:srgbClr val="2F6FB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6604000" cy="94932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3 · Move to source floor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562350" y="6048375"/>
            <a:ext cx="266700" cy="266700"/>
            <a:chOff x="0" y="0"/>
            <a:chExt cx="355600" cy="355600"/>
          </a:xfrm>
        </p:grpSpPr>
        <p:sp>
          <p:nvSpPr>
            <p:cNvPr id="20" name="Freeform 20" descr="arrow-down"/>
            <p:cNvSpPr/>
            <p:nvPr/>
          </p:nvSpPr>
          <p:spPr>
            <a:xfrm>
              <a:off x="0" y="0"/>
              <a:ext cx="355600" cy="355600"/>
            </a:xfrm>
            <a:custGeom>
              <a:avLst/>
              <a:gdLst/>
              <a:ahLst/>
              <a:cxnLst/>
              <a:rect l="l" t="t" r="r" b="b"/>
              <a:pathLst>
                <a:path w="355600" h="355600">
                  <a:moveTo>
                    <a:pt x="0" y="0"/>
                  </a:moveTo>
                  <a:lnTo>
                    <a:pt x="355600" y="0"/>
                  </a:lnTo>
                  <a:lnTo>
                    <a:pt x="355600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19200" y="6391275"/>
            <a:ext cx="4953000" cy="676275"/>
            <a:chOff x="0" y="0"/>
            <a:chExt cx="6604000" cy="9017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604000" cy="901700"/>
            </a:xfrm>
            <a:custGeom>
              <a:avLst/>
              <a:gdLst/>
              <a:ahLst/>
              <a:cxnLst/>
              <a:rect l="l" t="t" r="r" b="b"/>
              <a:pathLst>
                <a:path w="6604000" h="9017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451600" y="0"/>
                  </a:lnTo>
                  <a:cubicBezTo>
                    <a:pt x="6535801" y="0"/>
                    <a:pt x="6604000" y="68199"/>
                    <a:pt x="6604000" y="152400"/>
                  </a:cubicBezTo>
                  <a:lnTo>
                    <a:pt x="6604000" y="749300"/>
                  </a:lnTo>
                  <a:cubicBezTo>
                    <a:pt x="6604000" y="833501"/>
                    <a:pt x="6535801" y="901700"/>
                    <a:pt x="6451600" y="901700"/>
                  </a:cubicBezTo>
                  <a:lnTo>
                    <a:pt x="152400" y="901700"/>
                  </a:lnTo>
                  <a:cubicBezTo>
                    <a:pt x="68199" y="901700"/>
                    <a:pt x="0" y="833501"/>
                    <a:pt x="0" y="749300"/>
                  </a:cubicBezTo>
                  <a:close/>
                </a:path>
              </a:pathLst>
            </a:custGeom>
            <a:solidFill>
              <a:srgbClr val="0F1B2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6604000" cy="94932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F5F3EC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4 · Passenger enters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324600" y="2676525"/>
            <a:ext cx="457200" cy="323850"/>
            <a:chOff x="0" y="0"/>
            <a:chExt cx="609600" cy="431800"/>
          </a:xfrm>
        </p:grpSpPr>
        <p:sp>
          <p:nvSpPr>
            <p:cNvPr id="25" name="Freeform 25" descr="arrow-right"/>
            <p:cNvSpPr/>
            <p:nvPr/>
          </p:nvSpPr>
          <p:spPr>
            <a:xfrm>
              <a:off x="0" y="0"/>
              <a:ext cx="609600" cy="431800"/>
            </a:xfrm>
            <a:custGeom>
              <a:avLst/>
              <a:gdLst/>
              <a:ahLst/>
              <a:cxnLst/>
              <a:rect l="l" t="t" r="r" b="b"/>
              <a:pathLst>
                <a:path w="609600" h="431800">
                  <a:moveTo>
                    <a:pt x="0" y="0"/>
                  </a:moveTo>
                  <a:lnTo>
                    <a:pt x="609600" y="0"/>
                  </a:lnTo>
                  <a:lnTo>
                    <a:pt x="6096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934200" y="2676525"/>
            <a:ext cx="4953000" cy="676275"/>
            <a:chOff x="0" y="0"/>
            <a:chExt cx="6604000" cy="9017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604000" cy="901700"/>
            </a:xfrm>
            <a:custGeom>
              <a:avLst/>
              <a:gdLst/>
              <a:ahLst/>
              <a:cxnLst/>
              <a:rect l="l" t="t" r="r" b="b"/>
              <a:pathLst>
                <a:path w="6604000" h="9017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451600" y="0"/>
                  </a:lnTo>
                  <a:cubicBezTo>
                    <a:pt x="6535801" y="0"/>
                    <a:pt x="6604000" y="68199"/>
                    <a:pt x="6604000" y="152400"/>
                  </a:cubicBezTo>
                  <a:lnTo>
                    <a:pt x="6604000" y="749300"/>
                  </a:lnTo>
                  <a:cubicBezTo>
                    <a:pt x="6604000" y="833501"/>
                    <a:pt x="6535801" y="901700"/>
                    <a:pt x="6451600" y="901700"/>
                  </a:cubicBezTo>
                  <a:lnTo>
                    <a:pt x="152400" y="901700"/>
                  </a:lnTo>
                  <a:cubicBezTo>
                    <a:pt x="68199" y="901700"/>
                    <a:pt x="0" y="833501"/>
                    <a:pt x="0" y="749300"/>
                  </a:cubicBezTo>
                  <a:close/>
                </a:path>
              </a:pathLst>
            </a:custGeom>
            <a:solidFill>
              <a:srgbClr val="2F6FB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6604000" cy="94932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5 · Move to destination floor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277350" y="3429000"/>
            <a:ext cx="266700" cy="266700"/>
            <a:chOff x="0" y="0"/>
            <a:chExt cx="355600" cy="355600"/>
          </a:xfrm>
        </p:grpSpPr>
        <p:sp>
          <p:nvSpPr>
            <p:cNvPr id="30" name="Freeform 30" descr="arrow-down"/>
            <p:cNvSpPr/>
            <p:nvPr/>
          </p:nvSpPr>
          <p:spPr>
            <a:xfrm>
              <a:off x="0" y="0"/>
              <a:ext cx="355600" cy="355600"/>
            </a:xfrm>
            <a:custGeom>
              <a:avLst/>
              <a:gdLst/>
              <a:ahLst/>
              <a:cxnLst/>
              <a:rect l="l" t="t" r="r" b="b"/>
              <a:pathLst>
                <a:path w="355600" h="355600">
                  <a:moveTo>
                    <a:pt x="0" y="0"/>
                  </a:moveTo>
                  <a:lnTo>
                    <a:pt x="355600" y="0"/>
                  </a:lnTo>
                  <a:lnTo>
                    <a:pt x="355600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934200" y="3771900"/>
            <a:ext cx="4953000" cy="676275"/>
            <a:chOff x="0" y="0"/>
            <a:chExt cx="6604000" cy="9017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604000" cy="901700"/>
            </a:xfrm>
            <a:custGeom>
              <a:avLst/>
              <a:gdLst/>
              <a:ahLst/>
              <a:cxnLst/>
              <a:rect l="l" t="t" r="r" b="b"/>
              <a:pathLst>
                <a:path w="6604000" h="9017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451600" y="0"/>
                  </a:lnTo>
                  <a:cubicBezTo>
                    <a:pt x="6535801" y="0"/>
                    <a:pt x="6604000" y="68199"/>
                    <a:pt x="6604000" y="152400"/>
                  </a:cubicBezTo>
                  <a:lnTo>
                    <a:pt x="6604000" y="749300"/>
                  </a:lnTo>
                  <a:cubicBezTo>
                    <a:pt x="6604000" y="833501"/>
                    <a:pt x="6535801" y="901700"/>
                    <a:pt x="6451600" y="901700"/>
                  </a:cubicBezTo>
                  <a:lnTo>
                    <a:pt x="152400" y="901700"/>
                  </a:lnTo>
                  <a:cubicBezTo>
                    <a:pt x="68199" y="901700"/>
                    <a:pt x="0" y="833501"/>
                    <a:pt x="0" y="749300"/>
                  </a:cubicBezTo>
                  <a:close/>
                </a:path>
              </a:pathLst>
            </a:custGeom>
            <a:solidFill>
              <a:srgbClr val="1F7A6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47625"/>
              <a:ext cx="6604000" cy="94932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6 · Add to history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277350" y="4524375"/>
            <a:ext cx="266700" cy="266700"/>
            <a:chOff x="0" y="0"/>
            <a:chExt cx="355600" cy="355600"/>
          </a:xfrm>
        </p:grpSpPr>
        <p:sp>
          <p:nvSpPr>
            <p:cNvPr id="35" name="Freeform 35" descr="arrow-down"/>
            <p:cNvSpPr/>
            <p:nvPr/>
          </p:nvSpPr>
          <p:spPr>
            <a:xfrm>
              <a:off x="0" y="0"/>
              <a:ext cx="355600" cy="355600"/>
            </a:xfrm>
            <a:custGeom>
              <a:avLst/>
              <a:gdLst/>
              <a:ahLst/>
              <a:cxnLst/>
              <a:rect l="l" t="t" r="r" b="b"/>
              <a:pathLst>
                <a:path w="355600" h="355600">
                  <a:moveTo>
                    <a:pt x="0" y="0"/>
                  </a:moveTo>
                  <a:lnTo>
                    <a:pt x="355600" y="0"/>
                  </a:lnTo>
                  <a:lnTo>
                    <a:pt x="355600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934200" y="4867275"/>
            <a:ext cx="4953000" cy="1362075"/>
            <a:chOff x="0" y="0"/>
            <a:chExt cx="6604000" cy="18161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604000" cy="1816100"/>
            </a:xfrm>
            <a:custGeom>
              <a:avLst/>
              <a:gdLst/>
              <a:ahLst/>
              <a:cxnLst/>
              <a:rect l="l" t="t" r="r" b="b"/>
              <a:pathLst>
                <a:path w="6604000" h="18161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451600" y="0"/>
                  </a:lnTo>
                  <a:cubicBezTo>
                    <a:pt x="6535801" y="0"/>
                    <a:pt x="6604000" y="68199"/>
                    <a:pt x="6604000" y="152400"/>
                  </a:cubicBezTo>
                  <a:lnTo>
                    <a:pt x="6604000" y="1663700"/>
                  </a:lnTo>
                  <a:cubicBezTo>
                    <a:pt x="6604000" y="1747901"/>
                    <a:pt x="6535801" y="1816100"/>
                    <a:pt x="6451600" y="1816100"/>
                  </a:cubicBezTo>
                  <a:lnTo>
                    <a:pt x="152400" y="1816100"/>
                  </a:lnTo>
                  <a:cubicBezTo>
                    <a:pt x="68199" y="1816100"/>
                    <a:pt x="0" y="1747901"/>
                    <a:pt x="0" y="1663700"/>
                  </a:cubicBezTo>
                  <a:close/>
                </a:path>
              </a:pathLst>
            </a:custGeom>
            <a:solidFill>
              <a:srgbClr val="0F1B2D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7162800" y="4972050"/>
            <a:ext cx="4630674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F5F3E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7 · Remove from queue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162800" y="5410200"/>
            <a:ext cx="4630674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B9C6D8"/>
                </a:solidFill>
                <a:latin typeface="IBM Plex Sans"/>
                <a:ea typeface="IBM Plex Sans"/>
                <a:cs typeface="IBM Plex Sans"/>
                <a:sym typeface="IBM Plex Sans"/>
              </a:rPr>
              <a:t>Shift forward, rear--; if empty, front = rear = -1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9277350" y="6305550"/>
            <a:ext cx="266700" cy="266700"/>
            <a:chOff x="0" y="0"/>
            <a:chExt cx="355600" cy="355600"/>
          </a:xfrm>
        </p:grpSpPr>
        <p:sp>
          <p:nvSpPr>
            <p:cNvPr id="41" name="Freeform 41" descr="arrow-down"/>
            <p:cNvSpPr/>
            <p:nvPr/>
          </p:nvSpPr>
          <p:spPr>
            <a:xfrm>
              <a:off x="0" y="0"/>
              <a:ext cx="355600" cy="355600"/>
            </a:xfrm>
            <a:custGeom>
              <a:avLst/>
              <a:gdLst/>
              <a:ahLst/>
              <a:cxnLst/>
              <a:rect l="l" t="t" r="r" b="b"/>
              <a:pathLst>
                <a:path w="355600" h="355600">
                  <a:moveTo>
                    <a:pt x="0" y="0"/>
                  </a:moveTo>
                  <a:lnTo>
                    <a:pt x="355600" y="0"/>
                  </a:lnTo>
                  <a:lnTo>
                    <a:pt x="355600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934200" y="6648450"/>
            <a:ext cx="4953000" cy="1362075"/>
            <a:chOff x="0" y="0"/>
            <a:chExt cx="6604000" cy="18161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6604000" cy="1816100"/>
            </a:xfrm>
            <a:custGeom>
              <a:avLst/>
              <a:gdLst/>
              <a:ahLst/>
              <a:cxnLst/>
              <a:rect l="l" t="t" r="r" b="b"/>
              <a:pathLst>
                <a:path w="6604000" h="18161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451600" y="0"/>
                  </a:lnTo>
                  <a:cubicBezTo>
                    <a:pt x="6535801" y="0"/>
                    <a:pt x="6604000" y="68199"/>
                    <a:pt x="6604000" y="152400"/>
                  </a:cubicBezTo>
                  <a:lnTo>
                    <a:pt x="6604000" y="1663700"/>
                  </a:lnTo>
                  <a:cubicBezTo>
                    <a:pt x="6604000" y="1747901"/>
                    <a:pt x="6535801" y="1816100"/>
                    <a:pt x="6451600" y="1816100"/>
                  </a:cubicBezTo>
                  <a:lnTo>
                    <a:pt x="152400" y="1816100"/>
                  </a:lnTo>
                  <a:cubicBezTo>
                    <a:pt x="68199" y="1816100"/>
                    <a:pt x="0" y="1747901"/>
                    <a:pt x="0" y="1663700"/>
                  </a:cubicBezTo>
                  <a:close/>
                </a:path>
              </a:pathLst>
            </a:custGeom>
            <a:solidFill>
              <a:srgbClr val="0F1B2D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7162800" y="6753225"/>
            <a:ext cx="4630674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F5F3E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8 · Update state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162800" y="7191375"/>
            <a:ext cx="4630674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B9C6D8"/>
                </a:solidFill>
                <a:latin typeface="IBM Plex Sans"/>
                <a:ea typeface="IBM Plex Sans"/>
                <a:cs typeface="IBM Plex Sans"/>
                <a:sym typeface="IBM Plex Sans"/>
              </a:rPr>
              <a:t>currentFloor = destination; “Request completed”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12268200" y="2676525"/>
            <a:ext cx="4800600" cy="5334000"/>
            <a:chOff x="0" y="0"/>
            <a:chExt cx="6400800" cy="7112000"/>
          </a:xfrm>
        </p:grpSpPr>
        <p:sp>
          <p:nvSpPr>
            <p:cNvPr id="47" name="Freeform 47"/>
            <p:cNvSpPr/>
            <p:nvPr/>
          </p:nvSpPr>
          <p:spPr>
            <a:xfrm>
              <a:off x="6350" y="6350"/>
              <a:ext cx="6388100" cy="7099300"/>
            </a:xfrm>
            <a:custGeom>
              <a:avLst/>
              <a:gdLst/>
              <a:ahLst/>
              <a:cxnLst/>
              <a:rect l="l" t="t" r="r" b="b"/>
              <a:pathLst>
                <a:path w="6388100" h="7099300">
                  <a:moveTo>
                    <a:pt x="0" y="196977"/>
                  </a:moveTo>
                  <a:cubicBezTo>
                    <a:pt x="0" y="88138"/>
                    <a:pt x="88138" y="0"/>
                    <a:pt x="196850" y="0"/>
                  </a:cubicBezTo>
                  <a:lnTo>
                    <a:pt x="6191250" y="0"/>
                  </a:lnTo>
                  <a:cubicBezTo>
                    <a:pt x="6299962" y="0"/>
                    <a:pt x="6388100" y="88138"/>
                    <a:pt x="6388100" y="196977"/>
                  </a:cubicBezTo>
                  <a:lnTo>
                    <a:pt x="6388100" y="6902323"/>
                  </a:lnTo>
                  <a:cubicBezTo>
                    <a:pt x="6388100" y="7011035"/>
                    <a:pt x="6299962" y="7099300"/>
                    <a:pt x="6191250" y="7099300"/>
                  </a:cubicBezTo>
                  <a:lnTo>
                    <a:pt x="196850" y="7099300"/>
                  </a:lnTo>
                  <a:cubicBezTo>
                    <a:pt x="88138" y="7099300"/>
                    <a:pt x="0" y="7011162"/>
                    <a:pt x="0" y="6902323"/>
                  </a:cubicBezTo>
                  <a:close/>
                </a:path>
              </a:pathLst>
            </a:custGeom>
            <a:solidFill>
              <a:srgbClr val="FDFCF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48"/>
            <p:cNvSpPr/>
            <p:nvPr/>
          </p:nvSpPr>
          <p:spPr>
            <a:xfrm>
              <a:off x="0" y="0"/>
              <a:ext cx="6400800" cy="7112000"/>
            </a:xfrm>
            <a:custGeom>
              <a:avLst/>
              <a:gdLst/>
              <a:ahLst/>
              <a:cxnLst/>
              <a:rect l="l" t="t" r="r" b="b"/>
              <a:pathLst>
                <a:path w="6400800" h="7112000">
                  <a:moveTo>
                    <a:pt x="0" y="203327"/>
                  </a:moveTo>
                  <a:cubicBezTo>
                    <a:pt x="0" y="91059"/>
                    <a:pt x="90932" y="0"/>
                    <a:pt x="203200" y="0"/>
                  </a:cubicBezTo>
                  <a:lnTo>
                    <a:pt x="6197600" y="0"/>
                  </a:lnTo>
                  <a:lnTo>
                    <a:pt x="6197600" y="6350"/>
                  </a:lnTo>
                  <a:lnTo>
                    <a:pt x="6197600" y="0"/>
                  </a:lnTo>
                  <a:cubicBezTo>
                    <a:pt x="6309868" y="0"/>
                    <a:pt x="6400800" y="91059"/>
                    <a:pt x="6400800" y="203327"/>
                  </a:cubicBezTo>
                  <a:lnTo>
                    <a:pt x="6394450" y="203327"/>
                  </a:lnTo>
                  <a:lnTo>
                    <a:pt x="6400800" y="203327"/>
                  </a:lnTo>
                  <a:lnTo>
                    <a:pt x="6400800" y="6908673"/>
                  </a:lnTo>
                  <a:lnTo>
                    <a:pt x="6394450" y="6908673"/>
                  </a:lnTo>
                  <a:lnTo>
                    <a:pt x="6400800" y="6908673"/>
                  </a:lnTo>
                  <a:cubicBezTo>
                    <a:pt x="6400800" y="7020941"/>
                    <a:pt x="6309868" y="7112000"/>
                    <a:pt x="6197600" y="7112000"/>
                  </a:cubicBezTo>
                  <a:lnTo>
                    <a:pt x="6197600" y="7105650"/>
                  </a:lnTo>
                  <a:lnTo>
                    <a:pt x="6197600" y="7112000"/>
                  </a:lnTo>
                  <a:lnTo>
                    <a:pt x="203200" y="7112000"/>
                  </a:lnTo>
                  <a:lnTo>
                    <a:pt x="203200" y="7105650"/>
                  </a:lnTo>
                  <a:lnTo>
                    <a:pt x="203200" y="7112000"/>
                  </a:lnTo>
                  <a:cubicBezTo>
                    <a:pt x="90932" y="7112000"/>
                    <a:pt x="0" y="7020941"/>
                    <a:pt x="0" y="6908673"/>
                  </a:cubicBezTo>
                  <a:lnTo>
                    <a:pt x="0" y="203327"/>
                  </a:lnTo>
                  <a:lnTo>
                    <a:pt x="6350" y="203327"/>
                  </a:lnTo>
                  <a:lnTo>
                    <a:pt x="0" y="203327"/>
                  </a:lnTo>
                  <a:moveTo>
                    <a:pt x="12700" y="203327"/>
                  </a:moveTo>
                  <a:lnTo>
                    <a:pt x="12700" y="6908673"/>
                  </a:lnTo>
                  <a:lnTo>
                    <a:pt x="6350" y="6908673"/>
                  </a:lnTo>
                  <a:lnTo>
                    <a:pt x="12700" y="6908673"/>
                  </a:lnTo>
                  <a:cubicBezTo>
                    <a:pt x="12700" y="7013956"/>
                    <a:pt x="98044" y="7099300"/>
                    <a:pt x="203200" y="7099300"/>
                  </a:cubicBezTo>
                  <a:lnTo>
                    <a:pt x="6197600" y="7099300"/>
                  </a:lnTo>
                  <a:cubicBezTo>
                    <a:pt x="6302883" y="7099300"/>
                    <a:pt x="6388100" y="7013956"/>
                    <a:pt x="6388100" y="6908673"/>
                  </a:cubicBezTo>
                  <a:lnTo>
                    <a:pt x="6388100" y="203327"/>
                  </a:lnTo>
                  <a:cubicBezTo>
                    <a:pt x="6388100" y="98044"/>
                    <a:pt x="6302756" y="12700"/>
                    <a:pt x="6197600" y="12700"/>
                  </a:cubicBezTo>
                  <a:lnTo>
                    <a:pt x="203200" y="12700"/>
                  </a:lnTo>
                  <a:lnTo>
                    <a:pt x="203200" y="6350"/>
                  </a:lnTo>
                  <a:lnTo>
                    <a:pt x="203200" y="12700"/>
                  </a:lnTo>
                  <a:cubicBezTo>
                    <a:pt x="98044" y="12700"/>
                    <a:pt x="12700" y="98044"/>
                    <a:pt x="12700" y="203327"/>
                  </a:cubicBezTo>
                  <a:close/>
                </a:path>
              </a:pathLst>
            </a:custGeom>
            <a:solidFill>
              <a:srgbClr val="DAD6C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2582525" y="2990850"/>
            <a:ext cx="4297108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0F1B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moveElevator(target)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2699873" y="3438525"/>
            <a:ext cx="4168331" cy="3057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0048" lvl="1" indent="-190024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B4A5E"/>
                </a:solidFill>
                <a:latin typeface="IBM Plex Sans"/>
                <a:ea typeface="IBM Plex Sans"/>
                <a:cs typeface="IBM Plex Sans"/>
                <a:sym typeface="IBM Plex Sans"/>
              </a:rPr>
              <a:t>currentFloor &lt; target: increment</a:t>
            </a:r>
          </a:p>
          <a:p>
            <a:pPr marL="380048" lvl="1" indent="-190024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B4A5E"/>
                </a:solidFill>
                <a:latin typeface="IBM Plex Sans"/>
                <a:ea typeface="IBM Plex Sans"/>
                <a:cs typeface="IBM Plex Sans"/>
                <a:sym typeface="IBM Plex Sans"/>
              </a:rPr>
              <a:t>currentFloor &gt; target: decrement</a:t>
            </a:r>
          </a:p>
          <a:p>
            <a:pPr marL="380048" lvl="1" indent="-190024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B4A5E"/>
                </a:solidFill>
                <a:latin typeface="IBM Plex Sans"/>
                <a:ea typeface="IBM Plex Sans"/>
                <a:cs typeface="IBM Plex Sans"/>
                <a:sym typeface="IBM Plex Sans"/>
              </a:rPr>
              <a:t>Prints “Elevator at floor X” at every floor</a:t>
            </a:r>
          </a:p>
          <a:p>
            <a:pPr marL="380048" lvl="1" indent="-190024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B4A5E"/>
                </a:solidFill>
                <a:latin typeface="IBM Plex Sans"/>
                <a:ea typeface="IBM Plex Sans"/>
                <a:cs typeface="IBM Plex Sans"/>
                <a:sym typeface="IBM Plex Sans"/>
              </a:rPr>
              <a:t>Called twice per request: to the source, then to the destination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219200" y="9324975"/>
            <a:ext cx="16325088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B7A8F"/>
                </a:solidFill>
                <a:latin typeface="IBM Plex Sans"/>
                <a:ea typeface="IBM Plex Sans"/>
                <a:cs typeface="IBM Plex Sans"/>
                <a:sym typeface="IBM Plex Sans"/>
              </a:rPr>
              <a:t>Elevator Request Management System ·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19200" y="1181100"/>
            <a:ext cx="16325088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225">
                <a:solidFill>
                  <a:srgbClr val="E8A3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OPTION 4 OF THE MENU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19200" y="1819275"/>
            <a:ext cx="16325088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4200" b="1">
                <a:solidFill>
                  <a:srgbClr val="F5F3E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Request Cancellation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19200" y="2638425"/>
            <a:ext cx="843724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E8A3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Before · cancel ID 2 · rear = 3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219200" y="3067050"/>
            <a:ext cx="1962150" cy="752475"/>
            <a:chOff x="0" y="0"/>
            <a:chExt cx="2616200" cy="10033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16200" cy="1003300"/>
            </a:xfrm>
            <a:custGeom>
              <a:avLst/>
              <a:gdLst/>
              <a:ahLst/>
              <a:cxnLst/>
              <a:rect l="l" t="t" r="r" b="b"/>
              <a:pathLst>
                <a:path w="2616200" h="1003300">
                  <a:moveTo>
                    <a:pt x="152400" y="0"/>
                  </a:moveTo>
                  <a:lnTo>
                    <a:pt x="2463800" y="0"/>
                  </a:lnTo>
                  <a:cubicBezTo>
                    <a:pt x="2548001" y="0"/>
                    <a:pt x="2616200" y="68199"/>
                    <a:pt x="2616200" y="152400"/>
                  </a:cubicBezTo>
                  <a:lnTo>
                    <a:pt x="2616200" y="850900"/>
                  </a:lnTo>
                  <a:cubicBezTo>
                    <a:pt x="2616200" y="935101"/>
                    <a:pt x="2548001" y="1003300"/>
                    <a:pt x="2463800" y="1003300"/>
                  </a:cubicBezTo>
                  <a:lnTo>
                    <a:pt x="152400" y="1003300"/>
                  </a:lnTo>
                  <a:cubicBezTo>
                    <a:pt x="68199" y="1003300"/>
                    <a:pt x="0" y="935101"/>
                    <a:pt x="0" y="85090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2F6FB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616200" cy="104140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940"/>
                </a:lnSpc>
              </a:pPr>
              <a:r>
                <a:rPr lang="en-US" sz="2100" b="1">
                  <a:solidFill>
                    <a:srgbClr val="FFFFFF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ID 1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295650" y="3067050"/>
            <a:ext cx="1962150" cy="752475"/>
            <a:chOff x="0" y="0"/>
            <a:chExt cx="2616200" cy="10033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616200" cy="1003300"/>
            </a:xfrm>
            <a:custGeom>
              <a:avLst/>
              <a:gdLst/>
              <a:ahLst/>
              <a:cxnLst/>
              <a:rect l="l" t="t" r="r" b="b"/>
              <a:pathLst>
                <a:path w="2616200" h="1003300">
                  <a:moveTo>
                    <a:pt x="152400" y="0"/>
                  </a:moveTo>
                  <a:lnTo>
                    <a:pt x="2463800" y="0"/>
                  </a:lnTo>
                  <a:cubicBezTo>
                    <a:pt x="2548001" y="0"/>
                    <a:pt x="2616200" y="68199"/>
                    <a:pt x="2616200" y="152400"/>
                  </a:cubicBezTo>
                  <a:lnTo>
                    <a:pt x="2616200" y="850900"/>
                  </a:lnTo>
                  <a:cubicBezTo>
                    <a:pt x="2616200" y="935101"/>
                    <a:pt x="2548001" y="1003300"/>
                    <a:pt x="2463800" y="1003300"/>
                  </a:cubicBezTo>
                  <a:lnTo>
                    <a:pt x="152400" y="1003300"/>
                  </a:lnTo>
                  <a:cubicBezTo>
                    <a:pt x="68199" y="1003300"/>
                    <a:pt x="0" y="935101"/>
                    <a:pt x="0" y="85090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E5705A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616200" cy="104140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940"/>
                </a:lnSpc>
              </a:pPr>
              <a:r>
                <a:rPr lang="en-US" sz="2100" b="1">
                  <a:solidFill>
                    <a:srgbClr val="0F1B2D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ID 2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372100" y="3067050"/>
            <a:ext cx="1962150" cy="752475"/>
            <a:chOff x="0" y="0"/>
            <a:chExt cx="2616200" cy="10033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616200" cy="1003300"/>
            </a:xfrm>
            <a:custGeom>
              <a:avLst/>
              <a:gdLst/>
              <a:ahLst/>
              <a:cxnLst/>
              <a:rect l="l" t="t" r="r" b="b"/>
              <a:pathLst>
                <a:path w="2616200" h="1003300">
                  <a:moveTo>
                    <a:pt x="152400" y="0"/>
                  </a:moveTo>
                  <a:lnTo>
                    <a:pt x="2463800" y="0"/>
                  </a:lnTo>
                  <a:cubicBezTo>
                    <a:pt x="2548001" y="0"/>
                    <a:pt x="2616200" y="68199"/>
                    <a:pt x="2616200" y="152400"/>
                  </a:cubicBezTo>
                  <a:lnTo>
                    <a:pt x="2616200" y="850900"/>
                  </a:lnTo>
                  <a:cubicBezTo>
                    <a:pt x="2616200" y="935101"/>
                    <a:pt x="2548001" y="1003300"/>
                    <a:pt x="2463800" y="1003300"/>
                  </a:cubicBezTo>
                  <a:lnTo>
                    <a:pt x="152400" y="1003300"/>
                  </a:lnTo>
                  <a:cubicBezTo>
                    <a:pt x="68199" y="1003300"/>
                    <a:pt x="0" y="935101"/>
                    <a:pt x="0" y="85090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2F6FB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616200" cy="104140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940"/>
                </a:lnSpc>
              </a:pPr>
              <a:r>
                <a:rPr lang="en-US" sz="2100" b="1">
                  <a:solidFill>
                    <a:srgbClr val="FFFFFF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ID 3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448550" y="3067050"/>
            <a:ext cx="1962150" cy="752475"/>
            <a:chOff x="0" y="0"/>
            <a:chExt cx="2616200" cy="10033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616200" cy="1003300"/>
            </a:xfrm>
            <a:custGeom>
              <a:avLst/>
              <a:gdLst/>
              <a:ahLst/>
              <a:cxnLst/>
              <a:rect l="l" t="t" r="r" b="b"/>
              <a:pathLst>
                <a:path w="2616200" h="1003300">
                  <a:moveTo>
                    <a:pt x="152400" y="0"/>
                  </a:moveTo>
                  <a:lnTo>
                    <a:pt x="2463800" y="0"/>
                  </a:lnTo>
                  <a:cubicBezTo>
                    <a:pt x="2548001" y="0"/>
                    <a:pt x="2616200" y="68199"/>
                    <a:pt x="2616200" y="152400"/>
                  </a:cubicBezTo>
                  <a:lnTo>
                    <a:pt x="2616200" y="850900"/>
                  </a:lnTo>
                  <a:cubicBezTo>
                    <a:pt x="2616200" y="935101"/>
                    <a:pt x="2548001" y="1003300"/>
                    <a:pt x="2463800" y="1003300"/>
                  </a:cubicBezTo>
                  <a:lnTo>
                    <a:pt x="152400" y="1003300"/>
                  </a:lnTo>
                  <a:cubicBezTo>
                    <a:pt x="68199" y="1003300"/>
                    <a:pt x="0" y="935101"/>
                    <a:pt x="0" y="85090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2F6FB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616200" cy="104140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940"/>
                </a:lnSpc>
              </a:pPr>
              <a:r>
                <a:rPr lang="en-US" sz="2100" b="1">
                  <a:solidFill>
                    <a:srgbClr val="FFFFFF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ID 4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219200" y="3857625"/>
            <a:ext cx="843724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E5705A"/>
                </a:solidFill>
                <a:latin typeface="IBM Plex Sans"/>
                <a:ea typeface="IBM Plex Sans"/>
                <a:cs typeface="IBM Plex Sans"/>
                <a:sym typeface="IBM Plex Sans"/>
              </a:rPr>
              <a:t>ID 2 is found and removed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19200" y="4362450"/>
            <a:ext cx="843724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E8A3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After · ID 3 and ID 4 shifted forward · rear = 2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219200" y="4791075"/>
            <a:ext cx="1952625" cy="752475"/>
            <a:chOff x="0" y="0"/>
            <a:chExt cx="2603500" cy="10033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603500" cy="1003300"/>
            </a:xfrm>
            <a:custGeom>
              <a:avLst/>
              <a:gdLst/>
              <a:ahLst/>
              <a:cxnLst/>
              <a:rect l="l" t="t" r="r" b="b"/>
              <a:pathLst>
                <a:path w="2603500" h="1003300">
                  <a:moveTo>
                    <a:pt x="152400" y="0"/>
                  </a:moveTo>
                  <a:lnTo>
                    <a:pt x="2451100" y="0"/>
                  </a:lnTo>
                  <a:cubicBezTo>
                    <a:pt x="2535301" y="0"/>
                    <a:pt x="2603500" y="68199"/>
                    <a:pt x="2603500" y="152400"/>
                  </a:cubicBezTo>
                  <a:lnTo>
                    <a:pt x="2603500" y="850900"/>
                  </a:lnTo>
                  <a:cubicBezTo>
                    <a:pt x="2603500" y="935101"/>
                    <a:pt x="2535301" y="1003300"/>
                    <a:pt x="2451100" y="1003300"/>
                  </a:cubicBezTo>
                  <a:lnTo>
                    <a:pt x="152400" y="1003300"/>
                  </a:lnTo>
                  <a:cubicBezTo>
                    <a:pt x="68199" y="1003300"/>
                    <a:pt x="0" y="935101"/>
                    <a:pt x="0" y="85090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2F6FB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2603500" cy="104140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940"/>
                </a:lnSpc>
              </a:pPr>
              <a:r>
                <a:rPr lang="en-US" sz="2100" b="1">
                  <a:solidFill>
                    <a:srgbClr val="FFFFFF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ID 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286125" y="4791075"/>
            <a:ext cx="1952625" cy="752475"/>
            <a:chOff x="0" y="0"/>
            <a:chExt cx="2603500" cy="10033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603500" cy="1003300"/>
            </a:xfrm>
            <a:custGeom>
              <a:avLst/>
              <a:gdLst/>
              <a:ahLst/>
              <a:cxnLst/>
              <a:rect l="l" t="t" r="r" b="b"/>
              <a:pathLst>
                <a:path w="2603500" h="1003300">
                  <a:moveTo>
                    <a:pt x="152400" y="0"/>
                  </a:moveTo>
                  <a:lnTo>
                    <a:pt x="2451100" y="0"/>
                  </a:lnTo>
                  <a:cubicBezTo>
                    <a:pt x="2535301" y="0"/>
                    <a:pt x="2603500" y="68199"/>
                    <a:pt x="2603500" y="152400"/>
                  </a:cubicBezTo>
                  <a:lnTo>
                    <a:pt x="2603500" y="850900"/>
                  </a:lnTo>
                  <a:cubicBezTo>
                    <a:pt x="2603500" y="935101"/>
                    <a:pt x="2535301" y="1003300"/>
                    <a:pt x="2451100" y="1003300"/>
                  </a:cubicBezTo>
                  <a:lnTo>
                    <a:pt x="152400" y="1003300"/>
                  </a:lnTo>
                  <a:cubicBezTo>
                    <a:pt x="68199" y="1003300"/>
                    <a:pt x="0" y="935101"/>
                    <a:pt x="0" y="85090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2F6FB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2603500" cy="104140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940"/>
                </a:lnSpc>
              </a:pPr>
              <a:r>
                <a:rPr lang="en-US" sz="2100" b="1">
                  <a:solidFill>
                    <a:srgbClr val="FFFFFF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ID 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353050" y="4791075"/>
            <a:ext cx="1952625" cy="752475"/>
            <a:chOff x="0" y="0"/>
            <a:chExt cx="2603500" cy="10033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603500" cy="1003300"/>
            </a:xfrm>
            <a:custGeom>
              <a:avLst/>
              <a:gdLst/>
              <a:ahLst/>
              <a:cxnLst/>
              <a:rect l="l" t="t" r="r" b="b"/>
              <a:pathLst>
                <a:path w="2603500" h="1003300">
                  <a:moveTo>
                    <a:pt x="152400" y="0"/>
                  </a:moveTo>
                  <a:lnTo>
                    <a:pt x="2451100" y="0"/>
                  </a:lnTo>
                  <a:cubicBezTo>
                    <a:pt x="2535301" y="0"/>
                    <a:pt x="2603500" y="68199"/>
                    <a:pt x="2603500" y="152400"/>
                  </a:cubicBezTo>
                  <a:lnTo>
                    <a:pt x="2603500" y="850900"/>
                  </a:lnTo>
                  <a:cubicBezTo>
                    <a:pt x="2603500" y="935101"/>
                    <a:pt x="2535301" y="1003300"/>
                    <a:pt x="2451100" y="1003300"/>
                  </a:cubicBezTo>
                  <a:lnTo>
                    <a:pt x="152400" y="1003300"/>
                  </a:lnTo>
                  <a:cubicBezTo>
                    <a:pt x="68199" y="1003300"/>
                    <a:pt x="0" y="935101"/>
                    <a:pt x="0" y="85090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2F6FB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2603500" cy="104140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940"/>
                </a:lnSpc>
              </a:pPr>
              <a:r>
                <a:rPr lang="en-US" sz="2100" b="1">
                  <a:solidFill>
                    <a:srgbClr val="FFFFFF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ID 4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419975" y="4791075"/>
            <a:ext cx="1990725" cy="752475"/>
            <a:chOff x="0" y="0"/>
            <a:chExt cx="2654300" cy="10033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654300" cy="1003300"/>
            </a:xfrm>
            <a:custGeom>
              <a:avLst/>
              <a:gdLst/>
              <a:ahLst/>
              <a:cxnLst/>
              <a:rect l="l" t="t" r="r" b="b"/>
              <a:pathLst>
                <a:path w="2654300" h="1003300">
                  <a:moveTo>
                    <a:pt x="330200" y="0"/>
                  </a:moveTo>
                  <a:lnTo>
                    <a:pt x="406400" y="0"/>
                  </a:lnTo>
                  <a:lnTo>
                    <a:pt x="406400" y="25400"/>
                  </a:lnTo>
                  <a:lnTo>
                    <a:pt x="330200" y="25400"/>
                  </a:lnTo>
                  <a:close/>
                  <a:moveTo>
                    <a:pt x="508000" y="0"/>
                  </a:moveTo>
                  <a:lnTo>
                    <a:pt x="584200" y="0"/>
                  </a:lnTo>
                  <a:lnTo>
                    <a:pt x="584200" y="25400"/>
                  </a:lnTo>
                  <a:lnTo>
                    <a:pt x="508000" y="25400"/>
                  </a:lnTo>
                  <a:close/>
                  <a:moveTo>
                    <a:pt x="685800" y="0"/>
                  </a:moveTo>
                  <a:lnTo>
                    <a:pt x="762000" y="0"/>
                  </a:lnTo>
                  <a:lnTo>
                    <a:pt x="762000" y="25400"/>
                  </a:lnTo>
                  <a:lnTo>
                    <a:pt x="685800" y="25400"/>
                  </a:lnTo>
                  <a:close/>
                  <a:moveTo>
                    <a:pt x="863600" y="0"/>
                  </a:moveTo>
                  <a:lnTo>
                    <a:pt x="939800" y="0"/>
                  </a:lnTo>
                  <a:lnTo>
                    <a:pt x="939800" y="25400"/>
                  </a:lnTo>
                  <a:lnTo>
                    <a:pt x="863600" y="25400"/>
                  </a:lnTo>
                  <a:close/>
                  <a:moveTo>
                    <a:pt x="1041400" y="0"/>
                  </a:moveTo>
                  <a:lnTo>
                    <a:pt x="1117600" y="0"/>
                  </a:lnTo>
                  <a:lnTo>
                    <a:pt x="1117600" y="25400"/>
                  </a:lnTo>
                  <a:lnTo>
                    <a:pt x="1041400" y="25400"/>
                  </a:lnTo>
                  <a:close/>
                  <a:moveTo>
                    <a:pt x="1219200" y="0"/>
                  </a:moveTo>
                  <a:lnTo>
                    <a:pt x="1295400" y="0"/>
                  </a:lnTo>
                  <a:lnTo>
                    <a:pt x="1295400" y="25400"/>
                  </a:lnTo>
                  <a:lnTo>
                    <a:pt x="1219200" y="25400"/>
                  </a:lnTo>
                  <a:close/>
                  <a:moveTo>
                    <a:pt x="1397000" y="25400"/>
                  </a:moveTo>
                  <a:lnTo>
                    <a:pt x="1473200" y="25400"/>
                  </a:lnTo>
                  <a:lnTo>
                    <a:pt x="1397000" y="25400"/>
                  </a:lnTo>
                  <a:close/>
                  <a:moveTo>
                    <a:pt x="1574800" y="25400"/>
                  </a:moveTo>
                  <a:lnTo>
                    <a:pt x="1651000" y="25400"/>
                  </a:lnTo>
                  <a:lnTo>
                    <a:pt x="1574800" y="25400"/>
                  </a:lnTo>
                  <a:close/>
                  <a:moveTo>
                    <a:pt x="1752600" y="25400"/>
                  </a:moveTo>
                  <a:lnTo>
                    <a:pt x="1828800" y="25400"/>
                  </a:lnTo>
                  <a:lnTo>
                    <a:pt x="1752600" y="25400"/>
                  </a:lnTo>
                  <a:close/>
                  <a:moveTo>
                    <a:pt x="1930400" y="25400"/>
                  </a:moveTo>
                  <a:lnTo>
                    <a:pt x="2006600" y="25400"/>
                  </a:lnTo>
                  <a:lnTo>
                    <a:pt x="1930400" y="25400"/>
                  </a:lnTo>
                  <a:close/>
                  <a:moveTo>
                    <a:pt x="2108200" y="25400"/>
                  </a:moveTo>
                  <a:lnTo>
                    <a:pt x="2184400" y="25400"/>
                  </a:lnTo>
                  <a:lnTo>
                    <a:pt x="2108200" y="25400"/>
                  </a:lnTo>
                  <a:close/>
                  <a:moveTo>
                    <a:pt x="2286000" y="25400"/>
                  </a:moveTo>
                  <a:lnTo>
                    <a:pt x="2362200" y="25400"/>
                  </a:lnTo>
                  <a:lnTo>
                    <a:pt x="2286000" y="25400"/>
                  </a:lnTo>
                  <a:close/>
                  <a:moveTo>
                    <a:pt x="2463800" y="25400"/>
                  </a:moveTo>
                  <a:lnTo>
                    <a:pt x="2501900" y="25400"/>
                  </a:lnTo>
                  <a:lnTo>
                    <a:pt x="2501900" y="12700"/>
                  </a:lnTo>
                  <a:lnTo>
                    <a:pt x="2501900" y="0"/>
                  </a:lnTo>
                  <a:cubicBezTo>
                    <a:pt x="2516124" y="0"/>
                    <a:pt x="2529967" y="1905"/>
                    <a:pt x="2543048" y="5588"/>
                  </a:cubicBezTo>
                  <a:lnTo>
                    <a:pt x="2536190" y="30099"/>
                  </a:lnTo>
                  <a:cubicBezTo>
                    <a:pt x="2525268" y="27051"/>
                    <a:pt x="2513838" y="25400"/>
                    <a:pt x="2501900" y="25400"/>
                  </a:cubicBezTo>
                  <a:lnTo>
                    <a:pt x="2463800" y="25400"/>
                  </a:lnTo>
                  <a:close/>
                  <a:moveTo>
                    <a:pt x="2630170" y="95377"/>
                  </a:moveTo>
                  <a:cubicBezTo>
                    <a:pt x="2644775" y="118110"/>
                    <a:pt x="2653538" y="145034"/>
                    <a:pt x="2654300" y="173863"/>
                  </a:cubicBezTo>
                  <a:lnTo>
                    <a:pt x="2628900" y="174498"/>
                  </a:lnTo>
                  <a:cubicBezTo>
                    <a:pt x="2628265" y="150495"/>
                    <a:pt x="2621026" y="128143"/>
                    <a:pt x="2608834" y="109220"/>
                  </a:cubicBezTo>
                  <a:close/>
                  <a:moveTo>
                    <a:pt x="2654300" y="250444"/>
                  </a:moveTo>
                  <a:lnTo>
                    <a:pt x="2654300" y="326644"/>
                  </a:lnTo>
                  <a:lnTo>
                    <a:pt x="2628900" y="326644"/>
                  </a:lnTo>
                  <a:lnTo>
                    <a:pt x="2628900" y="250444"/>
                  </a:lnTo>
                  <a:close/>
                  <a:moveTo>
                    <a:pt x="2628900" y="428244"/>
                  </a:moveTo>
                  <a:lnTo>
                    <a:pt x="2628900" y="504444"/>
                  </a:lnTo>
                  <a:lnTo>
                    <a:pt x="2603500" y="504444"/>
                  </a:lnTo>
                  <a:lnTo>
                    <a:pt x="2603500" y="428244"/>
                  </a:lnTo>
                  <a:close/>
                  <a:moveTo>
                    <a:pt x="2603500" y="606044"/>
                  </a:moveTo>
                  <a:lnTo>
                    <a:pt x="2603500" y="682244"/>
                  </a:lnTo>
                  <a:lnTo>
                    <a:pt x="2578100" y="682244"/>
                  </a:lnTo>
                  <a:lnTo>
                    <a:pt x="2578100" y="606044"/>
                  </a:lnTo>
                  <a:close/>
                  <a:moveTo>
                    <a:pt x="2578100" y="783844"/>
                  </a:moveTo>
                  <a:lnTo>
                    <a:pt x="2578100" y="850900"/>
                  </a:lnTo>
                  <a:lnTo>
                    <a:pt x="2565400" y="850900"/>
                  </a:lnTo>
                  <a:lnTo>
                    <a:pt x="2578100" y="850900"/>
                  </a:lnTo>
                  <a:cubicBezTo>
                    <a:pt x="2578100" y="854329"/>
                    <a:pt x="2577973" y="857631"/>
                    <a:pt x="2577719" y="860933"/>
                  </a:cubicBezTo>
                  <a:lnTo>
                    <a:pt x="2552319" y="859282"/>
                  </a:lnTo>
                  <a:cubicBezTo>
                    <a:pt x="2552446" y="856488"/>
                    <a:pt x="2552573" y="853694"/>
                    <a:pt x="2552573" y="850900"/>
                  </a:cubicBezTo>
                  <a:lnTo>
                    <a:pt x="2552573" y="783844"/>
                  </a:lnTo>
                  <a:close/>
                  <a:moveTo>
                    <a:pt x="2507107" y="959485"/>
                  </a:moveTo>
                  <a:cubicBezTo>
                    <a:pt x="2487549" y="978662"/>
                    <a:pt x="2462911" y="992759"/>
                    <a:pt x="2435352" y="999236"/>
                  </a:cubicBezTo>
                  <a:lnTo>
                    <a:pt x="2429510" y="974471"/>
                  </a:lnTo>
                  <a:cubicBezTo>
                    <a:pt x="2452497" y="969010"/>
                    <a:pt x="2473071" y="957326"/>
                    <a:pt x="2489327" y="941324"/>
                  </a:cubicBezTo>
                  <a:close/>
                  <a:moveTo>
                    <a:pt x="2432812" y="1003300"/>
                  </a:moveTo>
                  <a:lnTo>
                    <a:pt x="2356612" y="1003300"/>
                  </a:lnTo>
                  <a:lnTo>
                    <a:pt x="2356612" y="977900"/>
                  </a:lnTo>
                  <a:lnTo>
                    <a:pt x="2432812" y="977900"/>
                  </a:lnTo>
                  <a:close/>
                  <a:moveTo>
                    <a:pt x="2255012" y="977900"/>
                  </a:moveTo>
                  <a:lnTo>
                    <a:pt x="2178812" y="977900"/>
                  </a:lnTo>
                  <a:lnTo>
                    <a:pt x="2255012" y="977900"/>
                  </a:lnTo>
                  <a:close/>
                  <a:moveTo>
                    <a:pt x="2077212" y="977900"/>
                  </a:moveTo>
                  <a:lnTo>
                    <a:pt x="2001012" y="977900"/>
                  </a:lnTo>
                  <a:lnTo>
                    <a:pt x="2077212" y="977900"/>
                  </a:lnTo>
                  <a:close/>
                  <a:moveTo>
                    <a:pt x="1899412" y="977900"/>
                  </a:moveTo>
                  <a:lnTo>
                    <a:pt x="1823212" y="977900"/>
                  </a:lnTo>
                  <a:lnTo>
                    <a:pt x="1899412" y="977900"/>
                  </a:lnTo>
                  <a:close/>
                  <a:moveTo>
                    <a:pt x="1721612" y="977900"/>
                  </a:moveTo>
                  <a:lnTo>
                    <a:pt x="1645412" y="977900"/>
                  </a:lnTo>
                  <a:lnTo>
                    <a:pt x="1721612" y="977900"/>
                  </a:lnTo>
                  <a:close/>
                  <a:moveTo>
                    <a:pt x="1543812" y="977900"/>
                  </a:moveTo>
                  <a:lnTo>
                    <a:pt x="1467612" y="977900"/>
                  </a:lnTo>
                  <a:lnTo>
                    <a:pt x="1543812" y="977900"/>
                  </a:lnTo>
                  <a:close/>
                  <a:moveTo>
                    <a:pt x="1366012" y="977900"/>
                  </a:moveTo>
                  <a:lnTo>
                    <a:pt x="1289812" y="977900"/>
                  </a:lnTo>
                  <a:lnTo>
                    <a:pt x="1366012" y="977900"/>
                  </a:lnTo>
                  <a:close/>
                  <a:moveTo>
                    <a:pt x="1188212" y="977900"/>
                  </a:moveTo>
                  <a:lnTo>
                    <a:pt x="1112012" y="977900"/>
                  </a:lnTo>
                  <a:lnTo>
                    <a:pt x="1188212" y="977900"/>
                  </a:lnTo>
                  <a:close/>
                  <a:moveTo>
                    <a:pt x="1010412" y="977900"/>
                  </a:moveTo>
                  <a:lnTo>
                    <a:pt x="934212" y="977900"/>
                  </a:lnTo>
                  <a:lnTo>
                    <a:pt x="1010412" y="977900"/>
                  </a:lnTo>
                  <a:close/>
                  <a:moveTo>
                    <a:pt x="832612" y="977900"/>
                  </a:moveTo>
                  <a:lnTo>
                    <a:pt x="756412" y="977900"/>
                  </a:lnTo>
                  <a:lnTo>
                    <a:pt x="832612" y="977900"/>
                  </a:lnTo>
                  <a:close/>
                  <a:moveTo>
                    <a:pt x="654812" y="977900"/>
                  </a:moveTo>
                  <a:lnTo>
                    <a:pt x="578612" y="977900"/>
                  </a:lnTo>
                  <a:lnTo>
                    <a:pt x="654812" y="977900"/>
                  </a:lnTo>
                  <a:close/>
                  <a:moveTo>
                    <a:pt x="477012" y="977900"/>
                  </a:moveTo>
                  <a:lnTo>
                    <a:pt x="400812" y="977900"/>
                  </a:lnTo>
                  <a:lnTo>
                    <a:pt x="477012" y="977900"/>
                  </a:lnTo>
                  <a:close/>
                  <a:moveTo>
                    <a:pt x="299212" y="977900"/>
                  </a:moveTo>
                  <a:lnTo>
                    <a:pt x="223012" y="977900"/>
                  </a:lnTo>
                  <a:lnTo>
                    <a:pt x="299212" y="977900"/>
                  </a:lnTo>
                  <a:close/>
                  <a:moveTo>
                    <a:pt x="118872" y="974217"/>
                  </a:moveTo>
                  <a:cubicBezTo>
                    <a:pt x="91186" y="967994"/>
                    <a:pt x="66294" y="954278"/>
                    <a:pt x="46609" y="935228"/>
                  </a:cubicBezTo>
                  <a:lnTo>
                    <a:pt x="64262" y="942340"/>
                  </a:lnTo>
                  <a:cubicBezTo>
                    <a:pt x="80645" y="958215"/>
                    <a:pt x="101346" y="969645"/>
                    <a:pt x="124460" y="974852"/>
                  </a:cubicBezTo>
                  <a:close/>
                  <a:moveTo>
                    <a:pt x="508" y="862711"/>
                  </a:moveTo>
                  <a:cubicBezTo>
                    <a:pt x="127" y="858774"/>
                    <a:pt x="0" y="854837"/>
                    <a:pt x="0" y="850900"/>
                  </a:cubicBezTo>
                  <a:lnTo>
                    <a:pt x="12700" y="850900"/>
                  </a:lnTo>
                  <a:lnTo>
                    <a:pt x="0" y="850900"/>
                  </a:lnTo>
                  <a:lnTo>
                    <a:pt x="0" y="785368"/>
                  </a:lnTo>
                  <a:lnTo>
                    <a:pt x="25400" y="785368"/>
                  </a:lnTo>
                  <a:lnTo>
                    <a:pt x="25400" y="850900"/>
                  </a:lnTo>
                  <a:cubicBezTo>
                    <a:pt x="25400" y="854202"/>
                    <a:pt x="25527" y="857504"/>
                    <a:pt x="25781" y="860806"/>
                  </a:cubicBezTo>
                  <a:close/>
                  <a:moveTo>
                    <a:pt x="0" y="683768"/>
                  </a:moveTo>
                  <a:lnTo>
                    <a:pt x="0" y="607568"/>
                  </a:lnTo>
                  <a:lnTo>
                    <a:pt x="25400" y="607568"/>
                  </a:lnTo>
                  <a:lnTo>
                    <a:pt x="25400" y="683768"/>
                  </a:lnTo>
                  <a:close/>
                  <a:moveTo>
                    <a:pt x="25400" y="505968"/>
                  </a:moveTo>
                  <a:lnTo>
                    <a:pt x="25400" y="429768"/>
                  </a:lnTo>
                  <a:lnTo>
                    <a:pt x="25400" y="505968"/>
                  </a:lnTo>
                  <a:close/>
                  <a:moveTo>
                    <a:pt x="25400" y="328168"/>
                  </a:moveTo>
                  <a:lnTo>
                    <a:pt x="25400" y="251968"/>
                  </a:lnTo>
                  <a:lnTo>
                    <a:pt x="25400" y="328168"/>
                  </a:lnTo>
                  <a:close/>
                  <a:moveTo>
                    <a:pt x="0" y="150241"/>
                  </a:moveTo>
                  <a:cubicBezTo>
                    <a:pt x="381" y="121412"/>
                    <a:pt x="8890" y="94361"/>
                    <a:pt x="23241" y="71501"/>
                  </a:cubicBezTo>
                  <a:lnTo>
                    <a:pt x="44704" y="84963"/>
                  </a:lnTo>
                  <a:cubicBezTo>
                    <a:pt x="32766" y="104013"/>
                    <a:pt x="25781" y="126492"/>
                    <a:pt x="25400" y="150495"/>
                  </a:cubicBezTo>
                  <a:close/>
                  <a:moveTo>
                    <a:pt x="109601" y="6096"/>
                  </a:moveTo>
                  <a:cubicBezTo>
                    <a:pt x="123190" y="2159"/>
                    <a:pt x="137541" y="0"/>
                    <a:pt x="152400" y="0"/>
                  </a:cubicBezTo>
                  <a:cubicBezTo>
                    <a:pt x="154813" y="0"/>
                    <a:pt x="157353" y="762"/>
                    <a:pt x="159385" y="2032"/>
                  </a:cubicBezTo>
                  <a:lnTo>
                    <a:pt x="152400" y="12700"/>
                  </a:lnTo>
                  <a:lnTo>
                    <a:pt x="152400" y="0"/>
                  </a:lnTo>
                  <a:lnTo>
                    <a:pt x="228600" y="0"/>
                  </a:lnTo>
                  <a:lnTo>
                    <a:pt x="228600" y="25400"/>
                  </a:lnTo>
                  <a:lnTo>
                    <a:pt x="152400" y="25400"/>
                  </a:lnTo>
                  <a:cubicBezTo>
                    <a:pt x="149987" y="25400"/>
                    <a:pt x="147447" y="24638"/>
                    <a:pt x="145415" y="23368"/>
                  </a:cubicBezTo>
                  <a:lnTo>
                    <a:pt x="152400" y="12700"/>
                  </a:lnTo>
                  <a:lnTo>
                    <a:pt x="152400" y="25400"/>
                  </a:lnTo>
                  <a:cubicBezTo>
                    <a:pt x="139954" y="25400"/>
                    <a:pt x="128016" y="27178"/>
                    <a:pt x="116713" y="30480"/>
                  </a:cubicBezTo>
                  <a:close/>
                </a:path>
              </a:pathLst>
            </a:custGeom>
            <a:solidFill>
              <a:srgbClr val="4B5F7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2654300" cy="105092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7F93B2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empty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219200" y="5581650"/>
            <a:ext cx="843724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B9C6D8"/>
                </a:solidFill>
                <a:latin typeface="IBM Plex Sans"/>
                <a:ea typeface="IBM Plex Sans"/>
                <a:cs typeface="IBM Plex Sans"/>
                <a:sym typeface="IBM Plex Sans"/>
              </a:rPr>
              <a:t>No gap is left in the middle of the array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19200" y="6086475"/>
            <a:ext cx="843724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B9C6D8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Request ID counter keeps increasing; a cancelled ID is never reused.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9791700" y="2676525"/>
            <a:ext cx="7277100" cy="3086100"/>
            <a:chOff x="0" y="0"/>
            <a:chExt cx="9702800" cy="4114800"/>
          </a:xfrm>
        </p:grpSpPr>
        <p:sp>
          <p:nvSpPr>
            <p:cNvPr id="34" name="Freeform 34"/>
            <p:cNvSpPr/>
            <p:nvPr/>
          </p:nvSpPr>
          <p:spPr>
            <a:xfrm>
              <a:off x="6350" y="6350"/>
              <a:ext cx="9690100" cy="4102100"/>
            </a:xfrm>
            <a:custGeom>
              <a:avLst/>
              <a:gdLst/>
              <a:ahLst/>
              <a:cxnLst/>
              <a:rect l="l" t="t" r="r" b="b"/>
              <a:pathLst>
                <a:path w="9690100" h="4102100">
                  <a:moveTo>
                    <a:pt x="0" y="196850"/>
                  </a:moveTo>
                  <a:cubicBezTo>
                    <a:pt x="0" y="88138"/>
                    <a:pt x="88265" y="0"/>
                    <a:pt x="197231" y="0"/>
                  </a:cubicBezTo>
                  <a:lnTo>
                    <a:pt x="9492869" y="0"/>
                  </a:lnTo>
                  <a:cubicBezTo>
                    <a:pt x="9601835" y="0"/>
                    <a:pt x="9690100" y="88138"/>
                    <a:pt x="9690100" y="196850"/>
                  </a:cubicBezTo>
                  <a:lnTo>
                    <a:pt x="9690100" y="3905250"/>
                  </a:lnTo>
                  <a:cubicBezTo>
                    <a:pt x="9690100" y="4013962"/>
                    <a:pt x="9601835" y="4102100"/>
                    <a:pt x="9492869" y="4102100"/>
                  </a:cubicBezTo>
                  <a:lnTo>
                    <a:pt x="197231" y="4102100"/>
                  </a:lnTo>
                  <a:cubicBezTo>
                    <a:pt x="88265" y="4102100"/>
                    <a:pt x="0" y="4013962"/>
                    <a:pt x="0" y="3905250"/>
                  </a:cubicBezTo>
                  <a:close/>
                </a:path>
              </a:pathLst>
            </a:custGeom>
            <a:solidFill>
              <a:srgbClr val="1A2A4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0" y="0"/>
              <a:ext cx="9702800" cy="4114800"/>
            </a:xfrm>
            <a:custGeom>
              <a:avLst/>
              <a:gdLst/>
              <a:ahLst/>
              <a:cxnLst/>
              <a:rect l="l" t="t" r="r" b="b"/>
              <a:pathLst>
                <a:path w="9702800" h="4114800">
                  <a:moveTo>
                    <a:pt x="0" y="203200"/>
                  </a:moveTo>
                  <a:cubicBezTo>
                    <a:pt x="0" y="90932"/>
                    <a:pt x="91186" y="0"/>
                    <a:pt x="203581" y="0"/>
                  </a:cubicBezTo>
                  <a:lnTo>
                    <a:pt x="9499219" y="0"/>
                  </a:lnTo>
                  <a:lnTo>
                    <a:pt x="9499219" y="6350"/>
                  </a:lnTo>
                  <a:lnTo>
                    <a:pt x="9499219" y="0"/>
                  </a:lnTo>
                  <a:cubicBezTo>
                    <a:pt x="9611614" y="0"/>
                    <a:pt x="9702800" y="90932"/>
                    <a:pt x="9702800" y="203200"/>
                  </a:cubicBezTo>
                  <a:lnTo>
                    <a:pt x="9696450" y="203200"/>
                  </a:lnTo>
                  <a:lnTo>
                    <a:pt x="9702800" y="203200"/>
                  </a:lnTo>
                  <a:lnTo>
                    <a:pt x="9702800" y="3911600"/>
                  </a:lnTo>
                  <a:lnTo>
                    <a:pt x="9696450" y="3911600"/>
                  </a:lnTo>
                  <a:lnTo>
                    <a:pt x="9702800" y="3911600"/>
                  </a:lnTo>
                  <a:cubicBezTo>
                    <a:pt x="9702800" y="4023868"/>
                    <a:pt x="9611614" y="4114800"/>
                    <a:pt x="9499219" y="4114800"/>
                  </a:cubicBezTo>
                  <a:lnTo>
                    <a:pt x="9499219" y="4108450"/>
                  </a:lnTo>
                  <a:lnTo>
                    <a:pt x="9499219" y="4114800"/>
                  </a:lnTo>
                  <a:lnTo>
                    <a:pt x="203581" y="4114800"/>
                  </a:lnTo>
                  <a:lnTo>
                    <a:pt x="203581" y="4108450"/>
                  </a:lnTo>
                  <a:lnTo>
                    <a:pt x="203581" y="4114800"/>
                  </a:lnTo>
                  <a:cubicBezTo>
                    <a:pt x="91186" y="4114800"/>
                    <a:pt x="0" y="4023868"/>
                    <a:pt x="0" y="3911600"/>
                  </a:cubicBezTo>
                  <a:lnTo>
                    <a:pt x="0" y="203200"/>
                  </a:lnTo>
                  <a:lnTo>
                    <a:pt x="6350" y="203200"/>
                  </a:lnTo>
                  <a:lnTo>
                    <a:pt x="0" y="203200"/>
                  </a:lnTo>
                  <a:moveTo>
                    <a:pt x="12700" y="203200"/>
                  </a:moveTo>
                  <a:lnTo>
                    <a:pt x="12700" y="3911600"/>
                  </a:lnTo>
                  <a:lnTo>
                    <a:pt x="6350" y="3911600"/>
                  </a:lnTo>
                  <a:lnTo>
                    <a:pt x="12700" y="3911600"/>
                  </a:lnTo>
                  <a:cubicBezTo>
                    <a:pt x="12700" y="4016756"/>
                    <a:pt x="98171" y="4102100"/>
                    <a:pt x="203581" y="4102100"/>
                  </a:cubicBezTo>
                  <a:lnTo>
                    <a:pt x="9499219" y="4102100"/>
                  </a:lnTo>
                  <a:cubicBezTo>
                    <a:pt x="9604628" y="4102100"/>
                    <a:pt x="9690100" y="4016756"/>
                    <a:pt x="9690100" y="3911600"/>
                  </a:cubicBezTo>
                  <a:lnTo>
                    <a:pt x="9690100" y="203200"/>
                  </a:lnTo>
                  <a:cubicBezTo>
                    <a:pt x="9690100" y="98044"/>
                    <a:pt x="9604628" y="12700"/>
                    <a:pt x="9499219" y="12700"/>
                  </a:cubicBezTo>
                  <a:lnTo>
                    <a:pt x="203581" y="12700"/>
                  </a:lnTo>
                  <a:lnTo>
                    <a:pt x="203581" y="6350"/>
                  </a:lnTo>
                  <a:lnTo>
                    <a:pt x="203581" y="12700"/>
                  </a:lnTo>
                  <a:cubicBezTo>
                    <a:pt x="98171" y="12700"/>
                    <a:pt x="12700" y="98044"/>
                    <a:pt x="12700" y="203200"/>
                  </a:cubicBezTo>
                  <a:close/>
                </a:path>
              </a:pathLst>
            </a:custGeom>
            <a:solidFill>
              <a:srgbClr val="2C4062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0067925" y="2952750"/>
            <a:ext cx="6926390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5F3E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Steps (pending requests only)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174338" y="3390900"/>
            <a:ext cx="6808546" cy="213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2901" lvl="1" indent="-176451" algn="l">
              <a:lnSpc>
                <a:spcPts val="2729"/>
              </a:lnSpc>
              <a:buAutoNum type="arabicPeriod"/>
            </a:pPr>
            <a:r>
              <a:rPr lang="en-US" sz="1950">
                <a:solidFill>
                  <a:srgbClr val="B9C6D8"/>
                </a:solidFill>
                <a:latin typeface="IBM Plex Sans"/>
                <a:ea typeface="IBM Plex Sans"/>
                <a:cs typeface="IBM Plex Sans"/>
                <a:sym typeface="IBM Plex Sans"/>
              </a:rPr>
              <a:t>Queue empty? “No pending requests”</a:t>
            </a:r>
          </a:p>
          <a:p>
            <a:pPr marL="352901" lvl="1" indent="-176451" algn="l">
              <a:lnSpc>
                <a:spcPts val="2729"/>
              </a:lnSpc>
              <a:buAutoNum type="arabicPeriod"/>
            </a:pPr>
            <a:r>
              <a:rPr lang="en-US" sz="1950">
                <a:solidFill>
                  <a:srgbClr val="B9C6D8"/>
                </a:solidFill>
                <a:latin typeface="IBM Plex Sans"/>
                <a:ea typeface="IBM Plex Sans"/>
                <a:cs typeface="IBM Plex Sans"/>
                <a:sym typeface="IBM Plex Sans"/>
              </a:rPr>
              <a:t>Read the Request ID</a:t>
            </a:r>
          </a:p>
          <a:p>
            <a:pPr marL="352901" lvl="1" indent="-176451" algn="l">
              <a:lnSpc>
                <a:spcPts val="2729"/>
              </a:lnSpc>
              <a:buAutoNum type="arabicPeriod"/>
            </a:pPr>
            <a:r>
              <a:rPr lang="en-US" sz="1950">
                <a:solidFill>
                  <a:srgbClr val="B9C6D8"/>
                </a:solidFill>
                <a:latin typeface="IBM Plex Sans"/>
                <a:ea typeface="IBM Plex Sans"/>
                <a:cs typeface="IBM Plex Sans"/>
                <a:sym typeface="IBM Plex Sans"/>
              </a:rPr>
              <a:t>Search the queue, comparing IDs</a:t>
            </a:r>
          </a:p>
          <a:p>
            <a:pPr marL="352901" lvl="1" indent="-176451" algn="l">
              <a:lnSpc>
                <a:spcPts val="2729"/>
              </a:lnSpc>
              <a:buAutoNum type="arabicPeriod"/>
            </a:pPr>
            <a:r>
              <a:rPr lang="en-US" sz="1950" b="1">
                <a:solidFill>
                  <a:srgbClr val="F5F3E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Found:</a:t>
            </a:r>
            <a:r>
              <a:rPr lang="en-US" sz="1950">
                <a:solidFill>
                  <a:srgbClr val="B9C6D8"/>
                </a:solidFill>
                <a:latin typeface="IBM Plex Sans"/>
                <a:ea typeface="IBM Plex Sans"/>
                <a:cs typeface="IBM Plex Sans"/>
                <a:sym typeface="IBM Plex Sans"/>
              </a:rPr>
              <a:t> shift later elements forward, rear--, reset front = rear = -1 if empty, “Request cancelled”</a:t>
            </a:r>
          </a:p>
          <a:p>
            <a:pPr marL="352901" lvl="1" indent="-176451" algn="l">
              <a:lnSpc>
                <a:spcPts val="2729"/>
              </a:lnSpc>
              <a:buAutoNum type="arabicPeriod"/>
            </a:pPr>
            <a:r>
              <a:rPr lang="en-US" sz="1950" b="1">
                <a:solidFill>
                  <a:srgbClr val="F5F3E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Not found:</a:t>
            </a:r>
            <a:r>
              <a:rPr lang="en-US" sz="1950">
                <a:solidFill>
                  <a:srgbClr val="B9C6D8"/>
                </a:solidFill>
                <a:latin typeface="IBM Plex Sans"/>
                <a:ea typeface="IBM Plex Sans"/>
                <a:cs typeface="IBM Plex Sans"/>
                <a:sym typeface="IBM Plex Sans"/>
              </a:rPr>
              <a:t> “Request not found”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9791700" y="5953125"/>
            <a:ext cx="7277100" cy="1200150"/>
            <a:chOff x="0" y="0"/>
            <a:chExt cx="9702800" cy="16002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9702800" cy="1600200"/>
            </a:xfrm>
            <a:custGeom>
              <a:avLst/>
              <a:gdLst/>
              <a:ahLst/>
              <a:cxnLst/>
              <a:rect l="l" t="t" r="r" b="b"/>
              <a:pathLst>
                <a:path w="9702800" h="16002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9499600" y="0"/>
                  </a:lnTo>
                  <a:cubicBezTo>
                    <a:pt x="9611868" y="0"/>
                    <a:pt x="9702800" y="90932"/>
                    <a:pt x="9702800" y="203200"/>
                  </a:cubicBezTo>
                  <a:lnTo>
                    <a:pt x="9702800" y="1397000"/>
                  </a:lnTo>
                  <a:cubicBezTo>
                    <a:pt x="9702800" y="1509268"/>
                    <a:pt x="9611868" y="1600200"/>
                    <a:pt x="9499600" y="1600200"/>
                  </a:cubicBezTo>
                  <a:lnTo>
                    <a:pt x="203200" y="1600200"/>
                  </a:lnTo>
                  <a:cubicBezTo>
                    <a:pt x="90932" y="1600200"/>
                    <a:pt x="0" y="1509268"/>
                    <a:pt x="0" y="1397000"/>
                  </a:cubicBezTo>
                  <a:close/>
                </a:path>
              </a:pathLst>
            </a:custGeom>
            <a:solidFill>
              <a:srgbClr val="B9C6D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47625"/>
              <a:ext cx="9702800" cy="164782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0F1B2D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Not a linked-list deletion: the queue is an array, so later elements must be shifted. Cancellation is O(n).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219200" y="9324975"/>
            <a:ext cx="16325088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7F93B2"/>
                </a:solidFill>
                <a:latin typeface="IBM Plex Sans"/>
                <a:ea typeface="IBM Plex Sans"/>
                <a:cs typeface="IBM Plex Sans"/>
                <a:sym typeface="IBM Plex Sans"/>
              </a:rPr>
              <a:t>Elevator Request Management System ·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19200" y="1181100"/>
            <a:ext cx="16325088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225">
                <a:solidFill>
                  <a:srgbClr val="E8A3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PROGRAM INTERFACE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19200" y="1819275"/>
            <a:ext cx="16325088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4200" b="1">
                <a:solidFill>
                  <a:srgbClr val="F5F3E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Menu and Error Handling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219200" y="2676525"/>
            <a:ext cx="7620000" cy="3695700"/>
            <a:chOff x="0" y="0"/>
            <a:chExt cx="10160000" cy="4927600"/>
          </a:xfrm>
        </p:grpSpPr>
        <p:sp>
          <p:nvSpPr>
            <p:cNvPr id="5" name="Freeform 5"/>
            <p:cNvSpPr/>
            <p:nvPr/>
          </p:nvSpPr>
          <p:spPr>
            <a:xfrm>
              <a:off x="6350" y="6350"/>
              <a:ext cx="10147300" cy="4914900"/>
            </a:xfrm>
            <a:custGeom>
              <a:avLst/>
              <a:gdLst/>
              <a:ahLst/>
              <a:cxnLst/>
              <a:rect l="l" t="t" r="r" b="b"/>
              <a:pathLst>
                <a:path w="10147300" h="4914900">
                  <a:moveTo>
                    <a:pt x="0" y="196850"/>
                  </a:moveTo>
                  <a:cubicBezTo>
                    <a:pt x="0" y="88138"/>
                    <a:pt x="88265" y="0"/>
                    <a:pt x="197104" y="0"/>
                  </a:cubicBezTo>
                  <a:lnTo>
                    <a:pt x="9950196" y="0"/>
                  </a:lnTo>
                  <a:cubicBezTo>
                    <a:pt x="10059035" y="0"/>
                    <a:pt x="10147300" y="88138"/>
                    <a:pt x="10147300" y="196850"/>
                  </a:cubicBezTo>
                  <a:lnTo>
                    <a:pt x="10147300" y="4718050"/>
                  </a:lnTo>
                  <a:cubicBezTo>
                    <a:pt x="10147300" y="4826762"/>
                    <a:pt x="10059035" y="4914900"/>
                    <a:pt x="9950196" y="4914900"/>
                  </a:cubicBezTo>
                  <a:lnTo>
                    <a:pt x="197104" y="4914900"/>
                  </a:lnTo>
                  <a:cubicBezTo>
                    <a:pt x="88265" y="4914900"/>
                    <a:pt x="0" y="4826762"/>
                    <a:pt x="0" y="4718050"/>
                  </a:cubicBezTo>
                  <a:close/>
                </a:path>
              </a:pathLst>
            </a:custGeom>
            <a:solidFill>
              <a:srgbClr val="1A2A4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Freeform 6"/>
            <p:cNvSpPr/>
            <p:nvPr/>
          </p:nvSpPr>
          <p:spPr>
            <a:xfrm>
              <a:off x="0" y="0"/>
              <a:ext cx="10160000" cy="4927600"/>
            </a:xfrm>
            <a:custGeom>
              <a:avLst/>
              <a:gdLst/>
              <a:ahLst/>
              <a:cxnLst/>
              <a:rect l="l" t="t" r="r" b="b"/>
              <a:pathLst>
                <a:path w="10160000" h="4927600">
                  <a:moveTo>
                    <a:pt x="0" y="203200"/>
                  </a:moveTo>
                  <a:cubicBezTo>
                    <a:pt x="0" y="90932"/>
                    <a:pt x="91059" y="0"/>
                    <a:pt x="203454" y="0"/>
                  </a:cubicBezTo>
                  <a:lnTo>
                    <a:pt x="9956546" y="0"/>
                  </a:lnTo>
                  <a:lnTo>
                    <a:pt x="9956546" y="6350"/>
                  </a:lnTo>
                  <a:lnTo>
                    <a:pt x="9956546" y="0"/>
                  </a:lnTo>
                  <a:cubicBezTo>
                    <a:pt x="10068941" y="0"/>
                    <a:pt x="10160000" y="90932"/>
                    <a:pt x="10160000" y="203200"/>
                  </a:cubicBezTo>
                  <a:lnTo>
                    <a:pt x="10153650" y="203200"/>
                  </a:lnTo>
                  <a:lnTo>
                    <a:pt x="10160000" y="203200"/>
                  </a:lnTo>
                  <a:lnTo>
                    <a:pt x="10160000" y="4724400"/>
                  </a:lnTo>
                  <a:lnTo>
                    <a:pt x="10153650" y="4724400"/>
                  </a:lnTo>
                  <a:lnTo>
                    <a:pt x="10160000" y="4724400"/>
                  </a:lnTo>
                  <a:cubicBezTo>
                    <a:pt x="10160000" y="4836668"/>
                    <a:pt x="10068941" y="4927600"/>
                    <a:pt x="9956546" y="4927600"/>
                  </a:cubicBezTo>
                  <a:lnTo>
                    <a:pt x="9956546" y="4921250"/>
                  </a:lnTo>
                  <a:lnTo>
                    <a:pt x="9956546" y="4927600"/>
                  </a:lnTo>
                  <a:lnTo>
                    <a:pt x="203454" y="4927600"/>
                  </a:lnTo>
                  <a:lnTo>
                    <a:pt x="203454" y="4921250"/>
                  </a:lnTo>
                  <a:lnTo>
                    <a:pt x="203454" y="4927600"/>
                  </a:lnTo>
                  <a:cubicBezTo>
                    <a:pt x="91059" y="4927600"/>
                    <a:pt x="0" y="4836668"/>
                    <a:pt x="0" y="4724400"/>
                  </a:cubicBezTo>
                  <a:lnTo>
                    <a:pt x="0" y="203200"/>
                  </a:lnTo>
                  <a:lnTo>
                    <a:pt x="6350" y="203200"/>
                  </a:lnTo>
                  <a:lnTo>
                    <a:pt x="0" y="203200"/>
                  </a:lnTo>
                  <a:moveTo>
                    <a:pt x="12700" y="203200"/>
                  </a:moveTo>
                  <a:lnTo>
                    <a:pt x="12700" y="4724400"/>
                  </a:lnTo>
                  <a:lnTo>
                    <a:pt x="6350" y="4724400"/>
                  </a:lnTo>
                  <a:lnTo>
                    <a:pt x="12700" y="4724400"/>
                  </a:lnTo>
                  <a:cubicBezTo>
                    <a:pt x="12700" y="4829556"/>
                    <a:pt x="98044" y="4914900"/>
                    <a:pt x="203454" y="4914900"/>
                  </a:cubicBezTo>
                  <a:lnTo>
                    <a:pt x="9956546" y="4914900"/>
                  </a:lnTo>
                  <a:cubicBezTo>
                    <a:pt x="10061956" y="4914900"/>
                    <a:pt x="10147300" y="4829556"/>
                    <a:pt x="10147300" y="4724400"/>
                  </a:cubicBezTo>
                  <a:lnTo>
                    <a:pt x="10147300" y="203200"/>
                  </a:lnTo>
                  <a:cubicBezTo>
                    <a:pt x="10147300" y="98044"/>
                    <a:pt x="10061956" y="12700"/>
                    <a:pt x="9956546" y="12700"/>
                  </a:cubicBezTo>
                  <a:lnTo>
                    <a:pt x="203454" y="12700"/>
                  </a:lnTo>
                  <a:lnTo>
                    <a:pt x="203454" y="6350"/>
                  </a:lnTo>
                  <a:lnTo>
                    <a:pt x="203454" y="12700"/>
                  </a:lnTo>
                  <a:cubicBezTo>
                    <a:pt x="98044" y="12700"/>
                    <a:pt x="12700" y="98044"/>
                    <a:pt x="12700" y="203200"/>
                  </a:cubicBezTo>
                  <a:close/>
                </a:path>
              </a:pathLst>
            </a:custGeom>
            <a:solidFill>
              <a:srgbClr val="2C4062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495425" y="2952750"/>
            <a:ext cx="7279576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5F3E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Menu and function called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495425" y="3429000"/>
            <a:ext cx="7067550" cy="2667000"/>
            <a:chOff x="0" y="0"/>
            <a:chExt cx="9423400" cy="355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423400" cy="3556000"/>
            </a:xfrm>
            <a:custGeom>
              <a:avLst/>
              <a:gdLst/>
              <a:ahLst/>
              <a:cxnLst/>
              <a:rect l="l" t="t" r="r" b="b"/>
              <a:pathLst>
                <a:path w="9423400" h="35560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9296400" y="0"/>
                  </a:lnTo>
                  <a:cubicBezTo>
                    <a:pt x="9366504" y="0"/>
                    <a:pt x="9423400" y="56896"/>
                    <a:pt x="9423400" y="127000"/>
                  </a:cubicBezTo>
                  <a:lnTo>
                    <a:pt x="9423400" y="3429000"/>
                  </a:lnTo>
                  <a:cubicBezTo>
                    <a:pt x="9423400" y="3499104"/>
                    <a:pt x="9366504" y="3556000"/>
                    <a:pt x="9296400" y="3556000"/>
                  </a:cubicBezTo>
                  <a:lnTo>
                    <a:pt x="127000" y="3556000"/>
                  </a:lnTo>
                  <a:cubicBezTo>
                    <a:pt x="56896" y="3556000"/>
                    <a:pt x="0" y="3499104"/>
                    <a:pt x="0" y="3429000"/>
                  </a:cubicBezTo>
                  <a:close/>
                </a:path>
              </a:pathLst>
            </a:custGeom>
            <a:solidFill>
              <a:srgbClr val="0A1322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685925" y="3562350"/>
            <a:ext cx="4018731" cy="2419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F5F3E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===== ELEVATOR SYSTEM =====</a:t>
            </a:r>
          </a:p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F5F3E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1. Add Request</a:t>
            </a:r>
          </a:p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F5F3E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2. Process Request</a:t>
            </a:r>
          </a:p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F5F3E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3. Display Pending Requests</a:t>
            </a:r>
          </a:p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F5F3E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4. Cancel Request</a:t>
            </a:r>
          </a:p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F5F3E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5. Display Completed Requests</a:t>
            </a:r>
          </a:p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F5F3E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6. Display Current Floor</a:t>
            </a:r>
          </a:p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F5F3E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7. Exit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16203" y="3562350"/>
            <a:ext cx="2632958" cy="2419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endParaRPr/>
          </a:p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E8A33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addRequest()</a:t>
            </a:r>
          </a:p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E8A33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processRequest()</a:t>
            </a:r>
          </a:p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E8A33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displayRequests()</a:t>
            </a:r>
          </a:p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E8A33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cancelRequest()</a:t>
            </a:r>
          </a:p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E8A33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displayHistory()</a:t>
            </a:r>
          </a:p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E8A33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prints currentFloor</a:t>
            </a:r>
          </a:p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E8A33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ends the loop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219200" y="6562725"/>
            <a:ext cx="7620000" cy="1581150"/>
            <a:chOff x="0" y="0"/>
            <a:chExt cx="10160000" cy="2108200"/>
          </a:xfrm>
        </p:grpSpPr>
        <p:sp>
          <p:nvSpPr>
            <p:cNvPr id="13" name="Freeform 13"/>
            <p:cNvSpPr/>
            <p:nvPr/>
          </p:nvSpPr>
          <p:spPr>
            <a:xfrm>
              <a:off x="6350" y="6350"/>
              <a:ext cx="10147300" cy="2095500"/>
            </a:xfrm>
            <a:custGeom>
              <a:avLst/>
              <a:gdLst/>
              <a:ahLst/>
              <a:cxnLst/>
              <a:rect l="l" t="t" r="r" b="b"/>
              <a:pathLst>
                <a:path w="10147300" h="2095500">
                  <a:moveTo>
                    <a:pt x="0" y="196850"/>
                  </a:moveTo>
                  <a:cubicBezTo>
                    <a:pt x="0" y="88138"/>
                    <a:pt x="88519" y="0"/>
                    <a:pt x="197739" y="0"/>
                  </a:cubicBezTo>
                  <a:lnTo>
                    <a:pt x="9949561" y="0"/>
                  </a:lnTo>
                  <a:cubicBezTo>
                    <a:pt x="10058781" y="0"/>
                    <a:pt x="10147300" y="88138"/>
                    <a:pt x="10147300" y="196850"/>
                  </a:cubicBezTo>
                  <a:lnTo>
                    <a:pt x="10147300" y="1898650"/>
                  </a:lnTo>
                  <a:cubicBezTo>
                    <a:pt x="10147300" y="2007362"/>
                    <a:pt x="10058781" y="2095500"/>
                    <a:pt x="9949561" y="2095500"/>
                  </a:cubicBezTo>
                  <a:lnTo>
                    <a:pt x="197739" y="2095500"/>
                  </a:lnTo>
                  <a:cubicBezTo>
                    <a:pt x="88519" y="2095500"/>
                    <a:pt x="0" y="2007362"/>
                    <a:pt x="0" y="1898650"/>
                  </a:cubicBezTo>
                  <a:close/>
                </a:path>
              </a:pathLst>
            </a:custGeom>
            <a:solidFill>
              <a:srgbClr val="1A2A4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10160000" cy="2108200"/>
            </a:xfrm>
            <a:custGeom>
              <a:avLst/>
              <a:gdLst/>
              <a:ahLst/>
              <a:cxnLst/>
              <a:rect l="l" t="t" r="r" b="b"/>
              <a:pathLst>
                <a:path w="10160000" h="2108200">
                  <a:moveTo>
                    <a:pt x="0" y="203200"/>
                  </a:moveTo>
                  <a:cubicBezTo>
                    <a:pt x="0" y="90932"/>
                    <a:pt x="91440" y="0"/>
                    <a:pt x="204089" y="0"/>
                  </a:cubicBezTo>
                  <a:lnTo>
                    <a:pt x="9955911" y="0"/>
                  </a:lnTo>
                  <a:lnTo>
                    <a:pt x="9955911" y="6350"/>
                  </a:lnTo>
                  <a:lnTo>
                    <a:pt x="9955911" y="0"/>
                  </a:lnTo>
                  <a:cubicBezTo>
                    <a:pt x="10068560" y="0"/>
                    <a:pt x="10160000" y="90932"/>
                    <a:pt x="10160000" y="203200"/>
                  </a:cubicBezTo>
                  <a:lnTo>
                    <a:pt x="10153650" y="203200"/>
                  </a:lnTo>
                  <a:lnTo>
                    <a:pt x="10160000" y="203200"/>
                  </a:lnTo>
                  <a:lnTo>
                    <a:pt x="10160000" y="1905000"/>
                  </a:lnTo>
                  <a:lnTo>
                    <a:pt x="10153650" y="1905000"/>
                  </a:lnTo>
                  <a:lnTo>
                    <a:pt x="10160000" y="1905000"/>
                  </a:lnTo>
                  <a:cubicBezTo>
                    <a:pt x="10160000" y="2017268"/>
                    <a:pt x="10068560" y="2108200"/>
                    <a:pt x="9955911" y="2108200"/>
                  </a:cubicBezTo>
                  <a:lnTo>
                    <a:pt x="9955911" y="2101850"/>
                  </a:lnTo>
                  <a:lnTo>
                    <a:pt x="9955911" y="2108200"/>
                  </a:lnTo>
                  <a:lnTo>
                    <a:pt x="204089" y="2108200"/>
                  </a:lnTo>
                  <a:lnTo>
                    <a:pt x="204089" y="2101850"/>
                  </a:lnTo>
                  <a:lnTo>
                    <a:pt x="204089" y="2108200"/>
                  </a:lnTo>
                  <a:cubicBezTo>
                    <a:pt x="91440" y="2108200"/>
                    <a:pt x="0" y="2017268"/>
                    <a:pt x="0" y="1905000"/>
                  </a:cubicBezTo>
                  <a:lnTo>
                    <a:pt x="0" y="203200"/>
                  </a:lnTo>
                  <a:lnTo>
                    <a:pt x="6350" y="203200"/>
                  </a:lnTo>
                  <a:lnTo>
                    <a:pt x="0" y="203200"/>
                  </a:lnTo>
                  <a:moveTo>
                    <a:pt x="12700" y="203200"/>
                  </a:moveTo>
                  <a:lnTo>
                    <a:pt x="12700" y="1905000"/>
                  </a:lnTo>
                  <a:lnTo>
                    <a:pt x="6350" y="1905000"/>
                  </a:lnTo>
                  <a:lnTo>
                    <a:pt x="12700" y="1905000"/>
                  </a:lnTo>
                  <a:cubicBezTo>
                    <a:pt x="12700" y="2010156"/>
                    <a:pt x="98425" y="2095500"/>
                    <a:pt x="204089" y="2095500"/>
                  </a:cubicBezTo>
                  <a:lnTo>
                    <a:pt x="9955911" y="2095500"/>
                  </a:lnTo>
                  <a:cubicBezTo>
                    <a:pt x="10061702" y="2095500"/>
                    <a:pt x="10147300" y="2010156"/>
                    <a:pt x="10147300" y="1905000"/>
                  </a:cubicBezTo>
                  <a:lnTo>
                    <a:pt x="10147300" y="203200"/>
                  </a:lnTo>
                  <a:cubicBezTo>
                    <a:pt x="10147300" y="98044"/>
                    <a:pt x="10061575" y="12700"/>
                    <a:pt x="9955911" y="12700"/>
                  </a:cubicBezTo>
                  <a:lnTo>
                    <a:pt x="204089" y="12700"/>
                  </a:lnTo>
                  <a:lnTo>
                    <a:pt x="204089" y="6350"/>
                  </a:lnTo>
                  <a:lnTo>
                    <a:pt x="204089" y="12700"/>
                  </a:lnTo>
                  <a:cubicBezTo>
                    <a:pt x="98425" y="12700"/>
                    <a:pt x="12700" y="98044"/>
                    <a:pt x="12700" y="203200"/>
                  </a:cubicBezTo>
                  <a:close/>
                </a:path>
              </a:pathLst>
            </a:custGeom>
            <a:solidFill>
              <a:srgbClr val="2C4062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623441" y="6800850"/>
            <a:ext cx="7140130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2901" lvl="1" indent="-176451" algn="l">
              <a:lnSpc>
                <a:spcPts val="2729"/>
              </a:lnSpc>
              <a:buFont typeface="Arial"/>
              <a:buChar char="•"/>
            </a:pPr>
            <a:r>
              <a:rPr lang="en-US" sz="1950">
                <a:solidFill>
                  <a:srgbClr val="B9C6D8"/>
                </a:solidFill>
                <a:latin typeface="IBM Plex Sans"/>
                <a:ea typeface="IBM Plex Sans"/>
                <a:cs typeface="IBM Plex Sans"/>
                <a:sym typeface="IBM Plex Sans"/>
              </a:rPr>
              <a:t>main() loops on the menu and reads a choice</a:t>
            </a:r>
          </a:p>
          <a:p>
            <a:pPr marL="352901" lvl="1" indent="-176451" algn="l">
              <a:lnSpc>
                <a:spcPts val="2729"/>
              </a:lnSpc>
              <a:buFont typeface="Arial"/>
              <a:buChar char="•"/>
            </a:pPr>
            <a:r>
              <a:rPr lang="en-US" sz="1950">
                <a:solidFill>
                  <a:srgbClr val="B9C6D8"/>
                </a:solidFill>
                <a:latin typeface="IBM Plex Sans"/>
                <a:ea typeface="IBM Plex Sans"/>
                <a:cs typeface="IBM Plex Sans"/>
                <a:sym typeface="IBM Plex Sans"/>
              </a:rPr>
              <a:t>A switch-case calls the matching function</a:t>
            </a:r>
          </a:p>
          <a:p>
            <a:pPr marL="352901" lvl="1" indent="-176451" algn="l">
              <a:lnSpc>
                <a:spcPts val="2729"/>
              </a:lnSpc>
              <a:buFont typeface="Arial"/>
              <a:buChar char="•"/>
            </a:pPr>
            <a:r>
              <a:rPr lang="en-US" sz="1950">
                <a:solidFill>
                  <a:srgbClr val="B9C6D8"/>
                </a:solidFill>
                <a:latin typeface="IBM Plex Sans"/>
                <a:ea typeface="IBM Plex Sans"/>
                <a:cs typeface="IBM Plex Sans"/>
                <a:sym typeface="IBM Plex Sans"/>
              </a:rPr>
              <a:t>Any other choice prints “Invalid choice”</a:t>
            </a:r>
          </a:p>
        </p:txBody>
      </p:sp>
      <p:graphicFrame>
        <p:nvGraphicFramePr>
          <p:cNvPr id="16" name="Table 16"/>
          <p:cNvGraphicFramePr>
            <a:graphicFrameLocks noGrp="1"/>
          </p:cNvGraphicFramePr>
          <p:nvPr/>
        </p:nvGraphicFramePr>
        <p:xfrm>
          <a:off x="9239250" y="2695575"/>
          <a:ext cx="7810500" cy="4267198"/>
        </p:xfrm>
        <a:graphic>
          <a:graphicData uri="http://schemas.openxmlformats.org/drawingml/2006/table">
            <a:tbl>
              <a:tblPr/>
              <a:tblGrid>
                <a:gridCol w="3131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787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7642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Condition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8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8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B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Message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5C8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8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8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642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B9C6D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Queue full (add)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8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5F3EC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Queue is full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8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642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B9C6D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Floor &lt; 1 or &gt; 10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5F3EC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Invalid floor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642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B9C6D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Source = destination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5F3EC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Source and destination cannot be same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3704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B9C6D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Process or cancel, empty queue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5F3EC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No pending requests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642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B9C6D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ID not found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5F3EC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Request not found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642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B9C6D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No history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5F3EC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No completed requests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7642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B9C6D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Menu choice not 1–7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5F3EC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Invalid choice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7" name="TextBox 17"/>
          <p:cNvSpPr txBox="1"/>
          <p:nvPr/>
        </p:nvSpPr>
        <p:spPr>
          <a:xfrm>
            <a:off x="9220200" y="7071417"/>
            <a:ext cx="8084058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B9C6D8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These checks keep invalid data out of the queue.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19200" y="9324975"/>
            <a:ext cx="16325088" cy="299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7F93B2"/>
                </a:solidFill>
                <a:latin typeface="IBM Plex Sans"/>
                <a:ea typeface="IBM Plex Sans"/>
                <a:cs typeface="IBM Plex Sans"/>
                <a:sym typeface="IBM Plex Sans"/>
              </a:rPr>
              <a:t>Elevator Request Management System ·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19200" y="1181100"/>
            <a:ext cx="16325088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225">
                <a:solidFill>
                  <a:srgbClr val="2F6FB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WHAT THE SYSTEM PROVIDES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19200" y="1819275"/>
            <a:ext cx="16325088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4200" b="1">
                <a:solidFill>
                  <a:srgbClr val="0F1B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Features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238250" y="2695575"/>
          <a:ext cx="7734300" cy="4457700"/>
        </p:xfrm>
        <a:graphic>
          <a:graphicData uri="http://schemas.openxmlformats.org/drawingml/2006/table">
            <a:tbl>
              <a:tblPr/>
              <a:tblGrid>
                <a:gridCol w="43266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7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5F3EC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Feature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5F3EC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Implementation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B4A5E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Add elevator request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2F6FB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Queue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B4A5E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Unique Request ID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2F6FB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Integer (requestID)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B4A5E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Source and destination storage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2F6FB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Structure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B4A5E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FIFO request processing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2F6FB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Queue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B4A5E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Support for multiple requests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2F6FB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Queue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B4A5E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Current floor tracking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2F6FB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Integer (currentFloor)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B4A5E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Floor-by-floor movement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2F6FB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Loop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B4A5E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Floor validation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2F6FB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Conditional statements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9315450" y="2695575"/>
          <a:ext cx="7734300" cy="4457700"/>
        </p:xfrm>
        <a:graphic>
          <a:graphicData uri="http://schemas.openxmlformats.org/drawingml/2006/table">
            <a:tbl>
              <a:tblPr/>
              <a:tblGrid>
                <a:gridCol w="43266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7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5F3EC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Feature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5F3EC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Implementation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B4A5E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Same-floor validation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2F6FB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Conditional statement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B4A5E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Display pending requests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2F6FB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Queue traversal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B4A5E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Cancel pending request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2F6FB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Queue search + shifting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B4A5E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Completed-request history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2F6FB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Linked List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B4A5E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Display completed history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2F6FB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Linked List traversal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B4A5E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Fixed building floor count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2F6FB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Constant (FLOORS)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B4A5E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Fixed queue capacity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2F6FB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Constant (SIZE)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B4A5E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Menu-driven interface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2F6FB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Switch-case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1219200" y="9324975"/>
            <a:ext cx="16325088" cy="299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6B7A8F"/>
                </a:solidFill>
                <a:latin typeface="IBM Plex Sans"/>
                <a:ea typeface="IBM Plex Sans"/>
                <a:cs typeface="IBM Plex Sans"/>
                <a:sym typeface="IBM Plex Sans"/>
              </a:rPr>
              <a:t>Elevator Request Management System · 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19200" y="1181100"/>
            <a:ext cx="16325088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225">
                <a:solidFill>
                  <a:srgbClr val="E8A3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N = PENDING REQUESTS · M = COMPLETED REQUESTS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19200" y="1819275"/>
            <a:ext cx="16325088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4200" b="1">
                <a:solidFill>
                  <a:srgbClr val="F5F3E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Time Complexity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238250" y="2695575"/>
          <a:ext cx="15792450" cy="3962400"/>
        </p:xfrm>
        <a:graphic>
          <a:graphicData uri="http://schemas.openxmlformats.org/drawingml/2006/table">
            <a:tbl>
              <a:tblPr/>
              <a:tblGrid>
                <a:gridCol w="44279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9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452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Operation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8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8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B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Complexity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5C8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8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8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B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Reason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5C8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8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8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5F3EC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Add Request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8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5CC9B3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O(1)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8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B9C6D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Direct insertion at the rear of the array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8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5F3EC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Display Pending Requests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E8A3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O(n)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B9C6D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May traverse all pending requests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5F3EC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Cancel Request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E8A3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O(n)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B9C6D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Search the queue and shift elements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5F3EC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Process Request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E8A3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O(n)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B9C6D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Remaining queue elements are shifted after removing the front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5F3EC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Add to History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E8A3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O(n)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B9C6D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Traverse to the last node before appending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5F3EC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Display History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E8A3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O(n)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B9C6D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Visit every completed node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5F3EC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Display Current Floor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5CC9B3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O(1)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B9C6D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Direct access to currentFloor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5" name="Group 5"/>
          <p:cNvGrpSpPr/>
          <p:nvPr/>
        </p:nvGrpSpPr>
        <p:grpSpPr>
          <a:xfrm>
            <a:off x="1219200" y="6953250"/>
            <a:ext cx="15849600" cy="1143000"/>
            <a:chOff x="0" y="0"/>
            <a:chExt cx="21132800" cy="1524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132800" cy="1524000"/>
            </a:xfrm>
            <a:custGeom>
              <a:avLst/>
              <a:gdLst/>
              <a:ahLst/>
              <a:cxnLst/>
              <a:rect l="l" t="t" r="r" b="b"/>
              <a:pathLst>
                <a:path w="21132800" h="15240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20929600" y="0"/>
                  </a:lnTo>
                  <a:cubicBezTo>
                    <a:pt x="21041868" y="0"/>
                    <a:pt x="21132800" y="90932"/>
                    <a:pt x="21132800" y="203200"/>
                  </a:cubicBezTo>
                  <a:lnTo>
                    <a:pt x="21132800" y="1320800"/>
                  </a:lnTo>
                  <a:cubicBezTo>
                    <a:pt x="21132800" y="1433068"/>
                    <a:pt x="21041868" y="1524000"/>
                    <a:pt x="20929600" y="1524000"/>
                  </a:cubicBezTo>
                  <a:lnTo>
                    <a:pt x="203200" y="1524000"/>
                  </a:lnTo>
                  <a:cubicBezTo>
                    <a:pt x="90932" y="1524000"/>
                    <a:pt x="0" y="1433068"/>
                    <a:pt x="0" y="1320800"/>
                  </a:cubicBezTo>
                  <a:close/>
                </a:path>
              </a:pathLst>
            </a:custGeom>
            <a:solidFill>
              <a:srgbClr val="B9C6D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485900" y="7143750"/>
            <a:ext cx="15775686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0F1B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Elevator movement is analysed separately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85900" y="7524750"/>
            <a:ext cx="15775686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0F1B2D"/>
                </a:solidFill>
                <a:latin typeface="IBM Plex Sans"/>
                <a:ea typeface="IBM Plex Sans"/>
                <a:cs typeface="IBM Plex Sans"/>
                <a:sym typeface="IBM Plex Sans"/>
              </a:rPr>
              <a:t>Its cost is the number of floors travelled: |current → source| + |source → destination|. It depends on distance, not on queue size.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19200" y="9324975"/>
            <a:ext cx="16325088" cy="299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7F93B2"/>
                </a:solidFill>
                <a:latin typeface="IBM Plex Sans"/>
                <a:ea typeface="IBM Plex Sans"/>
                <a:cs typeface="IBM Plex Sans"/>
                <a:sym typeface="IBM Plex Sans"/>
              </a:rPr>
              <a:t>Elevator Request Management System ·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19200" y="1181100"/>
            <a:ext cx="16325088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225">
                <a:solidFill>
                  <a:srgbClr val="2F6FB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N = PENDING REQUESTS · M = COMPLETED REQUESTS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19200" y="1819275"/>
            <a:ext cx="16325088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4200" b="1">
                <a:solidFill>
                  <a:srgbClr val="0F1B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Space Complexity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219200" y="2676525"/>
            <a:ext cx="5137099" cy="2505075"/>
            <a:chOff x="0" y="0"/>
            <a:chExt cx="6849466" cy="3340100"/>
          </a:xfrm>
        </p:grpSpPr>
        <p:sp>
          <p:nvSpPr>
            <p:cNvPr id="5" name="Freeform 5"/>
            <p:cNvSpPr/>
            <p:nvPr/>
          </p:nvSpPr>
          <p:spPr>
            <a:xfrm>
              <a:off x="6350" y="6350"/>
              <a:ext cx="6836791" cy="3327400"/>
            </a:xfrm>
            <a:custGeom>
              <a:avLst/>
              <a:gdLst/>
              <a:ahLst/>
              <a:cxnLst/>
              <a:rect l="l" t="t" r="r" b="b"/>
              <a:pathLst>
                <a:path w="6836791" h="3327400">
                  <a:moveTo>
                    <a:pt x="0" y="196850"/>
                  </a:moveTo>
                  <a:cubicBezTo>
                    <a:pt x="0" y="88138"/>
                    <a:pt x="88265" y="0"/>
                    <a:pt x="197231" y="0"/>
                  </a:cubicBezTo>
                  <a:lnTo>
                    <a:pt x="6639560" y="0"/>
                  </a:lnTo>
                  <a:cubicBezTo>
                    <a:pt x="6748526" y="0"/>
                    <a:pt x="6836791" y="88138"/>
                    <a:pt x="6836791" y="196850"/>
                  </a:cubicBezTo>
                  <a:lnTo>
                    <a:pt x="6836791" y="3130550"/>
                  </a:lnTo>
                  <a:cubicBezTo>
                    <a:pt x="6836791" y="3239262"/>
                    <a:pt x="6748526" y="3327400"/>
                    <a:pt x="6639560" y="3327400"/>
                  </a:cubicBezTo>
                  <a:lnTo>
                    <a:pt x="197231" y="3327400"/>
                  </a:lnTo>
                  <a:cubicBezTo>
                    <a:pt x="88265" y="3327400"/>
                    <a:pt x="0" y="3239262"/>
                    <a:pt x="0" y="3130550"/>
                  </a:cubicBezTo>
                  <a:close/>
                </a:path>
              </a:pathLst>
            </a:custGeom>
            <a:solidFill>
              <a:srgbClr val="FDFCF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Freeform 6"/>
            <p:cNvSpPr/>
            <p:nvPr/>
          </p:nvSpPr>
          <p:spPr>
            <a:xfrm>
              <a:off x="0" y="0"/>
              <a:ext cx="6849491" cy="3340100"/>
            </a:xfrm>
            <a:custGeom>
              <a:avLst/>
              <a:gdLst/>
              <a:ahLst/>
              <a:cxnLst/>
              <a:rect l="l" t="t" r="r" b="b"/>
              <a:pathLst>
                <a:path w="6849491" h="3340100">
                  <a:moveTo>
                    <a:pt x="0" y="203200"/>
                  </a:moveTo>
                  <a:cubicBezTo>
                    <a:pt x="0" y="90932"/>
                    <a:pt x="91186" y="0"/>
                    <a:pt x="203581" y="0"/>
                  </a:cubicBezTo>
                  <a:lnTo>
                    <a:pt x="6645910" y="0"/>
                  </a:lnTo>
                  <a:lnTo>
                    <a:pt x="6645910" y="6350"/>
                  </a:lnTo>
                  <a:lnTo>
                    <a:pt x="6645910" y="0"/>
                  </a:lnTo>
                  <a:cubicBezTo>
                    <a:pt x="6758305" y="0"/>
                    <a:pt x="6849491" y="90932"/>
                    <a:pt x="6849491" y="203200"/>
                  </a:cubicBezTo>
                  <a:lnTo>
                    <a:pt x="6843141" y="203200"/>
                  </a:lnTo>
                  <a:lnTo>
                    <a:pt x="6849491" y="203200"/>
                  </a:lnTo>
                  <a:lnTo>
                    <a:pt x="6849491" y="3136900"/>
                  </a:lnTo>
                  <a:lnTo>
                    <a:pt x="6843141" y="3136900"/>
                  </a:lnTo>
                  <a:lnTo>
                    <a:pt x="6849491" y="3136900"/>
                  </a:lnTo>
                  <a:cubicBezTo>
                    <a:pt x="6849491" y="3249168"/>
                    <a:pt x="6758305" y="3340100"/>
                    <a:pt x="6645910" y="3340100"/>
                  </a:cubicBezTo>
                  <a:lnTo>
                    <a:pt x="6645910" y="3333750"/>
                  </a:lnTo>
                  <a:lnTo>
                    <a:pt x="6645910" y="3340100"/>
                  </a:lnTo>
                  <a:lnTo>
                    <a:pt x="203581" y="3340100"/>
                  </a:lnTo>
                  <a:lnTo>
                    <a:pt x="203581" y="3333750"/>
                  </a:lnTo>
                  <a:lnTo>
                    <a:pt x="203581" y="3340100"/>
                  </a:lnTo>
                  <a:cubicBezTo>
                    <a:pt x="91186" y="3340100"/>
                    <a:pt x="0" y="3249168"/>
                    <a:pt x="0" y="3136900"/>
                  </a:cubicBezTo>
                  <a:lnTo>
                    <a:pt x="0" y="203200"/>
                  </a:lnTo>
                  <a:lnTo>
                    <a:pt x="6350" y="203200"/>
                  </a:lnTo>
                  <a:lnTo>
                    <a:pt x="0" y="203200"/>
                  </a:lnTo>
                  <a:moveTo>
                    <a:pt x="12700" y="203200"/>
                  </a:moveTo>
                  <a:lnTo>
                    <a:pt x="12700" y="3136900"/>
                  </a:lnTo>
                  <a:lnTo>
                    <a:pt x="6350" y="3136900"/>
                  </a:lnTo>
                  <a:lnTo>
                    <a:pt x="12700" y="3136900"/>
                  </a:lnTo>
                  <a:cubicBezTo>
                    <a:pt x="12700" y="3242056"/>
                    <a:pt x="98171" y="3327400"/>
                    <a:pt x="203581" y="3327400"/>
                  </a:cubicBezTo>
                  <a:lnTo>
                    <a:pt x="6645910" y="3327400"/>
                  </a:lnTo>
                  <a:cubicBezTo>
                    <a:pt x="6751320" y="3327400"/>
                    <a:pt x="6836791" y="3242056"/>
                    <a:pt x="6836791" y="3136900"/>
                  </a:cubicBezTo>
                  <a:lnTo>
                    <a:pt x="6836791" y="203200"/>
                  </a:lnTo>
                  <a:cubicBezTo>
                    <a:pt x="6836791" y="98044"/>
                    <a:pt x="6751320" y="12700"/>
                    <a:pt x="6645910" y="12700"/>
                  </a:cubicBezTo>
                  <a:lnTo>
                    <a:pt x="203581" y="12700"/>
                  </a:lnTo>
                  <a:lnTo>
                    <a:pt x="203581" y="6350"/>
                  </a:lnTo>
                  <a:lnTo>
                    <a:pt x="203581" y="12700"/>
                  </a:lnTo>
                  <a:cubicBezTo>
                    <a:pt x="98171" y="12700"/>
                    <a:pt x="12700" y="98044"/>
                    <a:pt x="12700" y="203200"/>
                  </a:cubicBezTo>
                  <a:close/>
                </a:path>
              </a:pathLst>
            </a:custGeom>
            <a:solidFill>
              <a:srgbClr val="DAD6C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495425" y="2952750"/>
            <a:ext cx="4722190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0F1B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Queue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95425" y="3438525"/>
            <a:ext cx="4722190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 b="1">
                <a:solidFill>
                  <a:srgbClr val="2F6FB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O(n)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95425" y="4181475"/>
            <a:ext cx="472219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3B4A5E"/>
                </a:solidFill>
                <a:latin typeface="IBM Plex Sans"/>
                <a:ea typeface="IBM Plex Sans"/>
                <a:cs typeface="IBM Plex Sans"/>
                <a:sym typeface="IBM Plex Sans"/>
              </a:rPr>
              <a:t>Pending requests, with a maximum capacity of 20.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584899" y="2676525"/>
            <a:ext cx="5137099" cy="2505075"/>
            <a:chOff x="0" y="0"/>
            <a:chExt cx="6849466" cy="3340100"/>
          </a:xfrm>
        </p:grpSpPr>
        <p:sp>
          <p:nvSpPr>
            <p:cNvPr id="11" name="Freeform 11"/>
            <p:cNvSpPr/>
            <p:nvPr/>
          </p:nvSpPr>
          <p:spPr>
            <a:xfrm>
              <a:off x="6350" y="6350"/>
              <a:ext cx="6836791" cy="3327400"/>
            </a:xfrm>
            <a:custGeom>
              <a:avLst/>
              <a:gdLst/>
              <a:ahLst/>
              <a:cxnLst/>
              <a:rect l="l" t="t" r="r" b="b"/>
              <a:pathLst>
                <a:path w="6836791" h="3327400">
                  <a:moveTo>
                    <a:pt x="0" y="196850"/>
                  </a:moveTo>
                  <a:cubicBezTo>
                    <a:pt x="0" y="88138"/>
                    <a:pt x="88265" y="0"/>
                    <a:pt x="197231" y="0"/>
                  </a:cubicBezTo>
                  <a:lnTo>
                    <a:pt x="6639560" y="0"/>
                  </a:lnTo>
                  <a:cubicBezTo>
                    <a:pt x="6748526" y="0"/>
                    <a:pt x="6836791" y="88138"/>
                    <a:pt x="6836791" y="196850"/>
                  </a:cubicBezTo>
                  <a:lnTo>
                    <a:pt x="6836791" y="3130550"/>
                  </a:lnTo>
                  <a:cubicBezTo>
                    <a:pt x="6836791" y="3239262"/>
                    <a:pt x="6748526" y="3327400"/>
                    <a:pt x="6639560" y="3327400"/>
                  </a:cubicBezTo>
                  <a:lnTo>
                    <a:pt x="197231" y="3327400"/>
                  </a:lnTo>
                  <a:cubicBezTo>
                    <a:pt x="88265" y="3327400"/>
                    <a:pt x="0" y="3239262"/>
                    <a:pt x="0" y="3130550"/>
                  </a:cubicBezTo>
                  <a:close/>
                </a:path>
              </a:pathLst>
            </a:custGeom>
            <a:solidFill>
              <a:srgbClr val="FDFCF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0" y="0"/>
              <a:ext cx="6849491" cy="3340100"/>
            </a:xfrm>
            <a:custGeom>
              <a:avLst/>
              <a:gdLst/>
              <a:ahLst/>
              <a:cxnLst/>
              <a:rect l="l" t="t" r="r" b="b"/>
              <a:pathLst>
                <a:path w="6849491" h="3340100">
                  <a:moveTo>
                    <a:pt x="0" y="203200"/>
                  </a:moveTo>
                  <a:cubicBezTo>
                    <a:pt x="0" y="90932"/>
                    <a:pt x="91186" y="0"/>
                    <a:pt x="203581" y="0"/>
                  </a:cubicBezTo>
                  <a:lnTo>
                    <a:pt x="6645910" y="0"/>
                  </a:lnTo>
                  <a:lnTo>
                    <a:pt x="6645910" y="6350"/>
                  </a:lnTo>
                  <a:lnTo>
                    <a:pt x="6645910" y="0"/>
                  </a:lnTo>
                  <a:cubicBezTo>
                    <a:pt x="6758305" y="0"/>
                    <a:pt x="6849491" y="90932"/>
                    <a:pt x="6849491" y="203200"/>
                  </a:cubicBezTo>
                  <a:lnTo>
                    <a:pt x="6843141" y="203200"/>
                  </a:lnTo>
                  <a:lnTo>
                    <a:pt x="6849491" y="203200"/>
                  </a:lnTo>
                  <a:lnTo>
                    <a:pt x="6849491" y="3136900"/>
                  </a:lnTo>
                  <a:lnTo>
                    <a:pt x="6843141" y="3136900"/>
                  </a:lnTo>
                  <a:lnTo>
                    <a:pt x="6849491" y="3136900"/>
                  </a:lnTo>
                  <a:cubicBezTo>
                    <a:pt x="6849491" y="3249168"/>
                    <a:pt x="6758305" y="3340100"/>
                    <a:pt x="6645910" y="3340100"/>
                  </a:cubicBezTo>
                  <a:lnTo>
                    <a:pt x="6645910" y="3333750"/>
                  </a:lnTo>
                  <a:lnTo>
                    <a:pt x="6645910" y="3340100"/>
                  </a:lnTo>
                  <a:lnTo>
                    <a:pt x="203581" y="3340100"/>
                  </a:lnTo>
                  <a:lnTo>
                    <a:pt x="203581" y="3333750"/>
                  </a:lnTo>
                  <a:lnTo>
                    <a:pt x="203581" y="3340100"/>
                  </a:lnTo>
                  <a:cubicBezTo>
                    <a:pt x="91186" y="3340100"/>
                    <a:pt x="0" y="3249168"/>
                    <a:pt x="0" y="3136900"/>
                  </a:cubicBezTo>
                  <a:lnTo>
                    <a:pt x="0" y="203200"/>
                  </a:lnTo>
                  <a:lnTo>
                    <a:pt x="6350" y="203200"/>
                  </a:lnTo>
                  <a:lnTo>
                    <a:pt x="0" y="203200"/>
                  </a:lnTo>
                  <a:moveTo>
                    <a:pt x="12700" y="203200"/>
                  </a:moveTo>
                  <a:lnTo>
                    <a:pt x="12700" y="3136900"/>
                  </a:lnTo>
                  <a:lnTo>
                    <a:pt x="6350" y="3136900"/>
                  </a:lnTo>
                  <a:lnTo>
                    <a:pt x="12700" y="3136900"/>
                  </a:lnTo>
                  <a:cubicBezTo>
                    <a:pt x="12700" y="3242056"/>
                    <a:pt x="98171" y="3327400"/>
                    <a:pt x="203581" y="3327400"/>
                  </a:cubicBezTo>
                  <a:lnTo>
                    <a:pt x="6645910" y="3327400"/>
                  </a:lnTo>
                  <a:cubicBezTo>
                    <a:pt x="6751320" y="3327400"/>
                    <a:pt x="6836791" y="3242056"/>
                    <a:pt x="6836791" y="3136900"/>
                  </a:cubicBezTo>
                  <a:lnTo>
                    <a:pt x="6836791" y="203200"/>
                  </a:lnTo>
                  <a:cubicBezTo>
                    <a:pt x="6836791" y="98044"/>
                    <a:pt x="6751320" y="12700"/>
                    <a:pt x="6645910" y="12700"/>
                  </a:cubicBezTo>
                  <a:lnTo>
                    <a:pt x="203581" y="12700"/>
                  </a:lnTo>
                  <a:lnTo>
                    <a:pt x="203581" y="6350"/>
                  </a:lnTo>
                  <a:lnTo>
                    <a:pt x="203581" y="12700"/>
                  </a:lnTo>
                  <a:cubicBezTo>
                    <a:pt x="98171" y="12700"/>
                    <a:pt x="12700" y="98044"/>
                    <a:pt x="12700" y="203200"/>
                  </a:cubicBezTo>
                  <a:close/>
                </a:path>
              </a:pathLst>
            </a:custGeom>
            <a:solidFill>
              <a:srgbClr val="DAD6C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861124" y="2952750"/>
            <a:ext cx="4722190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0F1B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History linked list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61124" y="3438525"/>
            <a:ext cx="4722190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 b="1">
                <a:solidFill>
                  <a:srgbClr val="1F7A6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O(m)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61124" y="4181475"/>
            <a:ext cx="472219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3B4A5E"/>
                </a:solidFill>
                <a:latin typeface="IBM Plex Sans"/>
                <a:ea typeface="IBM Plex Sans"/>
                <a:cs typeface="IBM Plex Sans"/>
                <a:sym typeface="IBM Plex Sans"/>
              </a:rPr>
              <a:t>One dynamically allocated node per completed request.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1950598" y="2676525"/>
            <a:ext cx="5118049" cy="2505075"/>
            <a:chOff x="0" y="0"/>
            <a:chExt cx="6824066" cy="33401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824091" cy="3340100"/>
            </a:xfrm>
            <a:custGeom>
              <a:avLst/>
              <a:gdLst/>
              <a:ahLst/>
              <a:cxnLst/>
              <a:rect l="l" t="t" r="r" b="b"/>
              <a:pathLst>
                <a:path w="6824091" h="33401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6620891" y="0"/>
                  </a:lnTo>
                  <a:cubicBezTo>
                    <a:pt x="6733160" y="0"/>
                    <a:pt x="6824091" y="90932"/>
                    <a:pt x="6824091" y="203200"/>
                  </a:cubicBezTo>
                  <a:lnTo>
                    <a:pt x="6824091" y="3136900"/>
                  </a:lnTo>
                  <a:cubicBezTo>
                    <a:pt x="6824091" y="3249168"/>
                    <a:pt x="6733160" y="3340100"/>
                    <a:pt x="6620891" y="3340100"/>
                  </a:cubicBezTo>
                  <a:lnTo>
                    <a:pt x="203200" y="3340100"/>
                  </a:lnTo>
                  <a:cubicBezTo>
                    <a:pt x="90932" y="3340100"/>
                    <a:pt x="0" y="3249168"/>
                    <a:pt x="0" y="3136900"/>
                  </a:cubicBezTo>
                  <a:close/>
                </a:path>
              </a:pathLst>
            </a:custGeom>
            <a:solidFill>
              <a:srgbClr val="0F1B2D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2217298" y="2943225"/>
            <a:ext cx="4722190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5F3E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Overall auxiliary storage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217298" y="3429000"/>
            <a:ext cx="4722190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 b="1">
                <a:solidFill>
                  <a:srgbClr val="E8A3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O(n + m)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217298" y="4171950"/>
            <a:ext cx="472219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B9C6D8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ID counter and currentFloor take constant space.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19200" y="5410200"/>
            <a:ext cx="16325088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0F1B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Queue array: SIZE = 20 slots (3 in use in the running example)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219200" y="5838825"/>
            <a:ext cx="705745" cy="542925"/>
            <a:chOff x="0" y="0"/>
            <a:chExt cx="940994" cy="7239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40943" cy="723900"/>
            </a:xfrm>
            <a:custGeom>
              <a:avLst/>
              <a:gdLst/>
              <a:ahLst/>
              <a:cxnLst/>
              <a:rect l="l" t="t" r="r" b="b"/>
              <a:pathLst>
                <a:path w="940943" h="7239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839343" y="0"/>
                  </a:lnTo>
                  <a:cubicBezTo>
                    <a:pt x="895477" y="0"/>
                    <a:pt x="940943" y="45466"/>
                    <a:pt x="940943" y="101600"/>
                  </a:cubicBezTo>
                  <a:lnTo>
                    <a:pt x="940943" y="622300"/>
                  </a:lnTo>
                  <a:cubicBezTo>
                    <a:pt x="940943" y="678434"/>
                    <a:pt x="895477" y="723900"/>
                    <a:pt x="839343" y="723900"/>
                  </a:cubicBezTo>
                  <a:lnTo>
                    <a:pt x="101600" y="723900"/>
                  </a:lnTo>
                  <a:cubicBezTo>
                    <a:pt x="45466" y="723900"/>
                    <a:pt x="0" y="678434"/>
                    <a:pt x="0" y="622300"/>
                  </a:cubicBezTo>
                  <a:close/>
                </a:path>
              </a:pathLst>
            </a:custGeom>
            <a:solidFill>
              <a:srgbClr val="2F6FB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181100" y="5915025"/>
            <a:ext cx="78194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982095" y="5838825"/>
            <a:ext cx="705745" cy="542925"/>
            <a:chOff x="0" y="0"/>
            <a:chExt cx="940994" cy="7239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40943" cy="723900"/>
            </a:xfrm>
            <a:custGeom>
              <a:avLst/>
              <a:gdLst/>
              <a:ahLst/>
              <a:cxnLst/>
              <a:rect l="l" t="t" r="r" b="b"/>
              <a:pathLst>
                <a:path w="940943" h="7239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839343" y="0"/>
                  </a:lnTo>
                  <a:cubicBezTo>
                    <a:pt x="895477" y="0"/>
                    <a:pt x="940943" y="45466"/>
                    <a:pt x="940943" y="101600"/>
                  </a:cubicBezTo>
                  <a:lnTo>
                    <a:pt x="940943" y="622300"/>
                  </a:lnTo>
                  <a:cubicBezTo>
                    <a:pt x="940943" y="678434"/>
                    <a:pt x="895477" y="723900"/>
                    <a:pt x="839343" y="723900"/>
                  </a:cubicBezTo>
                  <a:lnTo>
                    <a:pt x="101600" y="723900"/>
                  </a:lnTo>
                  <a:cubicBezTo>
                    <a:pt x="45466" y="723900"/>
                    <a:pt x="0" y="678434"/>
                    <a:pt x="0" y="622300"/>
                  </a:cubicBezTo>
                  <a:close/>
                </a:path>
              </a:pathLst>
            </a:custGeom>
            <a:solidFill>
              <a:srgbClr val="2F6FB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943995" y="5915025"/>
            <a:ext cx="78194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2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2744991" y="5838825"/>
            <a:ext cx="705745" cy="542925"/>
            <a:chOff x="0" y="0"/>
            <a:chExt cx="940994" cy="7239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940943" cy="723900"/>
            </a:xfrm>
            <a:custGeom>
              <a:avLst/>
              <a:gdLst/>
              <a:ahLst/>
              <a:cxnLst/>
              <a:rect l="l" t="t" r="r" b="b"/>
              <a:pathLst>
                <a:path w="940943" h="7239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839343" y="0"/>
                  </a:lnTo>
                  <a:cubicBezTo>
                    <a:pt x="895477" y="0"/>
                    <a:pt x="940943" y="45466"/>
                    <a:pt x="940943" y="101600"/>
                  </a:cubicBezTo>
                  <a:lnTo>
                    <a:pt x="940943" y="622300"/>
                  </a:lnTo>
                  <a:cubicBezTo>
                    <a:pt x="940943" y="678434"/>
                    <a:pt x="895477" y="723900"/>
                    <a:pt x="839343" y="723900"/>
                  </a:cubicBezTo>
                  <a:lnTo>
                    <a:pt x="101600" y="723900"/>
                  </a:lnTo>
                  <a:cubicBezTo>
                    <a:pt x="45466" y="723900"/>
                    <a:pt x="0" y="678434"/>
                    <a:pt x="0" y="622300"/>
                  </a:cubicBezTo>
                  <a:close/>
                </a:path>
              </a:pathLst>
            </a:custGeom>
            <a:solidFill>
              <a:srgbClr val="2F6FB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2706891" y="5915025"/>
            <a:ext cx="78194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3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3507877" y="5838825"/>
            <a:ext cx="743845" cy="542925"/>
            <a:chOff x="0" y="0"/>
            <a:chExt cx="991794" cy="7239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991743" cy="723900"/>
            </a:xfrm>
            <a:custGeom>
              <a:avLst/>
              <a:gdLst/>
              <a:ahLst/>
              <a:cxnLst/>
              <a:rect l="l" t="t" r="r" b="b"/>
              <a:pathLst>
                <a:path w="991743" h="723900">
                  <a:moveTo>
                    <a:pt x="139954" y="0"/>
                  </a:moveTo>
                  <a:lnTo>
                    <a:pt x="216154" y="0"/>
                  </a:lnTo>
                  <a:lnTo>
                    <a:pt x="216154" y="25400"/>
                  </a:lnTo>
                  <a:lnTo>
                    <a:pt x="139954" y="25400"/>
                  </a:lnTo>
                  <a:close/>
                  <a:moveTo>
                    <a:pt x="317754" y="25400"/>
                  </a:moveTo>
                  <a:lnTo>
                    <a:pt x="393954" y="25400"/>
                  </a:lnTo>
                  <a:lnTo>
                    <a:pt x="317754" y="25400"/>
                  </a:lnTo>
                  <a:close/>
                  <a:moveTo>
                    <a:pt x="495554" y="25400"/>
                  </a:moveTo>
                  <a:lnTo>
                    <a:pt x="571754" y="25400"/>
                  </a:lnTo>
                  <a:lnTo>
                    <a:pt x="495554" y="25400"/>
                  </a:lnTo>
                  <a:close/>
                  <a:moveTo>
                    <a:pt x="673354" y="25400"/>
                  </a:moveTo>
                  <a:lnTo>
                    <a:pt x="749554" y="25400"/>
                  </a:lnTo>
                  <a:lnTo>
                    <a:pt x="673354" y="25400"/>
                  </a:lnTo>
                  <a:close/>
                  <a:moveTo>
                    <a:pt x="851154" y="25400"/>
                  </a:moveTo>
                  <a:lnTo>
                    <a:pt x="889381" y="25400"/>
                  </a:lnTo>
                  <a:lnTo>
                    <a:pt x="889381" y="12700"/>
                  </a:lnTo>
                  <a:lnTo>
                    <a:pt x="889381" y="0"/>
                  </a:lnTo>
                  <a:cubicBezTo>
                    <a:pt x="904367" y="0"/>
                    <a:pt x="918591" y="3175"/>
                    <a:pt x="931418" y="8890"/>
                  </a:cubicBezTo>
                  <a:lnTo>
                    <a:pt x="921004" y="32131"/>
                  </a:lnTo>
                  <a:cubicBezTo>
                    <a:pt x="911352" y="27813"/>
                    <a:pt x="900557" y="25400"/>
                    <a:pt x="889254" y="25400"/>
                  </a:cubicBezTo>
                  <a:lnTo>
                    <a:pt x="851154" y="25400"/>
                  </a:lnTo>
                  <a:close/>
                  <a:moveTo>
                    <a:pt x="991743" y="100711"/>
                  </a:moveTo>
                  <a:cubicBezTo>
                    <a:pt x="991743" y="100965"/>
                    <a:pt x="991743" y="101346"/>
                    <a:pt x="991743" y="101600"/>
                  </a:cubicBezTo>
                  <a:lnTo>
                    <a:pt x="979043" y="101600"/>
                  </a:lnTo>
                  <a:lnTo>
                    <a:pt x="991743" y="101600"/>
                  </a:lnTo>
                  <a:lnTo>
                    <a:pt x="991743" y="177038"/>
                  </a:lnTo>
                  <a:lnTo>
                    <a:pt x="966343" y="177038"/>
                  </a:lnTo>
                  <a:lnTo>
                    <a:pt x="966343" y="101600"/>
                  </a:lnTo>
                  <a:cubicBezTo>
                    <a:pt x="966343" y="101346"/>
                    <a:pt x="966343" y="101219"/>
                    <a:pt x="966343" y="100965"/>
                  </a:cubicBezTo>
                  <a:close/>
                  <a:moveTo>
                    <a:pt x="966343" y="278892"/>
                  </a:moveTo>
                  <a:lnTo>
                    <a:pt x="966343" y="355092"/>
                  </a:lnTo>
                  <a:lnTo>
                    <a:pt x="940943" y="355092"/>
                  </a:lnTo>
                  <a:lnTo>
                    <a:pt x="940943" y="278892"/>
                  </a:lnTo>
                  <a:close/>
                  <a:moveTo>
                    <a:pt x="940943" y="456692"/>
                  </a:moveTo>
                  <a:lnTo>
                    <a:pt x="940943" y="532892"/>
                  </a:lnTo>
                  <a:lnTo>
                    <a:pt x="915543" y="532892"/>
                  </a:lnTo>
                  <a:lnTo>
                    <a:pt x="915543" y="456692"/>
                  </a:lnTo>
                  <a:close/>
                  <a:moveTo>
                    <a:pt x="914654" y="636270"/>
                  </a:moveTo>
                  <a:cubicBezTo>
                    <a:pt x="910590" y="666115"/>
                    <a:pt x="893572" y="691769"/>
                    <a:pt x="869442" y="707517"/>
                  </a:cubicBezTo>
                  <a:lnTo>
                    <a:pt x="855599" y="686308"/>
                  </a:lnTo>
                  <a:cubicBezTo>
                    <a:pt x="873760" y="674370"/>
                    <a:pt x="886587" y="655193"/>
                    <a:pt x="889508" y="632968"/>
                  </a:cubicBezTo>
                  <a:close/>
                  <a:moveTo>
                    <a:pt x="839851" y="723900"/>
                  </a:moveTo>
                  <a:lnTo>
                    <a:pt x="763651" y="723900"/>
                  </a:lnTo>
                  <a:lnTo>
                    <a:pt x="763651" y="698500"/>
                  </a:lnTo>
                  <a:lnTo>
                    <a:pt x="839851" y="698500"/>
                  </a:lnTo>
                  <a:close/>
                  <a:moveTo>
                    <a:pt x="662051" y="698500"/>
                  </a:moveTo>
                  <a:lnTo>
                    <a:pt x="585851" y="698500"/>
                  </a:lnTo>
                  <a:lnTo>
                    <a:pt x="662051" y="698500"/>
                  </a:lnTo>
                  <a:close/>
                  <a:moveTo>
                    <a:pt x="484251" y="698500"/>
                  </a:moveTo>
                  <a:lnTo>
                    <a:pt x="408051" y="698500"/>
                  </a:lnTo>
                  <a:lnTo>
                    <a:pt x="484251" y="698500"/>
                  </a:lnTo>
                  <a:close/>
                  <a:moveTo>
                    <a:pt x="306451" y="698500"/>
                  </a:moveTo>
                  <a:lnTo>
                    <a:pt x="230251" y="698500"/>
                  </a:lnTo>
                  <a:lnTo>
                    <a:pt x="306451" y="698500"/>
                  </a:lnTo>
                  <a:close/>
                  <a:moveTo>
                    <a:pt x="128651" y="698500"/>
                  </a:moveTo>
                  <a:lnTo>
                    <a:pt x="102489" y="698500"/>
                  </a:lnTo>
                  <a:lnTo>
                    <a:pt x="102489" y="711200"/>
                  </a:lnTo>
                  <a:lnTo>
                    <a:pt x="102489" y="723900"/>
                  </a:lnTo>
                  <a:cubicBezTo>
                    <a:pt x="82677" y="723900"/>
                    <a:pt x="64008" y="718312"/>
                    <a:pt x="48387" y="708533"/>
                  </a:cubicBezTo>
                  <a:lnTo>
                    <a:pt x="61722" y="686943"/>
                  </a:lnTo>
                  <a:cubicBezTo>
                    <a:pt x="73533" y="694309"/>
                    <a:pt x="87503" y="698500"/>
                    <a:pt x="102489" y="698500"/>
                  </a:cubicBezTo>
                  <a:lnTo>
                    <a:pt x="128778" y="698500"/>
                  </a:lnTo>
                  <a:close/>
                  <a:moveTo>
                    <a:pt x="0" y="611124"/>
                  </a:moveTo>
                  <a:lnTo>
                    <a:pt x="0" y="534924"/>
                  </a:lnTo>
                  <a:lnTo>
                    <a:pt x="25400" y="534924"/>
                  </a:lnTo>
                  <a:lnTo>
                    <a:pt x="25400" y="611124"/>
                  </a:lnTo>
                  <a:close/>
                  <a:moveTo>
                    <a:pt x="25400" y="433324"/>
                  </a:moveTo>
                  <a:lnTo>
                    <a:pt x="25400" y="357124"/>
                  </a:lnTo>
                  <a:lnTo>
                    <a:pt x="25400" y="433324"/>
                  </a:lnTo>
                  <a:close/>
                  <a:moveTo>
                    <a:pt x="25400" y="255524"/>
                  </a:moveTo>
                  <a:lnTo>
                    <a:pt x="25400" y="179324"/>
                  </a:lnTo>
                  <a:lnTo>
                    <a:pt x="25400" y="255524"/>
                  </a:lnTo>
                  <a:close/>
                  <a:moveTo>
                    <a:pt x="0" y="101600"/>
                  </a:moveTo>
                  <a:cubicBezTo>
                    <a:pt x="0" y="70993"/>
                    <a:pt x="13716" y="43434"/>
                    <a:pt x="35306" y="24892"/>
                  </a:cubicBezTo>
                  <a:lnTo>
                    <a:pt x="51816" y="44069"/>
                  </a:lnTo>
                  <a:cubicBezTo>
                    <a:pt x="35560" y="58166"/>
                    <a:pt x="25400" y="78740"/>
                    <a:pt x="25400" y="101600"/>
                  </a:cubicBezTo>
                  <a:close/>
                </a:path>
              </a:pathLst>
            </a:custGeom>
            <a:solidFill>
              <a:srgbClr val="9AA6B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3488827" y="5915025"/>
            <a:ext cx="78194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6B7A8F"/>
                </a:solidFill>
                <a:latin typeface="IBM Plex Sans"/>
                <a:ea typeface="IBM Plex Sans"/>
                <a:cs typeface="IBM Plex Sans"/>
                <a:sym typeface="IBM Plex Sans"/>
              </a:rPr>
              <a:t>4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4308872" y="5838825"/>
            <a:ext cx="743845" cy="542925"/>
            <a:chOff x="0" y="0"/>
            <a:chExt cx="991794" cy="7239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91743" cy="723900"/>
            </a:xfrm>
            <a:custGeom>
              <a:avLst/>
              <a:gdLst/>
              <a:ahLst/>
              <a:cxnLst/>
              <a:rect l="l" t="t" r="r" b="b"/>
              <a:pathLst>
                <a:path w="991743" h="723900">
                  <a:moveTo>
                    <a:pt x="139954" y="0"/>
                  </a:moveTo>
                  <a:lnTo>
                    <a:pt x="216154" y="0"/>
                  </a:lnTo>
                  <a:lnTo>
                    <a:pt x="216154" y="25400"/>
                  </a:lnTo>
                  <a:lnTo>
                    <a:pt x="139954" y="25400"/>
                  </a:lnTo>
                  <a:close/>
                  <a:moveTo>
                    <a:pt x="317754" y="25400"/>
                  </a:moveTo>
                  <a:lnTo>
                    <a:pt x="393954" y="25400"/>
                  </a:lnTo>
                  <a:lnTo>
                    <a:pt x="317754" y="25400"/>
                  </a:lnTo>
                  <a:close/>
                  <a:moveTo>
                    <a:pt x="495554" y="25400"/>
                  </a:moveTo>
                  <a:lnTo>
                    <a:pt x="571754" y="25400"/>
                  </a:lnTo>
                  <a:lnTo>
                    <a:pt x="495554" y="25400"/>
                  </a:lnTo>
                  <a:close/>
                  <a:moveTo>
                    <a:pt x="673354" y="25400"/>
                  </a:moveTo>
                  <a:lnTo>
                    <a:pt x="749554" y="25400"/>
                  </a:lnTo>
                  <a:lnTo>
                    <a:pt x="673354" y="25400"/>
                  </a:lnTo>
                  <a:close/>
                  <a:moveTo>
                    <a:pt x="851154" y="25400"/>
                  </a:moveTo>
                  <a:lnTo>
                    <a:pt x="889381" y="25400"/>
                  </a:lnTo>
                  <a:lnTo>
                    <a:pt x="889381" y="12700"/>
                  </a:lnTo>
                  <a:lnTo>
                    <a:pt x="889381" y="0"/>
                  </a:lnTo>
                  <a:cubicBezTo>
                    <a:pt x="904367" y="0"/>
                    <a:pt x="918591" y="3175"/>
                    <a:pt x="931418" y="8890"/>
                  </a:cubicBezTo>
                  <a:lnTo>
                    <a:pt x="921004" y="32131"/>
                  </a:lnTo>
                  <a:cubicBezTo>
                    <a:pt x="911352" y="27813"/>
                    <a:pt x="900557" y="25400"/>
                    <a:pt x="889254" y="25400"/>
                  </a:cubicBezTo>
                  <a:lnTo>
                    <a:pt x="851154" y="25400"/>
                  </a:lnTo>
                  <a:close/>
                  <a:moveTo>
                    <a:pt x="991743" y="100711"/>
                  </a:moveTo>
                  <a:cubicBezTo>
                    <a:pt x="991743" y="100965"/>
                    <a:pt x="991743" y="101346"/>
                    <a:pt x="991743" y="101600"/>
                  </a:cubicBezTo>
                  <a:lnTo>
                    <a:pt x="979043" y="101600"/>
                  </a:lnTo>
                  <a:lnTo>
                    <a:pt x="991743" y="101600"/>
                  </a:lnTo>
                  <a:lnTo>
                    <a:pt x="991743" y="177038"/>
                  </a:lnTo>
                  <a:lnTo>
                    <a:pt x="966343" y="177038"/>
                  </a:lnTo>
                  <a:lnTo>
                    <a:pt x="966343" y="101600"/>
                  </a:lnTo>
                  <a:cubicBezTo>
                    <a:pt x="966343" y="101346"/>
                    <a:pt x="966343" y="101219"/>
                    <a:pt x="966343" y="100965"/>
                  </a:cubicBezTo>
                  <a:close/>
                  <a:moveTo>
                    <a:pt x="966343" y="278892"/>
                  </a:moveTo>
                  <a:lnTo>
                    <a:pt x="966343" y="355092"/>
                  </a:lnTo>
                  <a:lnTo>
                    <a:pt x="940943" y="355092"/>
                  </a:lnTo>
                  <a:lnTo>
                    <a:pt x="940943" y="278892"/>
                  </a:lnTo>
                  <a:close/>
                  <a:moveTo>
                    <a:pt x="940943" y="456692"/>
                  </a:moveTo>
                  <a:lnTo>
                    <a:pt x="940943" y="532892"/>
                  </a:lnTo>
                  <a:lnTo>
                    <a:pt x="915543" y="532892"/>
                  </a:lnTo>
                  <a:lnTo>
                    <a:pt x="915543" y="456692"/>
                  </a:lnTo>
                  <a:close/>
                  <a:moveTo>
                    <a:pt x="914654" y="636270"/>
                  </a:moveTo>
                  <a:cubicBezTo>
                    <a:pt x="910590" y="666115"/>
                    <a:pt x="893572" y="691769"/>
                    <a:pt x="869442" y="707517"/>
                  </a:cubicBezTo>
                  <a:lnTo>
                    <a:pt x="855599" y="686308"/>
                  </a:lnTo>
                  <a:cubicBezTo>
                    <a:pt x="873760" y="674370"/>
                    <a:pt x="886587" y="655193"/>
                    <a:pt x="889508" y="632968"/>
                  </a:cubicBezTo>
                  <a:close/>
                  <a:moveTo>
                    <a:pt x="839851" y="723900"/>
                  </a:moveTo>
                  <a:lnTo>
                    <a:pt x="763651" y="723900"/>
                  </a:lnTo>
                  <a:lnTo>
                    <a:pt x="763651" y="698500"/>
                  </a:lnTo>
                  <a:lnTo>
                    <a:pt x="839851" y="698500"/>
                  </a:lnTo>
                  <a:close/>
                  <a:moveTo>
                    <a:pt x="662051" y="698500"/>
                  </a:moveTo>
                  <a:lnTo>
                    <a:pt x="585851" y="698500"/>
                  </a:lnTo>
                  <a:lnTo>
                    <a:pt x="662051" y="698500"/>
                  </a:lnTo>
                  <a:close/>
                  <a:moveTo>
                    <a:pt x="484251" y="698500"/>
                  </a:moveTo>
                  <a:lnTo>
                    <a:pt x="408051" y="698500"/>
                  </a:lnTo>
                  <a:lnTo>
                    <a:pt x="484251" y="698500"/>
                  </a:lnTo>
                  <a:close/>
                  <a:moveTo>
                    <a:pt x="306451" y="698500"/>
                  </a:moveTo>
                  <a:lnTo>
                    <a:pt x="230251" y="698500"/>
                  </a:lnTo>
                  <a:lnTo>
                    <a:pt x="306451" y="698500"/>
                  </a:lnTo>
                  <a:close/>
                  <a:moveTo>
                    <a:pt x="128651" y="698500"/>
                  </a:moveTo>
                  <a:lnTo>
                    <a:pt x="102489" y="698500"/>
                  </a:lnTo>
                  <a:lnTo>
                    <a:pt x="102489" y="711200"/>
                  </a:lnTo>
                  <a:lnTo>
                    <a:pt x="102489" y="723900"/>
                  </a:lnTo>
                  <a:cubicBezTo>
                    <a:pt x="82677" y="723900"/>
                    <a:pt x="64008" y="718312"/>
                    <a:pt x="48387" y="708533"/>
                  </a:cubicBezTo>
                  <a:lnTo>
                    <a:pt x="61722" y="686943"/>
                  </a:lnTo>
                  <a:cubicBezTo>
                    <a:pt x="73533" y="694309"/>
                    <a:pt x="87503" y="698500"/>
                    <a:pt x="102489" y="698500"/>
                  </a:cubicBezTo>
                  <a:lnTo>
                    <a:pt x="128778" y="698500"/>
                  </a:lnTo>
                  <a:close/>
                  <a:moveTo>
                    <a:pt x="0" y="611124"/>
                  </a:moveTo>
                  <a:lnTo>
                    <a:pt x="0" y="534924"/>
                  </a:lnTo>
                  <a:lnTo>
                    <a:pt x="25400" y="534924"/>
                  </a:lnTo>
                  <a:lnTo>
                    <a:pt x="25400" y="611124"/>
                  </a:lnTo>
                  <a:close/>
                  <a:moveTo>
                    <a:pt x="25400" y="433324"/>
                  </a:moveTo>
                  <a:lnTo>
                    <a:pt x="25400" y="357124"/>
                  </a:lnTo>
                  <a:lnTo>
                    <a:pt x="25400" y="433324"/>
                  </a:lnTo>
                  <a:close/>
                  <a:moveTo>
                    <a:pt x="25400" y="255524"/>
                  </a:moveTo>
                  <a:lnTo>
                    <a:pt x="25400" y="179324"/>
                  </a:lnTo>
                  <a:lnTo>
                    <a:pt x="25400" y="255524"/>
                  </a:lnTo>
                  <a:close/>
                  <a:moveTo>
                    <a:pt x="0" y="101600"/>
                  </a:moveTo>
                  <a:cubicBezTo>
                    <a:pt x="0" y="70993"/>
                    <a:pt x="13716" y="43434"/>
                    <a:pt x="35306" y="24892"/>
                  </a:cubicBezTo>
                  <a:lnTo>
                    <a:pt x="51816" y="44069"/>
                  </a:lnTo>
                  <a:cubicBezTo>
                    <a:pt x="35560" y="58166"/>
                    <a:pt x="25400" y="78740"/>
                    <a:pt x="25400" y="101600"/>
                  </a:cubicBezTo>
                  <a:close/>
                </a:path>
              </a:pathLst>
            </a:custGeom>
            <a:solidFill>
              <a:srgbClr val="9AA6B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4289822" y="5915025"/>
            <a:ext cx="78194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6B7A8F"/>
                </a:solidFill>
                <a:latin typeface="IBM Plex Sans"/>
                <a:ea typeface="IBM Plex Sans"/>
                <a:cs typeface="IBM Plex Sans"/>
                <a:sym typeface="IBM Plex Sans"/>
              </a:rPr>
              <a:t>5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5109867" y="5838825"/>
            <a:ext cx="743845" cy="542925"/>
            <a:chOff x="0" y="0"/>
            <a:chExt cx="991794" cy="7239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91743" cy="723900"/>
            </a:xfrm>
            <a:custGeom>
              <a:avLst/>
              <a:gdLst/>
              <a:ahLst/>
              <a:cxnLst/>
              <a:rect l="l" t="t" r="r" b="b"/>
              <a:pathLst>
                <a:path w="991743" h="723900">
                  <a:moveTo>
                    <a:pt x="139954" y="0"/>
                  </a:moveTo>
                  <a:lnTo>
                    <a:pt x="216154" y="0"/>
                  </a:lnTo>
                  <a:lnTo>
                    <a:pt x="216154" y="25400"/>
                  </a:lnTo>
                  <a:lnTo>
                    <a:pt x="139954" y="25400"/>
                  </a:lnTo>
                  <a:close/>
                  <a:moveTo>
                    <a:pt x="317754" y="25400"/>
                  </a:moveTo>
                  <a:lnTo>
                    <a:pt x="393954" y="25400"/>
                  </a:lnTo>
                  <a:lnTo>
                    <a:pt x="317754" y="25400"/>
                  </a:lnTo>
                  <a:close/>
                  <a:moveTo>
                    <a:pt x="495554" y="25400"/>
                  </a:moveTo>
                  <a:lnTo>
                    <a:pt x="571754" y="25400"/>
                  </a:lnTo>
                  <a:lnTo>
                    <a:pt x="495554" y="25400"/>
                  </a:lnTo>
                  <a:close/>
                  <a:moveTo>
                    <a:pt x="673354" y="25400"/>
                  </a:moveTo>
                  <a:lnTo>
                    <a:pt x="749554" y="25400"/>
                  </a:lnTo>
                  <a:lnTo>
                    <a:pt x="673354" y="25400"/>
                  </a:lnTo>
                  <a:close/>
                  <a:moveTo>
                    <a:pt x="851154" y="25400"/>
                  </a:moveTo>
                  <a:lnTo>
                    <a:pt x="889381" y="25400"/>
                  </a:lnTo>
                  <a:lnTo>
                    <a:pt x="889381" y="12700"/>
                  </a:lnTo>
                  <a:lnTo>
                    <a:pt x="889381" y="0"/>
                  </a:lnTo>
                  <a:cubicBezTo>
                    <a:pt x="904367" y="0"/>
                    <a:pt x="918591" y="3175"/>
                    <a:pt x="931418" y="8890"/>
                  </a:cubicBezTo>
                  <a:lnTo>
                    <a:pt x="921004" y="32131"/>
                  </a:lnTo>
                  <a:cubicBezTo>
                    <a:pt x="911352" y="27813"/>
                    <a:pt x="900557" y="25400"/>
                    <a:pt x="889254" y="25400"/>
                  </a:cubicBezTo>
                  <a:lnTo>
                    <a:pt x="851154" y="25400"/>
                  </a:lnTo>
                  <a:close/>
                  <a:moveTo>
                    <a:pt x="991743" y="100711"/>
                  </a:moveTo>
                  <a:cubicBezTo>
                    <a:pt x="991743" y="100965"/>
                    <a:pt x="991743" y="101346"/>
                    <a:pt x="991743" y="101600"/>
                  </a:cubicBezTo>
                  <a:lnTo>
                    <a:pt x="979043" y="101600"/>
                  </a:lnTo>
                  <a:lnTo>
                    <a:pt x="991743" y="101600"/>
                  </a:lnTo>
                  <a:lnTo>
                    <a:pt x="991743" y="177038"/>
                  </a:lnTo>
                  <a:lnTo>
                    <a:pt x="966343" y="177038"/>
                  </a:lnTo>
                  <a:lnTo>
                    <a:pt x="966343" y="101600"/>
                  </a:lnTo>
                  <a:cubicBezTo>
                    <a:pt x="966343" y="101346"/>
                    <a:pt x="966343" y="101219"/>
                    <a:pt x="966343" y="100965"/>
                  </a:cubicBezTo>
                  <a:close/>
                  <a:moveTo>
                    <a:pt x="966343" y="278892"/>
                  </a:moveTo>
                  <a:lnTo>
                    <a:pt x="966343" y="355092"/>
                  </a:lnTo>
                  <a:lnTo>
                    <a:pt x="940943" y="355092"/>
                  </a:lnTo>
                  <a:lnTo>
                    <a:pt x="940943" y="278892"/>
                  </a:lnTo>
                  <a:close/>
                  <a:moveTo>
                    <a:pt x="940943" y="456692"/>
                  </a:moveTo>
                  <a:lnTo>
                    <a:pt x="940943" y="532892"/>
                  </a:lnTo>
                  <a:lnTo>
                    <a:pt x="915543" y="532892"/>
                  </a:lnTo>
                  <a:lnTo>
                    <a:pt x="915543" y="456692"/>
                  </a:lnTo>
                  <a:close/>
                  <a:moveTo>
                    <a:pt x="914654" y="636270"/>
                  </a:moveTo>
                  <a:cubicBezTo>
                    <a:pt x="910590" y="666115"/>
                    <a:pt x="893572" y="691769"/>
                    <a:pt x="869442" y="707517"/>
                  </a:cubicBezTo>
                  <a:lnTo>
                    <a:pt x="855599" y="686308"/>
                  </a:lnTo>
                  <a:cubicBezTo>
                    <a:pt x="873760" y="674370"/>
                    <a:pt x="886587" y="655193"/>
                    <a:pt x="889508" y="632968"/>
                  </a:cubicBezTo>
                  <a:close/>
                  <a:moveTo>
                    <a:pt x="839851" y="723900"/>
                  </a:moveTo>
                  <a:lnTo>
                    <a:pt x="763651" y="723900"/>
                  </a:lnTo>
                  <a:lnTo>
                    <a:pt x="763651" y="698500"/>
                  </a:lnTo>
                  <a:lnTo>
                    <a:pt x="839851" y="698500"/>
                  </a:lnTo>
                  <a:close/>
                  <a:moveTo>
                    <a:pt x="662051" y="698500"/>
                  </a:moveTo>
                  <a:lnTo>
                    <a:pt x="585851" y="698500"/>
                  </a:lnTo>
                  <a:lnTo>
                    <a:pt x="662051" y="698500"/>
                  </a:lnTo>
                  <a:close/>
                  <a:moveTo>
                    <a:pt x="484251" y="698500"/>
                  </a:moveTo>
                  <a:lnTo>
                    <a:pt x="408051" y="698500"/>
                  </a:lnTo>
                  <a:lnTo>
                    <a:pt x="484251" y="698500"/>
                  </a:lnTo>
                  <a:close/>
                  <a:moveTo>
                    <a:pt x="306451" y="698500"/>
                  </a:moveTo>
                  <a:lnTo>
                    <a:pt x="230251" y="698500"/>
                  </a:lnTo>
                  <a:lnTo>
                    <a:pt x="306451" y="698500"/>
                  </a:lnTo>
                  <a:close/>
                  <a:moveTo>
                    <a:pt x="128651" y="698500"/>
                  </a:moveTo>
                  <a:lnTo>
                    <a:pt x="102489" y="698500"/>
                  </a:lnTo>
                  <a:lnTo>
                    <a:pt x="102489" y="711200"/>
                  </a:lnTo>
                  <a:lnTo>
                    <a:pt x="102489" y="723900"/>
                  </a:lnTo>
                  <a:cubicBezTo>
                    <a:pt x="82677" y="723900"/>
                    <a:pt x="64008" y="718312"/>
                    <a:pt x="48387" y="708533"/>
                  </a:cubicBezTo>
                  <a:lnTo>
                    <a:pt x="61722" y="686943"/>
                  </a:lnTo>
                  <a:cubicBezTo>
                    <a:pt x="73533" y="694309"/>
                    <a:pt x="87503" y="698500"/>
                    <a:pt x="102489" y="698500"/>
                  </a:cubicBezTo>
                  <a:lnTo>
                    <a:pt x="128778" y="698500"/>
                  </a:lnTo>
                  <a:close/>
                  <a:moveTo>
                    <a:pt x="0" y="611124"/>
                  </a:moveTo>
                  <a:lnTo>
                    <a:pt x="0" y="534924"/>
                  </a:lnTo>
                  <a:lnTo>
                    <a:pt x="25400" y="534924"/>
                  </a:lnTo>
                  <a:lnTo>
                    <a:pt x="25400" y="611124"/>
                  </a:lnTo>
                  <a:close/>
                  <a:moveTo>
                    <a:pt x="25400" y="433324"/>
                  </a:moveTo>
                  <a:lnTo>
                    <a:pt x="25400" y="357124"/>
                  </a:lnTo>
                  <a:lnTo>
                    <a:pt x="25400" y="433324"/>
                  </a:lnTo>
                  <a:close/>
                  <a:moveTo>
                    <a:pt x="25400" y="255524"/>
                  </a:moveTo>
                  <a:lnTo>
                    <a:pt x="25400" y="179324"/>
                  </a:lnTo>
                  <a:lnTo>
                    <a:pt x="25400" y="255524"/>
                  </a:lnTo>
                  <a:close/>
                  <a:moveTo>
                    <a:pt x="0" y="101600"/>
                  </a:moveTo>
                  <a:cubicBezTo>
                    <a:pt x="0" y="70993"/>
                    <a:pt x="13716" y="43434"/>
                    <a:pt x="35306" y="24892"/>
                  </a:cubicBezTo>
                  <a:lnTo>
                    <a:pt x="51816" y="44069"/>
                  </a:lnTo>
                  <a:cubicBezTo>
                    <a:pt x="35560" y="58166"/>
                    <a:pt x="25400" y="78740"/>
                    <a:pt x="25400" y="101600"/>
                  </a:cubicBezTo>
                  <a:close/>
                </a:path>
              </a:pathLst>
            </a:custGeom>
            <a:solidFill>
              <a:srgbClr val="9AA6B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5090817" y="5915025"/>
            <a:ext cx="78194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6B7A8F"/>
                </a:solidFill>
                <a:latin typeface="IBM Plex Sans"/>
                <a:ea typeface="IBM Plex Sans"/>
                <a:cs typeface="IBM Plex Sans"/>
                <a:sym typeface="IBM Plex Sans"/>
              </a:rPr>
              <a:t>6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5910863" y="5838825"/>
            <a:ext cx="743845" cy="542925"/>
            <a:chOff x="0" y="0"/>
            <a:chExt cx="991794" cy="7239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991743" cy="723900"/>
            </a:xfrm>
            <a:custGeom>
              <a:avLst/>
              <a:gdLst/>
              <a:ahLst/>
              <a:cxnLst/>
              <a:rect l="l" t="t" r="r" b="b"/>
              <a:pathLst>
                <a:path w="991743" h="723900">
                  <a:moveTo>
                    <a:pt x="139954" y="0"/>
                  </a:moveTo>
                  <a:lnTo>
                    <a:pt x="216154" y="0"/>
                  </a:lnTo>
                  <a:lnTo>
                    <a:pt x="216154" y="25400"/>
                  </a:lnTo>
                  <a:lnTo>
                    <a:pt x="139954" y="25400"/>
                  </a:lnTo>
                  <a:close/>
                  <a:moveTo>
                    <a:pt x="317754" y="25400"/>
                  </a:moveTo>
                  <a:lnTo>
                    <a:pt x="393954" y="25400"/>
                  </a:lnTo>
                  <a:lnTo>
                    <a:pt x="317754" y="25400"/>
                  </a:lnTo>
                  <a:close/>
                  <a:moveTo>
                    <a:pt x="495554" y="25400"/>
                  </a:moveTo>
                  <a:lnTo>
                    <a:pt x="571754" y="25400"/>
                  </a:lnTo>
                  <a:lnTo>
                    <a:pt x="495554" y="25400"/>
                  </a:lnTo>
                  <a:close/>
                  <a:moveTo>
                    <a:pt x="673354" y="25400"/>
                  </a:moveTo>
                  <a:lnTo>
                    <a:pt x="749554" y="25400"/>
                  </a:lnTo>
                  <a:lnTo>
                    <a:pt x="673354" y="25400"/>
                  </a:lnTo>
                  <a:close/>
                  <a:moveTo>
                    <a:pt x="851154" y="25400"/>
                  </a:moveTo>
                  <a:lnTo>
                    <a:pt x="889381" y="25400"/>
                  </a:lnTo>
                  <a:lnTo>
                    <a:pt x="889381" y="12700"/>
                  </a:lnTo>
                  <a:lnTo>
                    <a:pt x="889381" y="0"/>
                  </a:lnTo>
                  <a:cubicBezTo>
                    <a:pt x="904367" y="0"/>
                    <a:pt x="918591" y="3175"/>
                    <a:pt x="931418" y="8890"/>
                  </a:cubicBezTo>
                  <a:lnTo>
                    <a:pt x="921004" y="32131"/>
                  </a:lnTo>
                  <a:cubicBezTo>
                    <a:pt x="911352" y="27813"/>
                    <a:pt x="900557" y="25400"/>
                    <a:pt x="889254" y="25400"/>
                  </a:cubicBezTo>
                  <a:lnTo>
                    <a:pt x="851154" y="25400"/>
                  </a:lnTo>
                  <a:close/>
                  <a:moveTo>
                    <a:pt x="991743" y="100711"/>
                  </a:moveTo>
                  <a:cubicBezTo>
                    <a:pt x="991743" y="100965"/>
                    <a:pt x="991743" y="101346"/>
                    <a:pt x="991743" y="101600"/>
                  </a:cubicBezTo>
                  <a:lnTo>
                    <a:pt x="979043" y="101600"/>
                  </a:lnTo>
                  <a:lnTo>
                    <a:pt x="991743" y="101600"/>
                  </a:lnTo>
                  <a:lnTo>
                    <a:pt x="991743" y="177038"/>
                  </a:lnTo>
                  <a:lnTo>
                    <a:pt x="966343" y="177038"/>
                  </a:lnTo>
                  <a:lnTo>
                    <a:pt x="966343" y="101600"/>
                  </a:lnTo>
                  <a:cubicBezTo>
                    <a:pt x="966343" y="101346"/>
                    <a:pt x="966343" y="101219"/>
                    <a:pt x="966343" y="100965"/>
                  </a:cubicBezTo>
                  <a:close/>
                  <a:moveTo>
                    <a:pt x="966343" y="278892"/>
                  </a:moveTo>
                  <a:lnTo>
                    <a:pt x="966343" y="355092"/>
                  </a:lnTo>
                  <a:lnTo>
                    <a:pt x="940943" y="355092"/>
                  </a:lnTo>
                  <a:lnTo>
                    <a:pt x="940943" y="278892"/>
                  </a:lnTo>
                  <a:close/>
                  <a:moveTo>
                    <a:pt x="940943" y="456692"/>
                  </a:moveTo>
                  <a:lnTo>
                    <a:pt x="940943" y="532892"/>
                  </a:lnTo>
                  <a:lnTo>
                    <a:pt x="915543" y="532892"/>
                  </a:lnTo>
                  <a:lnTo>
                    <a:pt x="915543" y="456692"/>
                  </a:lnTo>
                  <a:close/>
                  <a:moveTo>
                    <a:pt x="914654" y="636270"/>
                  </a:moveTo>
                  <a:cubicBezTo>
                    <a:pt x="910590" y="666115"/>
                    <a:pt x="893572" y="691769"/>
                    <a:pt x="869442" y="707517"/>
                  </a:cubicBezTo>
                  <a:lnTo>
                    <a:pt x="855599" y="686308"/>
                  </a:lnTo>
                  <a:cubicBezTo>
                    <a:pt x="873760" y="674370"/>
                    <a:pt x="886587" y="655193"/>
                    <a:pt x="889508" y="632968"/>
                  </a:cubicBezTo>
                  <a:close/>
                  <a:moveTo>
                    <a:pt x="839851" y="723900"/>
                  </a:moveTo>
                  <a:lnTo>
                    <a:pt x="763651" y="723900"/>
                  </a:lnTo>
                  <a:lnTo>
                    <a:pt x="763651" y="698500"/>
                  </a:lnTo>
                  <a:lnTo>
                    <a:pt x="839851" y="698500"/>
                  </a:lnTo>
                  <a:close/>
                  <a:moveTo>
                    <a:pt x="662051" y="698500"/>
                  </a:moveTo>
                  <a:lnTo>
                    <a:pt x="585851" y="698500"/>
                  </a:lnTo>
                  <a:lnTo>
                    <a:pt x="662051" y="698500"/>
                  </a:lnTo>
                  <a:close/>
                  <a:moveTo>
                    <a:pt x="484251" y="698500"/>
                  </a:moveTo>
                  <a:lnTo>
                    <a:pt x="408051" y="698500"/>
                  </a:lnTo>
                  <a:lnTo>
                    <a:pt x="484251" y="698500"/>
                  </a:lnTo>
                  <a:close/>
                  <a:moveTo>
                    <a:pt x="306451" y="698500"/>
                  </a:moveTo>
                  <a:lnTo>
                    <a:pt x="230251" y="698500"/>
                  </a:lnTo>
                  <a:lnTo>
                    <a:pt x="306451" y="698500"/>
                  </a:lnTo>
                  <a:close/>
                  <a:moveTo>
                    <a:pt x="128651" y="698500"/>
                  </a:moveTo>
                  <a:lnTo>
                    <a:pt x="102489" y="698500"/>
                  </a:lnTo>
                  <a:lnTo>
                    <a:pt x="102489" y="711200"/>
                  </a:lnTo>
                  <a:lnTo>
                    <a:pt x="102489" y="723900"/>
                  </a:lnTo>
                  <a:cubicBezTo>
                    <a:pt x="82677" y="723900"/>
                    <a:pt x="64008" y="718312"/>
                    <a:pt x="48387" y="708533"/>
                  </a:cubicBezTo>
                  <a:lnTo>
                    <a:pt x="61722" y="686943"/>
                  </a:lnTo>
                  <a:cubicBezTo>
                    <a:pt x="73533" y="694309"/>
                    <a:pt x="87503" y="698500"/>
                    <a:pt x="102489" y="698500"/>
                  </a:cubicBezTo>
                  <a:lnTo>
                    <a:pt x="128778" y="698500"/>
                  </a:lnTo>
                  <a:close/>
                  <a:moveTo>
                    <a:pt x="0" y="611124"/>
                  </a:moveTo>
                  <a:lnTo>
                    <a:pt x="0" y="534924"/>
                  </a:lnTo>
                  <a:lnTo>
                    <a:pt x="25400" y="534924"/>
                  </a:lnTo>
                  <a:lnTo>
                    <a:pt x="25400" y="611124"/>
                  </a:lnTo>
                  <a:close/>
                  <a:moveTo>
                    <a:pt x="25400" y="433324"/>
                  </a:moveTo>
                  <a:lnTo>
                    <a:pt x="25400" y="357124"/>
                  </a:lnTo>
                  <a:lnTo>
                    <a:pt x="25400" y="433324"/>
                  </a:lnTo>
                  <a:close/>
                  <a:moveTo>
                    <a:pt x="25400" y="255524"/>
                  </a:moveTo>
                  <a:lnTo>
                    <a:pt x="25400" y="179324"/>
                  </a:lnTo>
                  <a:lnTo>
                    <a:pt x="25400" y="255524"/>
                  </a:lnTo>
                  <a:close/>
                  <a:moveTo>
                    <a:pt x="0" y="101600"/>
                  </a:moveTo>
                  <a:cubicBezTo>
                    <a:pt x="0" y="70993"/>
                    <a:pt x="13716" y="43434"/>
                    <a:pt x="35306" y="24892"/>
                  </a:cubicBezTo>
                  <a:lnTo>
                    <a:pt x="51816" y="44069"/>
                  </a:lnTo>
                  <a:cubicBezTo>
                    <a:pt x="35560" y="58166"/>
                    <a:pt x="25400" y="78740"/>
                    <a:pt x="25400" y="101600"/>
                  </a:cubicBezTo>
                  <a:close/>
                </a:path>
              </a:pathLst>
            </a:custGeom>
            <a:solidFill>
              <a:srgbClr val="9AA6B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5891813" y="5915025"/>
            <a:ext cx="78194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6B7A8F"/>
                </a:solidFill>
                <a:latin typeface="IBM Plex Sans"/>
                <a:ea typeface="IBM Plex Sans"/>
                <a:cs typeface="IBM Plex Sans"/>
                <a:sym typeface="IBM Plex Sans"/>
              </a:rPr>
              <a:t>7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6711848" y="5838825"/>
            <a:ext cx="743845" cy="542925"/>
            <a:chOff x="0" y="0"/>
            <a:chExt cx="991794" cy="7239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991743" cy="723900"/>
            </a:xfrm>
            <a:custGeom>
              <a:avLst/>
              <a:gdLst/>
              <a:ahLst/>
              <a:cxnLst/>
              <a:rect l="l" t="t" r="r" b="b"/>
              <a:pathLst>
                <a:path w="991743" h="723900">
                  <a:moveTo>
                    <a:pt x="139954" y="0"/>
                  </a:moveTo>
                  <a:lnTo>
                    <a:pt x="216154" y="0"/>
                  </a:lnTo>
                  <a:lnTo>
                    <a:pt x="216154" y="25400"/>
                  </a:lnTo>
                  <a:lnTo>
                    <a:pt x="139954" y="25400"/>
                  </a:lnTo>
                  <a:close/>
                  <a:moveTo>
                    <a:pt x="317754" y="25400"/>
                  </a:moveTo>
                  <a:lnTo>
                    <a:pt x="393954" y="25400"/>
                  </a:lnTo>
                  <a:lnTo>
                    <a:pt x="317754" y="25400"/>
                  </a:lnTo>
                  <a:close/>
                  <a:moveTo>
                    <a:pt x="495554" y="25400"/>
                  </a:moveTo>
                  <a:lnTo>
                    <a:pt x="571754" y="25400"/>
                  </a:lnTo>
                  <a:lnTo>
                    <a:pt x="495554" y="25400"/>
                  </a:lnTo>
                  <a:close/>
                  <a:moveTo>
                    <a:pt x="673354" y="25400"/>
                  </a:moveTo>
                  <a:lnTo>
                    <a:pt x="749554" y="25400"/>
                  </a:lnTo>
                  <a:lnTo>
                    <a:pt x="673354" y="25400"/>
                  </a:lnTo>
                  <a:close/>
                  <a:moveTo>
                    <a:pt x="851154" y="25400"/>
                  </a:moveTo>
                  <a:lnTo>
                    <a:pt x="889381" y="25400"/>
                  </a:lnTo>
                  <a:lnTo>
                    <a:pt x="889381" y="12700"/>
                  </a:lnTo>
                  <a:lnTo>
                    <a:pt x="889381" y="0"/>
                  </a:lnTo>
                  <a:cubicBezTo>
                    <a:pt x="904367" y="0"/>
                    <a:pt x="918591" y="3175"/>
                    <a:pt x="931418" y="8890"/>
                  </a:cubicBezTo>
                  <a:lnTo>
                    <a:pt x="921004" y="32131"/>
                  </a:lnTo>
                  <a:cubicBezTo>
                    <a:pt x="911352" y="27813"/>
                    <a:pt x="900557" y="25400"/>
                    <a:pt x="889254" y="25400"/>
                  </a:cubicBezTo>
                  <a:lnTo>
                    <a:pt x="851154" y="25400"/>
                  </a:lnTo>
                  <a:close/>
                  <a:moveTo>
                    <a:pt x="991743" y="100711"/>
                  </a:moveTo>
                  <a:cubicBezTo>
                    <a:pt x="991743" y="100965"/>
                    <a:pt x="991743" y="101346"/>
                    <a:pt x="991743" y="101600"/>
                  </a:cubicBezTo>
                  <a:lnTo>
                    <a:pt x="979043" y="101600"/>
                  </a:lnTo>
                  <a:lnTo>
                    <a:pt x="991743" y="101600"/>
                  </a:lnTo>
                  <a:lnTo>
                    <a:pt x="991743" y="177038"/>
                  </a:lnTo>
                  <a:lnTo>
                    <a:pt x="966343" y="177038"/>
                  </a:lnTo>
                  <a:lnTo>
                    <a:pt x="966343" y="101600"/>
                  </a:lnTo>
                  <a:cubicBezTo>
                    <a:pt x="966343" y="101346"/>
                    <a:pt x="966343" y="101219"/>
                    <a:pt x="966343" y="100965"/>
                  </a:cubicBezTo>
                  <a:close/>
                  <a:moveTo>
                    <a:pt x="966343" y="278892"/>
                  </a:moveTo>
                  <a:lnTo>
                    <a:pt x="966343" y="355092"/>
                  </a:lnTo>
                  <a:lnTo>
                    <a:pt x="940943" y="355092"/>
                  </a:lnTo>
                  <a:lnTo>
                    <a:pt x="940943" y="278892"/>
                  </a:lnTo>
                  <a:close/>
                  <a:moveTo>
                    <a:pt x="940943" y="456692"/>
                  </a:moveTo>
                  <a:lnTo>
                    <a:pt x="940943" y="532892"/>
                  </a:lnTo>
                  <a:lnTo>
                    <a:pt x="915543" y="532892"/>
                  </a:lnTo>
                  <a:lnTo>
                    <a:pt x="915543" y="456692"/>
                  </a:lnTo>
                  <a:close/>
                  <a:moveTo>
                    <a:pt x="914654" y="636270"/>
                  </a:moveTo>
                  <a:cubicBezTo>
                    <a:pt x="910590" y="666115"/>
                    <a:pt x="893572" y="691769"/>
                    <a:pt x="869442" y="707517"/>
                  </a:cubicBezTo>
                  <a:lnTo>
                    <a:pt x="855599" y="686308"/>
                  </a:lnTo>
                  <a:cubicBezTo>
                    <a:pt x="873760" y="674370"/>
                    <a:pt x="886587" y="655193"/>
                    <a:pt x="889508" y="632968"/>
                  </a:cubicBezTo>
                  <a:close/>
                  <a:moveTo>
                    <a:pt x="839851" y="723900"/>
                  </a:moveTo>
                  <a:lnTo>
                    <a:pt x="763651" y="723900"/>
                  </a:lnTo>
                  <a:lnTo>
                    <a:pt x="763651" y="698500"/>
                  </a:lnTo>
                  <a:lnTo>
                    <a:pt x="839851" y="698500"/>
                  </a:lnTo>
                  <a:close/>
                  <a:moveTo>
                    <a:pt x="662051" y="698500"/>
                  </a:moveTo>
                  <a:lnTo>
                    <a:pt x="585851" y="698500"/>
                  </a:lnTo>
                  <a:lnTo>
                    <a:pt x="662051" y="698500"/>
                  </a:lnTo>
                  <a:close/>
                  <a:moveTo>
                    <a:pt x="484251" y="698500"/>
                  </a:moveTo>
                  <a:lnTo>
                    <a:pt x="408051" y="698500"/>
                  </a:lnTo>
                  <a:lnTo>
                    <a:pt x="484251" y="698500"/>
                  </a:lnTo>
                  <a:close/>
                  <a:moveTo>
                    <a:pt x="306451" y="698500"/>
                  </a:moveTo>
                  <a:lnTo>
                    <a:pt x="230251" y="698500"/>
                  </a:lnTo>
                  <a:lnTo>
                    <a:pt x="306451" y="698500"/>
                  </a:lnTo>
                  <a:close/>
                  <a:moveTo>
                    <a:pt x="128651" y="698500"/>
                  </a:moveTo>
                  <a:lnTo>
                    <a:pt x="102489" y="698500"/>
                  </a:lnTo>
                  <a:lnTo>
                    <a:pt x="102489" y="711200"/>
                  </a:lnTo>
                  <a:lnTo>
                    <a:pt x="102489" y="723900"/>
                  </a:lnTo>
                  <a:cubicBezTo>
                    <a:pt x="82677" y="723900"/>
                    <a:pt x="64008" y="718312"/>
                    <a:pt x="48387" y="708533"/>
                  </a:cubicBezTo>
                  <a:lnTo>
                    <a:pt x="61722" y="686943"/>
                  </a:lnTo>
                  <a:cubicBezTo>
                    <a:pt x="73533" y="694309"/>
                    <a:pt x="87503" y="698500"/>
                    <a:pt x="102489" y="698500"/>
                  </a:cubicBezTo>
                  <a:lnTo>
                    <a:pt x="128778" y="698500"/>
                  </a:lnTo>
                  <a:close/>
                  <a:moveTo>
                    <a:pt x="0" y="611124"/>
                  </a:moveTo>
                  <a:lnTo>
                    <a:pt x="0" y="534924"/>
                  </a:lnTo>
                  <a:lnTo>
                    <a:pt x="25400" y="534924"/>
                  </a:lnTo>
                  <a:lnTo>
                    <a:pt x="25400" y="611124"/>
                  </a:lnTo>
                  <a:close/>
                  <a:moveTo>
                    <a:pt x="25400" y="433324"/>
                  </a:moveTo>
                  <a:lnTo>
                    <a:pt x="25400" y="357124"/>
                  </a:lnTo>
                  <a:lnTo>
                    <a:pt x="25400" y="433324"/>
                  </a:lnTo>
                  <a:close/>
                  <a:moveTo>
                    <a:pt x="25400" y="255524"/>
                  </a:moveTo>
                  <a:lnTo>
                    <a:pt x="25400" y="179324"/>
                  </a:lnTo>
                  <a:lnTo>
                    <a:pt x="25400" y="255524"/>
                  </a:lnTo>
                  <a:close/>
                  <a:moveTo>
                    <a:pt x="0" y="101600"/>
                  </a:moveTo>
                  <a:cubicBezTo>
                    <a:pt x="0" y="70993"/>
                    <a:pt x="13716" y="43434"/>
                    <a:pt x="35306" y="24892"/>
                  </a:cubicBezTo>
                  <a:lnTo>
                    <a:pt x="51816" y="44069"/>
                  </a:lnTo>
                  <a:cubicBezTo>
                    <a:pt x="35560" y="58166"/>
                    <a:pt x="25400" y="78740"/>
                    <a:pt x="25400" y="101600"/>
                  </a:cubicBezTo>
                  <a:close/>
                </a:path>
              </a:pathLst>
            </a:custGeom>
            <a:solidFill>
              <a:srgbClr val="9AA6B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6692798" y="5915025"/>
            <a:ext cx="78194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6B7A8F"/>
                </a:solidFill>
                <a:latin typeface="IBM Plex Sans"/>
                <a:ea typeface="IBM Plex Sans"/>
                <a:cs typeface="IBM Plex Sans"/>
                <a:sym typeface="IBM Plex Sans"/>
              </a:rPr>
              <a:t>8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7512844" y="5838825"/>
            <a:ext cx="743845" cy="542925"/>
            <a:chOff x="0" y="0"/>
            <a:chExt cx="991794" cy="7239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991743" cy="723900"/>
            </a:xfrm>
            <a:custGeom>
              <a:avLst/>
              <a:gdLst/>
              <a:ahLst/>
              <a:cxnLst/>
              <a:rect l="l" t="t" r="r" b="b"/>
              <a:pathLst>
                <a:path w="991743" h="723900">
                  <a:moveTo>
                    <a:pt x="139954" y="0"/>
                  </a:moveTo>
                  <a:lnTo>
                    <a:pt x="216154" y="0"/>
                  </a:lnTo>
                  <a:lnTo>
                    <a:pt x="216154" y="25400"/>
                  </a:lnTo>
                  <a:lnTo>
                    <a:pt x="139954" y="25400"/>
                  </a:lnTo>
                  <a:close/>
                  <a:moveTo>
                    <a:pt x="317754" y="25400"/>
                  </a:moveTo>
                  <a:lnTo>
                    <a:pt x="393954" y="25400"/>
                  </a:lnTo>
                  <a:lnTo>
                    <a:pt x="317754" y="25400"/>
                  </a:lnTo>
                  <a:close/>
                  <a:moveTo>
                    <a:pt x="495554" y="25400"/>
                  </a:moveTo>
                  <a:lnTo>
                    <a:pt x="571754" y="25400"/>
                  </a:lnTo>
                  <a:lnTo>
                    <a:pt x="495554" y="25400"/>
                  </a:lnTo>
                  <a:close/>
                  <a:moveTo>
                    <a:pt x="673354" y="25400"/>
                  </a:moveTo>
                  <a:lnTo>
                    <a:pt x="749554" y="25400"/>
                  </a:lnTo>
                  <a:lnTo>
                    <a:pt x="673354" y="25400"/>
                  </a:lnTo>
                  <a:close/>
                  <a:moveTo>
                    <a:pt x="851154" y="25400"/>
                  </a:moveTo>
                  <a:lnTo>
                    <a:pt x="889381" y="25400"/>
                  </a:lnTo>
                  <a:lnTo>
                    <a:pt x="889381" y="12700"/>
                  </a:lnTo>
                  <a:lnTo>
                    <a:pt x="889381" y="0"/>
                  </a:lnTo>
                  <a:cubicBezTo>
                    <a:pt x="904367" y="0"/>
                    <a:pt x="918591" y="3175"/>
                    <a:pt x="931418" y="8890"/>
                  </a:cubicBezTo>
                  <a:lnTo>
                    <a:pt x="921004" y="32131"/>
                  </a:lnTo>
                  <a:cubicBezTo>
                    <a:pt x="911352" y="27813"/>
                    <a:pt x="900557" y="25400"/>
                    <a:pt x="889254" y="25400"/>
                  </a:cubicBezTo>
                  <a:lnTo>
                    <a:pt x="851154" y="25400"/>
                  </a:lnTo>
                  <a:close/>
                  <a:moveTo>
                    <a:pt x="991743" y="100711"/>
                  </a:moveTo>
                  <a:cubicBezTo>
                    <a:pt x="991743" y="100965"/>
                    <a:pt x="991743" y="101346"/>
                    <a:pt x="991743" y="101600"/>
                  </a:cubicBezTo>
                  <a:lnTo>
                    <a:pt x="979043" y="101600"/>
                  </a:lnTo>
                  <a:lnTo>
                    <a:pt x="991743" y="101600"/>
                  </a:lnTo>
                  <a:lnTo>
                    <a:pt x="991743" y="177038"/>
                  </a:lnTo>
                  <a:lnTo>
                    <a:pt x="966343" y="177038"/>
                  </a:lnTo>
                  <a:lnTo>
                    <a:pt x="966343" y="101600"/>
                  </a:lnTo>
                  <a:cubicBezTo>
                    <a:pt x="966343" y="101346"/>
                    <a:pt x="966343" y="101219"/>
                    <a:pt x="966343" y="100965"/>
                  </a:cubicBezTo>
                  <a:close/>
                  <a:moveTo>
                    <a:pt x="966343" y="278892"/>
                  </a:moveTo>
                  <a:lnTo>
                    <a:pt x="966343" y="355092"/>
                  </a:lnTo>
                  <a:lnTo>
                    <a:pt x="940943" y="355092"/>
                  </a:lnTo>
                  <a:lnTo>
                    <a:pt x="940943" y="278892"/>
                  </a:lnTo>
                  <a:close/>
                  <a:moveTo>
                    <a:pt x="940943" y="456692"/>
                  </a:moveTo>
                  <a:lnTo>
                    <a:pt x="940943" y="532892"/>
                  </a:lnTo>
                  <a:lnTo>
                    <a:pt x="915543" y="532892"/>
                  </a:lnTo>
                  <a:lnTo>
                    <a:pt x="915543" y="456692"/>
                  </a:lnTo>
                  <a:close/>
                  <a:moveTo>
                    <a:pt x="914654" y="636270"/>
                  </a:moveTo>
                  <a:cubicBezTo>
                    <a:pt x="910590" y="666115"/>
                    <a:pt x="893572" y="691769"/>
                    <a:pt x="869442" y="707517"/>
                  </a:cubicBezTo>
                  <a:lnTo>
                    <a:pt x="855599" y="686308"/>
                  </a:lnTo>
                  <a:cubicBezTo>
                    <a:pt x="873760" y="674370"/>
                    <a:pt x="886587" y="655193"/>
                    <a:pt x="889508" y="632968"/>
                  </a:cubicBezTo>
                  <a:close/>
                  <a:moveTo>
                    <a:pt x="839851" y="723900"/>
                  </a:moveTo>
                  <a:lnTo>
                    <a:pt x="763651" y="723900"/>
                  </a:lnTo>
                  <a:lnTo>
                    <a:pt x="763651" y="698500"/>
                  </a:lnTo>
                  <a:lnTo>
                    <a:pt x="839851" y="698500"/>
                  </a:lnTo>
                  <a:close/>
                  <a:moveTo>
                    <a:pt x="662051" y="698500"/>
                  </a:moveTo>
                  <a:lnTo>
                    <a:pt x="585851" y="698500"/>
                  </a:lnTo>
                  <a:lnTo>
                    <a:pt x="662051" y="698500"/>
                  </a:lnTo>
                  <a:close/>
                  <a:moveTo>
                    <a:pt x="484251" y="698500"/>
                  </a:moveTo>
                  <a:lnTo>
                    <a:pt x="408051" y="698500"/>
                  </a:lnTo>
                  <a:lnTo>
                    <a:pt x="484251" y="698500"/>
                  </a:lnTo>
                  <a:close/>
                  <a:moveTo>
                    <a:pt x="306451" y="698500"/>
                  </a:moveTo>
                  <a:lnTo>
                    <a:pt x="230251" y="698500"/>
                  </a:lnTo>
                  <a:lnTo>
                    <a:pt x="306451" y="698500"/>
                  </a:lnTo>
                  <a:close/>
                  <a:moveTo>
                    <a:pt x="128651" y="698500"/>
                  </a:moveTo>
                  <a:lnTo>
                    <a:pt x="102489" y="698500"/>
                  </a:lnTo>
                  <a:lnTo>
                    <a:pt x="102489" y="711200"/>
                  </a:lnTo>
                  <a:lnTo>
                    <a:pt x="102489" y="723900"/>
                  </a:lnTo>
                  <a:cubicBezTo>
                    <a:pt x="82677" y="723900"/>
                    <a:pt x="64008" y="718312"/>
                    <a:pt x="48387" y="708533"/>
                  </a:cubicBezTo>
                  <a:lnTo>
                    <a:pt x="61722" y="686943"/>
                  </a:lnTo>
                  <a:cubicBezTo>
                    <a:pt x="73533" y="694309"/>
                    <a:pt x="87503" y="698500"/>
                    <a:pt x="102489" y="698500"/>
                  </a:cubicBezTo>
                  <a:lnTo>
                    <a:pt x="128778" y="698500"/>
                  </a:lnTo>
                  <a:close/>
                  <a:moveTo>
                    <a:pt x="0" y="611124"/>
                  </a:moveTo>
                  <a:lnTo>
                    <a:pt x="0" y="534924"/>
                  </a:lnTo>
                  <a:lnTo>
                    <a:pt x="25400" y="534924"/>
                  </a:lnTo>
                  <a:lnTo>
                    <a:pt x="25400" y="611124"/>
                  </a:lnTo>
                  <a:close/>
                  <a:moveTo>
                    <a:pt x="25400" y="433324"/>
                  </a:moveTo>
                  <a:lnTo>
                    <a:pt x="25400" y="357124"/>
                  </a:lnTo>
                  <a:lnTo>
                    <a:pt x="25400" y="433324"/>
                  </a:lnTo>
                  <a:close/>
                  <a:moveTo>
                    <a:pt x="25400" y="255524"/>
                  </a:moveTo>
                  <a:lnTo>
                    <a:pt x="25400" y="179324"/>
                  </a:lnTo>
                  <a:lnTo>
                    <a:pt x="25400" y="255524"/>
                  </a:lnTo>
                  <a:close/>
                  <a:moveTo>
                    <a:pt x="0" y="101600"/>
                  </a:moveTo>
                  <a:cubicBezTo>
                    <a:pt x="0" y="70993"/>
                    <a:pt x="13716" y="43434"/>
                    <a:pt x="35306" y="24892"/>
                  </a:cubicBezTo>
                  <a:lnTo>
                    <a:pt x="51816" y="44069"/>
                  </a:lnTo>
                  <a:cubicBezTo>
                    <a:pt x="35560" y="58166"/>
                    <a:pt x="25400" y="78740"/>
                    <a:pt x="25400" y="101600"/>
                  </a:cubicBezTo>
                  <a:close/>
                </a:path>
              </a:pathLst>
            </a:custGeom>
            <a:solidFill>
              <a:srgbClr val="9AA6B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7493794" y="5915025"/>
            <a:ext cx="78194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6B7A8F"/>
                </a:solidFill>
                <a:latin typeface="IBM Plex Sans"/>
                <a:ea typeface="IBM Plex Sans"/>
                <a:cs typeface="IBM Plex Sans"/>
                <a:sym typeface="IBM Plex Sans"/>
              </a:rPr>
              <a:t>9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8313839" y="5838825"/>
            <a:ext cx="743845" cy="542925"/>
            <a:chOff x="0" y="0"/>
            <a:chExt cx="991794" cy="7239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991743" cy="723900"/>
            </a:xfrm>
            <a:custGeom>
              <a:avLst/>
              <a:gdLst/>
              <a:ahLst/>
              <a:cxnLst/>
              <a:rect l="l" t="t" r="r" b="b"/>
              <a:pathLst>
                <a:path w="991743" h="723900">
                  <a:moveTo>
                    <a:pt x="139954" y="0"/>
                  </a:moveTo>
                  <a:lnTo>
                    <a:pt x="216154" y="0"/>
                  </a:lnTo>
                  <a:lnTo>
                    <a:pt x="216154" y="25400"/>
                  </a:lnTo>
                  <a:lnTo>
                    <a:pt x="139954" y="25400"/>
                  </a:lnTo>
                  <a:close/>
                  <a:moveTo>
                    <a:pt x="317754" y="25400"/>
                  </a:moveTo>
                  <a:lnTo>
                    <a:pt x="393954" y="25400"/>
                  </a:lnTo>
                  <a:lnTo>
                    <a:pt x="317754" y="25400"/>
                  </a:lnTo>
                  <a:close/>
                  <a:moveTo>
                    <a:pt x="495554" y="25400"/>
                  </a:moveTo>
                  <a:lnTo>
                    <a:pt x="571754" y="25400"/>
                  </a:lnTo>
                  <a:lnTo>
                    <a:pt x="495554" y="25400"/>
                  </a:lnTo>
                  <a:close/>
                  <a:moveTo>
                    <a:pt x="673354" y="25400"/>
                  </a:moveTo>
                  <a:lnTo>
                    <a:pt x="749554" y="25400"/>
                  </a:lnTo>
                  <a:lnTo>
                    <a:pt x="673354" y="25400"/>
                  </a:lnTo>
                  <a:close/>
                  <a:moveTo>
                    <a:pt x="851154" y="25400"/>
                  </a:moveTo>
                  <a:lnTo>
                    <a:pt x="889381" y="25400"/>
                  </a:lnTo>
                  <a:lnTo>
                    <a:pt x="889381" y="12700"/>
                  </a:lnTo>
                  <a:lnTo>
                    <a:pt x="889381" y="0"/>
                  </a:lnTo>
                  <a:cubicBezTo>
                    <a:pt x="904367" y="0"/>
                    <a:pt x="918591" y="3175"/>
                    <a:pt x="931418" y="8890"/>
                  </a:cubicBezTo>
                  <a:lnTo>
                    <a:pt x="921004" y="32131"/>
                  </a:lnTo>
                  <a:cubicBezTo>
                    <a:pt x="911352" y="27813"/>
                    <a:pt x="900557" y="25400"/>
                    <a:pt x="889254" y="25400"/>
                  </a:cubicBezTo>
                  <a:lnTo>
                    <a:pt x="851154" y="25400"/>
                  </a:lnTo>
                  <a:close/>
                  <a:moveTo>
                    <a:pt x="991743" y="100711"/>
                  </a:moveTo>
                  <a:cubicBezTo>
                    <a:pt x="991743" y="100965"/>
                    <a:pt x="991743" y="101346"/>
                    <a:pt x="991743" y="101600"/>
                  </a:cubicBezTo>
                  <a:lnTo>
                    <a:pt x="979043" y="101600"/>
                  </a:lnTo>
                  <a:lnTo>
                    <a:pt x="991743" y="101600"/>
                  </a:lnTo>
                  <a:lnTo>
                    <a:pt x="991743" y="177038"/>
                  </a:lnTo>
                  <a:lnTo>
                    <a:pt x="966343" y="177038"/>
                  </a:lnTo>
                  <a:lnTo>
                    <a:pt x="966343" y="101600"/>
                  </a:lnTo>
                  <a:cubicBezTo>
                    <a:pt x="966343" y="101346"/>
                    <a:pt x="966343" y="101219"/>
                    <a:pt x="966343" y="100965"/>
                  </a:cubicBezTo>
                  <a:close/>
                  <a:moveTo>
                    <a:pt x="966343" y="278892"/>
                  </a:moveTo>
                  <a:lnTo>
                    <a:pt x="966343" y="355092"/>
                  </a:lnTo>
                  <a:lnTo>
                    <a:pt x="940943" y="355092"/>
                  </a:lnTo>
                  <a:lnTo>
                    <a:pt x="940943" y="278892"/>
                  </a:lnTo>
                  <a:close/>
                  <a:moveTo>
                    <a:pt x="940943" y="456692"/>
                  </a:moveTo>
                  <a:lnTo>
                    <a:pt x="940943" y="532892"/>
                  </a:lnTo>
                  <a:lnTo>
                    <a:pt x="915543" y="532892"/>
                  </a:lnTo>
                  <a:lnTo>
                    <a:pt x="915543" y="456692"/>
                  </a:lnTo>
                  <a:close/>
                  <a:moveTo>
                    <a:pt x="914654" y="636270"/>
                  </a:moveTo>
                  <a:cubicBezTo>
                    <a:pt x="910590" y="666115"/>
                    <a:pt x="893572" y="691769"/>
                    <a:pt x="869442" y="707517"/>
                  </a:cubicBezTo>
                  <a:lnTo>
                    <a:pt x="855599" y="686308"/>
                  </a:lnTo>
                  <a:cubicBezTo>
                    <a:pt x="873760" y="674370"/>
                    <a:pt x="886587" y="655193"/>
                    <a:pt x="889508" y="632968"/>
                  </a:cubicBezTo>
                  <a:close/>
                  <a:moveTo>
                    <a:pt x="839851" y="723900"/>
                  </a:moveTo>
                  <a:lnTo>
                    <a:pt x="763651" y="723900"/>
                  </a:lnTo>
                  <a:lnTo>
                    <a:pt x="763651" y="698500"/>
                  </a:lnTo>
                  <a:lnTo>
                    <a:pt x="839851" y="698500"/>
                  </a:lnTo>
                  <a:close/>
                  <a:moveTo>
                    <a:pt x="662051" y="698500"/>
                  </a:moveTo>
                  <a:lnTo>
                    <a:pt x="585851" y="698500"/>
                  </a:lnTo>
                  <a:lnTo>
                    <a:pt x="662051" y="698500"/>
                  </a:lnTo>
                  <a:close/>
                  <a:moveTo>
                    <a:pt x="484251" y="698500"/>
                  </a:moveTo>
                  <a:lnTo>
                    <a:pt x="408051" y="698500"/>
                  </a:lnTo>
                  <a:lnTo>
                    <a:pt x="484251" y="698500"/>
                  </a:lnTo>
                  <a:close/>
                  <a:moveTo>
                    <a:pt x="306451" y="698500"/>
                  </a:moveTo>
                  <a:lnTo>
                    <a:pt x="230251" y="698500"/>
                  </a:lnTo>
                  <a:lnTo>
                    <a:pt x="306451" y="698500"/>
                  </a:lnTo>
                  <a:close/>
                  <a:moveTo>
                    <a:pt x="128651" y="698500"/>
                  </a:moveTo>
                  <a:lnTo>
                    <a:pt x="102489" y="698500"/>
                  </a:lnTo>
                  <a:lnTo>
                    <a:pt x="102489" y="711200"/>
                  </a:lnTo>
                  <a:lnTo>
                    <a:pt x="102489" y="723900"/>
                  </a:lnTo>
                  <a:cubicBezTo>
                    <a:pt x="82677" y="723900"/>
                    <a:pt x="64008" y="718312"/>
                    <a:pt x="48387" y="708533"/>
                  </a:cubicBezTo>
                  <a:lnTo>
                    <a:pt x="61722" y="686943"/>
                  </a:lnTo>
                  <a:cubicBezTo>
                    <a:pt x="73533" y="694309"/>
                    <a:pt x="87503" y="698500"/>
                    <a:pt x="102489" y="698500"/>
                  </a:cubicBezTo>
                  <a:lnTo>
                    <a:pt x="128778" y="698500"/>
                  </a:lnTo>
                  <a:close/>
                  <a:moveTo>
                    <a:pt x="0" y="611124"/>
                  </a:moveTo>
                  <a:lnTo>
                    <a:pt x="0" y="534924"/>
                  </a:lnTo>
                  <a:lnTo>
                    <a:pt x="25400" y="534924"/>
                  </a:lnTo>
                  <a:lnTo>
                    <a:pt x="25400" y="611124"/>
                  </a:lnTo>
                  <a:close/>
                  <a:moveTo>
                    <a:pt x="25400" y="433324"/>
                  </a:moveTo>
                  <a:lnTo>
                    <a:pt x="25400" y="357124"/>
                  </a:lnTo>
                  <a:lnTo>
                    <a:pt x="25400" y="433324"/>
                  </a:lnTo>
                  <a:close/>
                  <a:moveTo>
                    <a:pt x="25400" y="255524"/>
                  </a:moveTo>
                  <a:lnTo>
                    <a:pt x="25400" y="179324"/>
                  </a:lnTo>
                  <a:lnTo>
                    <a:pt x="25400" y="255524"/>
                  </a:lnTo>
                  <a:close/>
                  <a:moveTo>
                    <a:pt x="0" y="101600"/>
                  </a:moveTo>
                  <a:cubicBezTo>
                    <a:pt x="0" y="70993"/>
                    <a:pt x="13716" y="43434"/>
                    <a:pt x="35306" y="24892"/>
                  </a:cubicBezTo>
                  <a:lnTo>
                    <a:pt x="51816" y="44069"/>
                  </a:lnTo>
                  <a:cubicBezTo>
                    <a:pt x="35560" y="58166"/>
                    <a:pt x="25400" y="78740"/>
                    <a:pt x="25400" y="101600"/>
                  </a:cubicBezTo>
                  <a:close/>
                </a:path>
              </a:pathLst>
            </a:custGeom>
            <a:solidFill>
              <a:srgbClr val="9AA6B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8294789" y="5915025"/>
            <a:ext cx="78194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6B7A8F"/>
                </a:solidFill>
                <a:latin typeface="IBM Plex Sans"/>
                <a:ea typeface="IBM Plex Sans"/>
                <a:cs typeface="IBM Plex Sans"/>
                <a:sym typeface="IBM Plex Sans"/>
              </a:rPr>
              <a:t>10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9114825" y="5838825"/>
            <a:ext cx="743845" cy="542925"/>
            <a:chOff x="0" y="0"/>
            <a:chExt cx="991794" cy="7239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991743" cy="723900"/>
            </a:xfrm>
            <a:custGeom>
              <a:avLst/>
              <a:gdLst/>
              <a:ahLst/>
              <a:cxnLst/>
              <a:rect l="l" t="t" r="r" b="b"/>
              <a:pathLst>
                <a:path w="991743" h="723900">
                  <a:moveTo>
                    <a:pt x="139954" y="0"/>
                  </a:moveTo>
                  <a:lnTo>
                    <a:pt x="216154" y="0"/>
                  </a:lnTo>
                  <a:lnTo>
                    <a:pt x="216154" y="25400"/>
                  </a:lnTo>
                  <a:lnTo>
                    <a:pt x="139954" y="25400"/>
                  </a:lnTo>
                  <a:close/>
                  <a:moveTo>
                    <a:pt x="317754" y="25400"/>
                  </a:moveTo>
                  <a:lnTo>
                    <a:pt x="393954" y="25400"/>
                  </a:lnTo>
                  <a:lnTo>
                    <a:pt x="317754" y="25400"/>
                  </a:lnTo>
                  <a:close/>
                  <a:moveTo>
                    <a:pt x="495554" y="25400"/>
                  </a:moveTo>
                  <a:lnTo>
                    <a:pt x="571754" y="25400"/>
                  </a:lnTo>
                  <a:lnTo>
                    <a:pt x="495554" y="25400"/>
                  </a:lnTo>
                  <a:close/>
                  <a:moveTo>
                    <a:pt x="673354" y="25400"/>
                  </a:moveTo>
                  <a:lnTo>
                    <a:pt x="749554" y="25400"/>
                  </a:lnTo>
                  <a:lnTo>
                    <a:pt x="673354" y="25400"/>
                  </a:lnTo>
                  <a:close/>
                  <a:moveTo>
                    <a:pt x="851154" y="25400"/>
                  </a:moveTo>
                  <a:lnTo>
                    <a:pt x="889381" y="25400"/>
                  </a:lnTo>
                  <a:lnTo>
                    <a:pt x="889381" y="12700"/>
                  </a:lnTo>
                  <a:lnTo>
                    <a:pt x="889381" y="0"/>
                  </a:lnTo>
                  <a:cubicBezTo>
                    <a:pt x="904367" y="0"/>
                    <a:pt x="918591" y="3175"/>
                    <a:pt x="931418" y="8890"/>
                  </a:cubicBezTo>
                  <a:lnTo>
                    <a:pt x="921004" y="32131"/>
                  </a:lnTo>
                  <a:cubicBezTo>
                    <a:pt x="911352" y="27813"/>
                    <a:pt x="900557" y="25400"/>
                    <a:pt x="889254" y="25400"/>
                  </a:cubicBezTo>
                  <a:lnTo>
                    <a:pt x="851154" y="25400"/>
                  </a:lnTo>
                  <a:close/>
                  <a:moveTo>
                    <a:pt x="991743" y="100711"/>
                  </a:moveTo>
                  <a:cubicBezTo>
                    <a:pt x="991743" y="100965"/>
                    <a:pt x="991743" y="101346"/>
                    <a:pt x="991743" y="101600"/>
                  </a:cubicBezTo>
                  <a:lnTo>
                    <a:pt x="979043" y="101600"/>
                  </a:lnTo>
                  <a:lnTo>
                    <a:pt x="991743" y="101600"/>
                  </a:lnTo>
                  <a:lnTo>
                    <a:pt x="991743" y="177038"/>
                  </a:lnTo>
                  <a:lnTo>
                    <a:pt x="966343" y="177038"/>
                  </a:lnTo>
                  <a:lnTo>
                    <a:pt x="966343" y="101600"/>
                  </a:lnTo>
                  <a:cubicBezTo>
                    <a:pt x="966343" y="101346"/>
                    <a:pt x="966343" y="101219"/>
                    <a:pt x="966343" y="100965"/>
                  </a:cubicBezTo>
                  <a:close/>
                  <a:moveTo>
                    <a:pt x="966343" y="278892"/>
                  </a:moveTo>
                  <a:lnTo>
                    <a:pt x="966343" y="355092"/>
                  </a:lnTo>
                  <a:lnTo>
                    <a:pt x="940943" y="355092"/>
                  </a:lnTo>
                  <a:lnTo>
                    <a:pt x="940943" y="278892"/>
                  </a:lnTo>
                  <a:close/>
                  <a:moveTo>
                    <a:pt x="940943" y="456692"/>
                  </a:moveTo>
                  <a:lnTo>
                    <a:pt x="940943" y="532892"/>
                  </a:lnTo>
                  <a:lnTo>
                    <a:pt x="915543" y="532892"/>
                  </a:lnTo>
                  <a:lnTo>
                    <a:pt x="915543" y="456692"/>
                  </a:lnTo>
                  <a:close/>
                  <a:moveTo>
                    <a:pt x="914654" y="636270"/>
                  </a:moveTo>
                  <a:cubicBezTo>
                    <a:pt x="910590" y="666115"/>
                    <a:pt x="893572" y="691769"/>
                    <a:pt x="869442" y="707517"/>
                  </a:cubicBezTo>
                  <a:lnTo>
                    <a:pt x="855599" y="686308"/>
                  </a:lnTo>
                  <a:cubicBezTo>
                    <a:pt x="873760" y="674370"/>
                    <a:pt x="886587" y="655193"/>
                    <a:pt x="889508" y="632968"/>
                  </a:cubicBezTo>
                  <a:close/>
                  <a:moveTo>
                    <a:pt x="839851" y="723900"/>
                  </a:moveTo>
                  <a:lnTo>
                    <a:pt x="763651" y="723900"/>
                  </a:lnTo>
                  <a:lnTo>
                    <a:pt x="763651" y="698500"/>
                  </a:lnTo>
                  <a:lnTo>
                    <a:pt x="839851" y="698500"/>
                  </a:lnTo>
                  <a:close/>
                  <a:moveTo>
                    <a:pt x="662051" y="698500"/>
                  </a:moveTo>
                  <a:lnTo>
                    <a:pt x="585851" y="698500"/>
                  </a:lnTo>
                  <a:lnTo>
                    <a:pt x="662051" y="698500"/>
                  </a:lnTo>
                  <a:close/>
                  <a:moveTo>
                    <a:pt x="484251" y="698500"/>
                  </a:moveTo>
                  <a:lnTo>
                    <a:pt x="408051" y="698500"/>
                  </a:lnTo>
                  <a:lnTo>
                    <a:pt x="484251" y="698500"/>
                  </a:lnTo>
                  <a:close/>
                  <a:moveTo>
                    <a:pt x="306451" y="698500"/>
                  </a:moveTo>
                  <a:lnTo>
                    <a:pt x="230251" y="698500"/>
                  </a:lnTo>
                  <a:lnTo>
                    <a:pt x="306451" y="698500"/>
                  </a:lnTo>
                  <a:close/>
                  <a:moveTo>
                    <a:pt x="128651" y="698500"/>
                  </a:moveTo>
                  <a:lnTo>
                    <a:pt x="102489" y="698500"/>
                  </a:lnTo>
                  <a:lnTo>
                    <a:pt x="102489" y="711200"/>
                  </a:lnTo>
                  <a:lnTo>
                    <a:pt x="102489" y="723900"/>
                  </a:lnTo>
                  <a:cubicBezTo>
                    <a:pt x="82677" y="723900"/>
                    <a:pt x="64008" y="718312"/>
                    <a:pt x="48387" y="708533"/>
                  </a:cubicBezTo>
                  <a:lnTo>
                    <a:pt x="61722" y="686943"/>
                  </a:lnTo>
                  <a:cubicBezTo>
                    <a:pt x="73533" y="694309"/>
                    <a:pt x="87503" y="698500"/>
                    <a:pt x="102489" y="698500"/>
                  </a:cubicBezTo>
                  <a:lnTo>
                    <a:pt x="128778" y="698500"/>
                  </a:lnTo>
                  <a:close/>
                  <a:moveTo>
                    <a:pt x="0" y="611124"/>
                  </a:moveTo>
                  <a:lnTo>
                    <a:pt x="0" y="534924"/>
                  </a:lnTo>
                  <a:lnTo>
                    <a:pt x="25400" y="534924"/>
                  </a:lnTo>
                  <a:lnTo>
                    <a:pt x="25400" y="611124"/>
                  </a:lnTo>
                  <a:close/>
                  <a:moveTo>
                    <a:pt x="25400" y="433324"/>
                  </a:moveTo>
                  <a:lnTo>
                    <a:pt x="25400" y="357124"/>
                  </a:lnTo>
                  <a:lnTo>
                    <a:pt x="25400" y="433324"/>
                  </a:lnTo>
                  <a:close/>
                  <a:moveTo>
                    <a:pt x="25400" y="255524"/>
                  </a:moveTo>
                  <a:lnTo>
                    <a:pt x="25400" y="179324"/>
                  </a:lnTo>
                  <a:lnTo>
                    <a:pt x="25400" y="255524"/>
                  </a:lnTo>
                  <a:close/>
                  <a:moveTo>
                    <a:pt x="0" y="101600"/>
                  </a:moveTo>
                  <a:cubicBezTo>
                    <a:pt x="0" y="70993"/>
                    <a:pt x="13716" y="43434"/>
                    <a:pt x="35306" y="24892"/>
                  </a:cubicBezTo>
                  <a:lnTo>
                    <a:pt x="51816" y="44069"/>
                  </a:lnTo>
                  <a:cubicBezTo>
                    <a:pt x="35560" y="58166"/>
                    <a:pt x="25400" y="78740"/>
                    <a:pt x="25400" y="101600"/>
                  </a:cubicBezTo>
                  <a:close/>
                </a:path>
              </a:pathLst>
            </a:custGeom>
            <a:solidFill>
              <a:srgbClr val="9AA6B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9095775" y="5915025"/>
            <a:ext cx="78194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6B7A8F"/>
                </a:solidFill>
                <a:latin typeface="IBM Plex Sans"/>
                <a:ea typeface="IBM Plex Sans"/>
                <a:cs typeface="IBM Plex Sans"/>
                <a:sym typeface="IBM Plex Sans"/>
              </a:rPr>
              <a:t>11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9915820" y="5838825"/>
            <a:ext cx="743845" cy="542925"/>
            <a:chOff x="0" y="0"/>
            <a:chExt cx="991794" cy="7239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991743" cy="723900"/>
            </a:xfrm>
            <a:custGeom>
              <a:avLst/>
              <a:gdLst/>
              <a:ahLst/>
              <a:cxnLst/>
              <a:rect l="l" t="t" r="r" b="b"/>
              <a:pathLst>
                <a:path w="991743" h="723900">
                  <a:moveTo>
                    <a:pt x="139954" y="0"/>
                  </a:moveTo>
                  <a:lnTo>
                    <a:pt x="216154" y="0"/>
                  </a:lnTo>
                  <a:lnTo>
                    <a:pt x="216154" y="25400"/>
                  </a:lnTo>
                  <a:lnTo>
                    <a:pt x="139954" y="25400"/>
                  </a:lnTo>
                  <a:close/>
                  <a:moveTo>
                    <a:pt x="317754" y="25400"/>
                  </a:moveTo>
                  <a:lnTo>
                    <a:pt x="393954" y="25400"/>
                  </a:lnTo>
                  <a:lnTo>
                    <a:pt x="317754" y="25400"/>
                  </a:lnTo>
                  <a:close/>
                  <a:moveTo>
                    <a:pt x="495554" y="25400"/>
                  </a:moveTo>
                  <a:lnTo>
                    <a:pt x="571754" y="25400"/>
                  </a:lnTo>
                  <a:lnTo>
                    <a:pt x="495554" y="25400"/>
                  </a:lnTo>
                  <a:close/>
                  <a:moveTo>
                    <a:pt x="673354" y="25400"/>
                  </a:moveTo>
                  <a:lnTo>
                    <a:pt x="749554" y="25400"/>
                  </a:lnTo>
                  <a:lnTo>
                    <a:pt x="673354" y="25400"/>
                  </a:lnTo>
                  <a:close/>
                  <a:moveTo>
                    <a:pt x="851154" y="25400"/>
                  </a:moveTo>
                  <a:lnTo>
                    <a:pt x="889381" y="25400"/>
                  </a:lnTo>
                  <a:lnTo>
                    <a:pt x="889381" y="12700"/>
                  </a:lnTo>
                  <a:lnTo>
                    <a:pt x="889381" y="0"/>
                  </a:lnTo>
                  <a:cubicBezTo>
                    <a:pt x="904367" y="0"/>
                    <a:pt x="918591" y="3175"/>
                    <a:pt x="931418" y="8890"/>
                  </a:cubicBezTo>
                  <a:lnTo>
                    <a:pt x="921004" y="32131"/>
                  </a:lnTo>
                  <a:cubicBezTo>
                    <a:pt x="911352" y="27813"/>
                    <a:pt x="900557" y="25400"/>
                    <a:pt x="889254" y="25400"/>
                  </a:cubicBezTo>
                  <a:lnTo>
                    <a:pt x="851154" y="25400"/>
                  </a:lnTo>
                  <a:close/>
                  <a:moveTo>
                    <a:pt x="991743" y="100711"/>
                  </a:moveTo>
                  <a:cubicBezTo>
                    <a:pt x="991743" y="100965"/>
                    <a:pt x="991743" y="101346"/>
                    <a:pt x="991743" y="101600"/>
                  </a:cubicBezTo>
                  <a:lnTo>
                    <a:pt x="979043" y="101600"/>
                  </a:lnTo>
                  <a:lnTo>
                    <a:pt x="991743" y="101600"/>
                  </a:lnTo>
                  <a:lnTo>
                    <a:pt x="991743" y="177038"/>
                  </a:lnTo>
                  <a:lnTo>
                    <a:pt x="966343" y="177038"/>
                  </a:lnTo>
                  <a:lnTo>
                    <a:pt x="966343" y="101600"/>
                  </a:lnTo>
                  <a:cubicBezTo>
                    <a:pt x="966343" y="101346"/>
                    <a:pt x="966343" y="101219"/>
                    <a:pt x="966343" y="100965"/>
                  </a:cubicBezTo>
                  <a:close/>
                  <a:moveTo>
                    <a:pt x="966343" y="278892"/>
                  </a:moveTo>
                  <a:lnTo>
                    <a:pt x="966343" y="355092"/>
                  </a:lnTo>
                  <a:lnTo>
                    <a:pt x="940943" y="355092"/>
                  </a:lnTo>
                  <a:lnTo>
                    <a:pt x="940943" y="278892"/>
                  </a:lnTo>
                  <a:close/>
                  <a:moveTo>
                    <a:pt x="940943" y="456692"/>
                  </a:moveTo>
                  <a:lnTo>
                    <a:pt x="940943" y="532892"/>
                  </a:lnTo>
                  <a:lnTo>
                    <a:pt x="915543" y="532892"/>
                  </a:lnTo>
                  <a:lnTo>
                    <a:pt x="915543" y="456692"/>
                  </a:lnTo>
                  <a:close/>
                  <a:moveTo>
                    <a:pt x="914654" y="636270"/>
                  </a:moveTo>
                  <a:cubicBezTo>
                    <a:pt x="910590" y="666115"/>
                    <a:pt x="893572" y="691769"/>
                    <a:pt x="869442" y="707517"/>
                  </a:cubicBezTo>
                  <a:lnTo>
                    <a:pt x="855599" y="686308"/>
                  </a:lnTo>
                  <a:cubicBezTo>
                    <a:pt x="873760" y="674370"/>
                    <a:pt x="886587" y="655193"/>
                    <a:pt x="889508" y="632968"/>
                  </a:cubicBezTo>
                  <a:close/>
                  <a:moveTo>
                    <a:pt x="839851" y="723900"/>
                  </a:moveTo>
                  <a:lnTo>
                    <a:pt x="763651" y="723900"/>
                  </a:lnTo>
                  <a:lnTo>
                    <a:pt x="763651" y="698500"/>
                  </a:lnTo>
                  <a:lnTo>
                    <a:pt x="839851" y="698500"/>
                  </a:lnTo>
                  <a:close/>
                  <a:moveTo>
                    <a:pt x="662051" y="698500"/>
                  </a:moveTo>
                  <a:lnTo>
                    <a:pt x="585851" y="698500"/>
                  </a:lnTo>
                  <a:lnTo>
                    <a:pt x="662051" y="698500"/>
                  </a:lnTo>
                  <a:close/>
                  <a:moveTo>
                    <a:pt x="484251" y="698500"/>
                  </a:moveTo>
                  <a:lnTo>
                    <a:pt x="408051" y="698500"/>
                  </a:lnTo>
                  <a:lnTo>
                    <a:pt x="484251" y="698500"/>
                  </a:lnTo>
                  <a:close/>
                  <a:moveTo>
                    <a:pt x="306451" y="698500"/>
                  </a:moveTo>
                  <a:lnTo>
                    <a:pt x="230251" y="698500"/>
                  </a:lnTo>
                  <a:lnTo>
                    <a:pt x="306451" y="698500"/>
                  </a:lnTo>
                  <a:close/>
                  <a:moveTo>
                    <a:pt x="128651" y="698500"/>
                  </a:moveTo>
                  <a:lnTo>
                    <a:pt x="102489" y="698500"/>
                  </a:lnTo>
                  <a:lnTo>
                    <a:pt x="102489" y="711200"/>
                  </a:lnTo>
                  <a:lnTo>
                    <a:pt x="102489" y="723900"/>
                  </a:lnTo>
                  <a:cubicBezTo>
                    <a:pt x="82677" y="723900"/>
                    <a:pt x="64008" y="718312"/>
                    <a:pt x="48387" y="708533"/>
                  </a:cubicBezTo>
                  <a:lnTo>
                    <a:pt x="61722" y="686943"/>
                  </a:lnTo>
                  <a:cubicBezTo>
                    <a:pt x="73533" y="694309"/>
                    <a:pt x="87503" y="698500"/>
                    <a:pt x="102489" y="698500"/>
                  </a:cubicBezTo>
                  <a:lnTo>
                    <a:pt x="128778" y="698500"/>
                  </a:lnTo>
                  <a:close/>
                  <a:moveTo>
                    <a:pt x="0" y="611124"/>
                  </a:moveTo>
                  <a:lnTo>
                    <a:pt x="0" y="534924"/>
                  </a:lnTo>
                  <a:lnTo>
                    <a:pt x="25400" y="534924"/>
                  </a:lnTo>
                  <a:lnTo>
                    <a:pt x="25400" y="611124"/>
                  </a:lnTo>
                  <a:close/>
                  <a:moveTo>
                    <a:pt x="25400" y="433324"/>
                  </a:moveTo>
                  <a:lnTo>
                    <a:pt x="25400" y="357124"/>
                  </a:lnTo>
                  <a:lnTo>
                    <a:pt x="25400" y="433324"/>
                  </a:lnTo>
                  <a:close/>
                  <a:moveTo>
                    <a:pt x="25400" y="255524"/>
                  </a:moveTo>
                  <a:lnTo>
                    <a:pt x="25400" y="179324"/>
                  </a:lnTo>
                  <a:lnTo>
                    <a:pt x="25400" y="255524"/>
                  </a:lnTo>
                  <a:close/>
                  <a:moveTo>
                    <a:pt x="0" y="101600"/>
                  </a:moveTo>
                  <a:cubicBezTo>
                    <a:pt x="0" y="70993"/>
                    <a:pt x="13716" y="43434"/>
                    <a:pt x="35306" y="24892"/>
                  </a:cubicBezTo>
                  <a:lnTo>
                    <a:pt x="51816" y="44069"/>
                  </a:lnTo>
                  <a:cubicBezTo>
                    <a:pt x="35560" y="58166"/>
                    <a:pt x="25400" y="78740"/>
                    <a:pt x="25400" y="101600"/>
                  </a:cubicBezTo>
                  <a:close/>
                </a:path>
              </a:pathLst>
            </a:custGeom>
            <a:solidFill>
              <a:srgbClr val="9AA6B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9896770" y="5915025"/>
            <a:ext cx="78194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6B7A8F"/>
                </a:solidFill>
                <a:latin typeface="IBM Plex Sans"/>
                <a:ea typeface="IBM Plex Sans"/>
                <a:cs typeface="IBM Plex Sans"/>
                <a:sym typeface="IBM Plex Sans"/>
              </a:rPr>
              <a:t>12</a:t>
            </a:r>
          </a:p>
        </p:txBody>
      </p:sp>
      <p:grpSp>
        <p:nvGrpSpPr>
          <p:cNvPr id="58" name="Group 58"/>
          <p:cNvGrpSpPr/>
          <p:nvPr/>
        </p:nvGrpSpPr>
        <p:grpSpPr>
          <a:xfrm>
            <a:off x="10716816" y="5838825"/>
            <a:ext cx="743845" cy="542925"/>
            <a:chOff x="0" y="0"/>
            <a:chExt cx="991794" cy="7239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991743" cy="723900"/>
            </a:xfrm>
            <a:custGeom>
              <a:avLst/>
              <a:gdLst/>
              <a:ahLst/>
              <a:cxnLst/>
              <a:rect l="l" t="t" r="r" b="b"/>
              <a:pathLst>
                <a:path w="991743" h="723900">
                  <a:moveTo>
                    <a:pt x="139954" y="0"/>
                  </a:moveTo>
                  <a:lnTo>
                    <a:pt x="216154" y="0"/>
                  </a:lnTo>
                  <a:lnTo>
                    <a:pt x="216154" y="25400"/>
                  </a:lnTo>
                  <a:lnTo>
                    <a:pt x="139954" y="25400"/>
                  </a:lnTo>
                  <a:close/>
                  <a:moveTo>
                    <a:pt x="317754" y="25400"/>
                  </a:moveTo>
                  <a:lnTo>
                    <a:pt x="393954" y="25400"/>
                  </a:lnTo>
                  <a:lnTo>
                    <a:pt x="317754" y="25400"/>
                  </a:lnTo>
                  <a:close/>
                  <a:moveTo>
                    <a:pt x="495554" y="25400"/>
                  </a:moveTo>
                  <a:lnTo>
                    <a:pt x="571754" y="25400"/>
                  </a:lnTo>
                  <a:lnTo>
                    <a:pt x="495554" y="25400"/>
                  </a:lnTo>
                  <a:close/>
                  <a:moveTo>
                    <a:pt x="673354" y="25400"/>
                  </a:moveTo>
                  <a:lnTo>
                    <a:pt x="749554" y="25400"/>
                  </a:lnTo>
                  <a:lnTo>
                    <a:pt x="673354" y="25400"/>
                  </a:lnTo>
                  <a:close/>
                  <a:moveTo>
                    <a:pt x="851154" y="25400"/>
                  </a:moveTo>
                  <a:lnTo>
                    <a:pt x="889381" y="25400"/>
                  </a:lnTo>
                  <a:lnTo>
                    <a:pt x="889381" y="12700"/>
                  </a:lnTo>
                  <a:lnTo>
                    <a:pt x="889381" y="0"/>
                  </a:lnTo>
                  <a:cubicBezTo>
                    <a:pt x="904367" y="0"/>
                    <a:pt x="918591" y="3175"/>
                    <a:pt x="931418" y="8890"/>
                  </a:cubicBezTo>
                  <a:lnTo>
                    <a:pt x="921004" y="32131"/>
                  </a:lnTo>
                  <a:cubicBezTo>
                    <a:pt x="911352" y="27813"/>
                    <a:pt x="900557" y="25400"/>
                    <a:pt x="889254" y="25400"/>
                  </a:cubicBezTo>
                  <a:lnTo>
                    <a:pt x="851154" y="25400"/>
                  </a:lnTo>
                  <a:close/>
                  <a:moveTo>
                    <a:pt x="991743" y="100711"/>
                  </a:moveTo>
                  <a:cubicBezTo>
                    <a:pt x="991743" y="100965"/>
                    <a:pt x="991743" y="101346"/>
                    <a:pt x="991743" y="101600"/>
                  </a:cubicBezTo>
                  <a:lnTo>
                    <a:pt x="979043" y="101600"/>
                  </a:lnTo>
                  <a:lnTo>
                    <a:pt x="991743" y="101600"/>
                  </a:lnTo>
                  <a:lnTo>
                    <a:pt x="991743" y="177038"/>
                  </a:lnTo>
                  <a:lnTo>
                    <a:pt x="966343" y="177038"/>
                  </a:lnTo>
                  <a:lnTo>
                    <a:pt x="966343" y="101600"/>
                  </a:lnTo>
                  <a:cubicBezTo>
                    <a:pt x="966343" y="101346"/>
                    <a:pt x="966343" y="101219"/>
                    <a:pt x="966343" y="100965"/>
                  </a:cubicBezTo>
                  <a:close/>
                  <a:moveTo>
                    <a:pt x="966343" y="278892"/>
                  </a:moveTo>
                  <a:lnTo>
                    <a:pt x="966343" y="355092"/>
                  </a:lnTo>
                  <a:lnTo>
                    <a:pt x="940943" y="355092"/>
                  </a:lnTo>
                  <a:lnTo>
                    <a:pt x="940943" y="278892"/>
                  </a:lnTo>
                  <a:close/>
                  <a:moveTo>
                    <a:pt x="940943" y="456692"/>
                  </a:moveTo>
                  <a:lnTo>
                    <a:pt x="940943" y="532892"/>
                  </a:lnTo>
                  <a:lnTo>
                    <a:pt x="915543" y="532892"/>
                  </a:lnTo>
                  <a:lnTo>
                    <a:pt x="915543" y="456692"/>
                  </a:lnTo>
                  <a:close/>
                  <a:moveTo>
                    <a:pt x="914654" y="636270"/>
                  </a:moveTo>
                  <a:cubicBezTo>
                    <a:pt x="910590" y="666115"/>
                    <a:pt x="893572" y="691769"/>
                    <a:pt x="869442" y="707517"/>
                  </a:cubicBezTo>
                  <a:lnTo>
                    <a:pt x="855599" y="686308"/>
                  </a:lnTo>
                  <a:cubicBezTo>
                    <a:pt x="873760" y="674370"/>
                    <a:pt x="886587" y="655193"/>
                    <a:pt x="889508" y="632968"/>
                  </a:cubicBezTo>
                  <a:close/>
                  <a:moveTo>
                    <a:pt x="839851" y="723900"/>
                  </a:moveTo>
                  <a:lnTo>
                    <a:pt x="763651" y="723900"/>
                  </a:lnTo>
                  <a:lnTo>
                    <a:pt x="763651" y="698500"/>
                  </a:lnTo>
                  <a:lnTo>
                    <a:pt x="839851" y="698500"/>
                  </a:lnTo>
                  <a:close/>
                  <a:moveTo>
                    <a:pt x="662051" y="698500"/>
                  </a:moveTo>
                  <a:lnTo>
                    <a:pt x="585851" y="698500"/>
                  </a:lnTo>
                  <a:lnTo>
                    <a:pt x="662051" y="698500"/>
                  </a:lnTo>
                  <a:close/>
                  <a:moveTo>
                    <a:pt x="484251" y="698500"/>
                  </a:moveTo>
                  <a:lnTo>
                    <a:pt x="408051" y="698500"/>
                  </a:lnTo>
                  <a:lnTo>
                    <a:pt x="484251" y="698500"/>
                  </a:lnTo>
                  <a:close/>
                  <a:moveTo>
                    <a:pt x="306451" y="698500"/>
                  </a:moveTo>
                  <a:lnTo>
                    <a:pt x="230251" y="698500"/>
                  </a:lnTo>
                  <a:lnTo>
                    <a:pt x="306451" y="698500"/>
                  </a:lnTo>
                  <a:close/>
                  <a:moveTo>
                    <a:pt x="128651" y="698500"/>
                  </a:moveTo>
                  <a:lnTo>
                    <a:pt x="102489" y="698500"/>
                  </a:lnTo>
                  <a:lnTo>
                    <a:pt x="102489" y="711200"/>
                  </a:lnTo>
                  <a:lnTo>
                    <a:pt x="102489" y="723900"/>
                  </a:lnTo>
                  <a:cubicBezTo>
                    <a:pt x="82677" y="723900"/>
                    <a:pt x="64008" y="718312"/>
                    <a:pt x="48387" y="708533"/>
                  </a:cubicBezTo>
                  <a:lnTo>
                    <a:pt x="61722" y="686943"/>
                  </a:lnTo>
                  <a:cubicBezTo>
                    <a:pt x="73533" y="694309"/>
                    <a:pt x="87503" y="698500"/>
                    <a:pt x="102489" y="698500"/>
                  </a:cubicBezTo>
                  <a:lnTo>
                    <a:pt x="128778" y="698500"/>
                  </a:lnTo>
                  <a:close/>
                  <a:moveTo>
                    <a:pt x="0" y="611124"/>
                  </a:moveTo>
                  <a:lnTo>
                    <a:pt x="0" y="534924"/>
                  </a:lnTo>
                  <a:lnTo>
                    <a:pt x="25400" y="534924"/>
                  </a:lnTo>
                  <a:lnTo>
                    <a:pt x="25400" y="611124"/>
                  </a:lnTo>
                  <a:close/>
                  <a:moveTo>
                    <a:pt x="25400" y="433324"/>
                  </a:moveTo>
                  <a:lnTo>
                    <a:pt x="25400" y="357124"/>
                  </a:lnTo>
                  <a:lnTo>
                    <a:pt x="25400" y="433324"/>
                  </a:lnTo>
                  <a:close/>
                  <a:moveTo>
                    <a:pt x="25400" y="255524"/>
                  </a:moveTo>
                  <a:lnTo>
                    <a:pt x="25400" y="179324"/>
                  </a:lnTo>
                  <a:lnTo>
                    <a:pt x="25400" y="255524"/>
                  </a:lnTo>
                  <a:close/>
                  <a:moveTo>
                    <a:pt x="0" y="101600"/>
                  </a:moveTo>
                  <a:cubicBezTo>
                    <a:pt x="0" y="70993"/>
                    <a:pt x="13716" y="43434"/>
                    <a:pt x="35306" y="24892"/>
                  </a:cubicBezTo>
                  <a:lnTo>
                    <a:pt x="51816" y="44069"/>
                  </a:lnTo>
                  <a:cubicBezTo>
                    <a:pt x="35560" y="58166"/>
                    <a:pt x="25400" y="78740"/>
                    <a:pt x="25400" y="101600"/>
                  </a:cubicBezTo>
                  <a:close/>
                </a:path>
              </a:pathLst>
            </a:custGeom>
            <a:solidFill>
              <a:srgbClr val="9AA6B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10697766" y="5915025"/>
            <a:ext cx="78194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6B7A8F"/>
                </a:solidFill>
                <a:latin typeface="IBM Plex Sans"/>
                <a:ea typeface="IBM Plex Sans"/>
                <a:cs typeface="IBM Plex Sans"/>
                <a:sym typeface="IBM Plex Sans"/>
              </a:rPr>
              <a:t>13</a:t>
            </a:r>
          </a:p>
        </p:txBody>
      </p:sp>
      <p:grpSp>
        <p:nvGrpSpPr>
          <p:cNvPr id="61" name="Group 61"/>
          <p:cNvGrpSpPr/>
          <p:nvPr/>
        </p:nvGrpSpPr>
        <p:grpSpPr>
          <a:xfrm>
            <a:off x="11517811" y="5838825"/>
            <a:ext cx="743845" cy="542925"/>
            <a:chOff x="0" y="0"/>
            <a:chExt cx="991794" cy="7239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991743" cy="723900"/>
            </a:xfrm>
            <a:custGeom>
              <a:avLst/>
              <a:gdLst/>
              <a:ahLst/>
              <a:cxnLst/>
              <a:rect l="l" t="t" r="r" b="b"/>
              <a:pathLst>
                <a:path w="991743" h="723900">
                  <a:moveTo>
                    <a:pt x="139954" y="0"/>
                  </a:moveTo>
                  <a:lnTo>
                    <a:pt x="216154" y="0"/>
                  </a:lnTo>
                  <a:lnTo>
                    <a:pt x="216154" y="25400"/>
                  </a:lnTo>
                  <a:lnTo>
                    <a:pt x="139954" y="25400"/>
                  </a:lnTo>
                  <a:close/>
                  <a:moveTo>
                    <a:pt x="317754" y="25400"/>
                  </a:moveTo>
                  <a:lnTo>
                    <a:pt x="393954" y="25400"/>
                  </a:lnTo>
                  <a:lnTo>
                    <a:pt x="317754" y="25400"/>
                  </a:lnTo>
                  <a:close/>
                  <a:moveTo>
                    <a:pt x="495554" y="25400"/>
                  </a:moveTo>
                  <a:lnTo>
                    <a:pt x="571754" y="25400"/>
                  </a:lnTo>
                  <a:lnTo>
                    <a:pt x="495554" y="25400"/>
                  </a:lnTo>
                  <a:close/>
                  <a:moveTo>
                    <a:pt x="673354" y="25400"/>
                  </a:moveTo>
                  <a:lnTo>
                    <a:pt x="749554" y="25400"/>
                  </a:lnTo>
                  <a:lnTo>
                    <a:pt x="673354" y="25400"/>
                  </a:lnTo>
                  <a:close/>
                  <a:moveTo>
                    <a:pt x="851154" y="25400"/>
                  </a:moveTo>
                  <a:lnTo>
                    <a:pt x="889381" y="25400"/>
                  </a:lnTo>
                  <a:lnTo>
                    <a:pt x="889381" y="12700"/>
                  </a:lnTo>
                  <a:lnTo>
                    <a:pt x="889381" y="0"/>
                  </a:lnTo>
                  <a:cubicBezTo>
                    <a:pt x="904367" y="0"/>
                    <a:pt x="918591" y="3175"/>
                    <a:pt x="931418" y="8890"/>
                  </a:cubicBezTo>
                  <a:lnTo>
                    <a:pt x="921004" y="32131"/>
                  </a:lnTo>
                  <a:cubicBezTo>
                    <a:pt x="911352" y="27813"/>
                    <a:pt x="900557" y="25400"/>
                    <a:pt x="889254" y="25400"/>
                  </a:cubicBezTo>
                  <a:lnTo>
                    <a:pt x="851154" y="25400"/>
                  </a:lnTo>
                  <a:close/>
                  <a:moveTo>
                    <a:pt x="991743" y="100711"/>
                  </a:moveTo>
                  <a:cubicBezTo>
                    <a:pt x="991743" y="100965"/>
                    <a:pt x="991743" y="101346"/>
                    <a:pt x="991743" y="101600"/>
                  </a:cubicBezTo>
                  <a:lnTo>
                    <a:pt x="979043" y="101600"/>
                  </a:lnTo>
                  <a:lnTo>
                    <a:pt x="991743" y="101600"/>
                  </a:lnTo>
                  <a:lnTo>
                    <a:pt x="991743" y="177038"/>
                  </a:lnTo>
                  <a:lnTo>
                    <a:pt x="966343" y="177038"/>
                  </a:lnTo>
                  <a:lnTo>
                    <a:pt x="966343" y="101600"/>
                  </a:lnTo>
                  <a:cubicBezTo>
                    <a:pt x="966343" y="101346"/>
                    <a:pt x="966343" y="101219"/>
                    <a:pt x="966343" y="100965"/>
                  </a:cubicBezTo>
                  <a:close/>
                  <a:moveTo>
                    <a:pt x="966343" y="278892"/>
                  </a:moveTo>
                  <a:lnTo>
                    <a:pt x="966343" y="355092"/>
                  </a:lnTo>
                  <a:lnTo>
                    <a:pt x="940943" y="355092"/>
                  </a:lnTo>
                  <a:lnTo>
                    <a:pt x="940943" y="278892"/>
                  </a:lnTo>
                  <a:close/>
                  <a:moveTo>
                    <a:pt x="940943" y="456692"/>
                  </a:moveTo>
                  <a:lnTo>
                    <a:pt x="940943" y="532892"/>
                  </a:lnTo>
                  <a:lnTo>
                    <a:pt x="915543" y="532892"/>
                  </a:lnTo>
                  <a:lnTo>
                    <a:pt x="915543" y="456692"/>
                  </a:lnTo>
                  <a:close/>
                  <a:moveTo>
                    <a:pt x="914654" y="636270"/>
                  </a:moveTo>
                  <a:cubicBezTo>
                    <a:pt x="910590" y="666115"/>
                    <a:pt x="893572" y="691769"/>
                    <a:pt x="869442" y="707517"/>
                  </a:cubicBezTo>
                  <a:lnTo>
                    <a:pt x="855599" y="686308"/>
                  </a:lnTo>
                  <a:cubicBezTo>
                    <a:pt x="873760" y="674370"/>
                    <a:pt x="886587" y="655193"/>
                    <a:pt x="889508" y="632968"/>
                  </a:cubicBezTo>
                  <a:close/>
                  <a:moveTo>
                    <a:pt x="839851" y="723900"/>
                  </a:moveTo>
                  <a:lnTo>
                    <a:pt x="763651" y="723900"/>
                  </a:lnTo>
                  <a:lnTo>
                    <a:pt x="763651" y="698500"/>
                  </a:lnTo>
                  <a:lnTo>
                    <a:pt x="839851" y="698500"/>
                  </a:lnTo>
                  <a:close/>
                  <a:moveTo>
                    <a:pt x="662051" y="698500"/>
                  </a:moveTo>
                  <a:lnTo>
                    <a:pt x="585851" y="698500"/>
                  </a:lnTo>
                  <a:lnTo>
                    <a:pt x="662051" y="698500"/>
                  </a:lnTo>
                  <a:close/>
                  <a:moveTo>
                    <a:pt x="484251" y="698500"/>
                  </a:moveTo>
                  <a:lnTo>
                    <a:pt x="408051" y="698500"/>
                  </a:lnTo>
                  <a:lnTo>
                    <a:pt x="484251" y="698500"/>
                  </a:lnTo>
                  <a:close/>
                  <a:moveTo>
                    <a:pt x="306451" y="698500"/>
                  </a:moveTo>
                  <a:lnTo>
                    <a:pt x="230251" y="698500"/>
                  </a:lnTo>
                  <a:lnTo>
                    <a:pt x="306451" y="698500"/>
                  </a:lnTo>
                  <a:close/>
                  <a:moveTo>
                    <a:pt x="128651" y="698500"/>
                  </a:moveTo>
                  <a:lnTo>
                    <a:pt x="102489" y="698500"/>
                  </a:lnTo>
                  <a:lnTo>
                    <a:pt x="102489" y="711200"/>
                  </a:lnTo>
                  <a:lnTo>
                    <a:pt x="102489" y="723900"/>
                  </a:lnTo>
                  <a:cubicBezTo>
                    <a:pt x="82677" y="723900"/>
                    <a:pt x="64008" y="718312"/>
                    <a:pt x="48387" y="708533"/>
                  </a:cubicBezTo>
                  <a:lnTo>
                    <a:pt x="61722" y="686943"/>
                  </a:lnTo>
                  <a:cubicBezTo>
                    <a:pt x="73533" y="694309"/>
                    <a:pt x="87503" y="698500"/>
                    <a:pt x="102489" y="698500"/>
                  </a:cubicBezTo>
                  <a:lnTo>
                    <a:pt x="128778" y="698500"/>
                  </a:lnTo>
                  <a:close/>
                  <a:moveTo>
                    <a:pt x="0" y="611124"/>
                  </a:moveTo>
                  <a:lnTo>
                    <a:pt x="0" y="534924"/>
                  </a:lnTo>
                  <a:lnTo>
                    <a:pt x="25400" y="534924"/>
                  </a:lnTo>
                  <a:lnTo>
                    <a:pt x="25400" y="611124"/>
                  </a:lnTo>
                  <a:close/>
                  <a:moveTo>
                    <a:pt x="25400" y="433324"/>
                  </a:moveTo>
                  <a:lnTo>
                    <a:pt x="25400" y="357124"/>
                  </a:lnTo>
                  <a:lnTo>
                    <a:pt x="25400" y="433324"/>
                  </a:lnTo>
                  <a:close/>
                  <a:moveTo>
                    <a:pt x="25400" y="255524"/>
                  </a:moveTo>
                  <a:lnTo>
                    <a:pt x="25400" y="179324"/>
                  </a:lnTo>
                  <a:lnTo>
                    <a:pt x="25400" y="255524"/>
                  </a:lnTo>
                  <a:close/>
                  <a:moveTo>
                    <a:pt x="0" y="101600"/>
                  </a:moveTo>
                  <a:cubicBezTo>
                    <a:pt x="0" y="70993"/>
                    <a:pt x="13716" y="43434"/>
                    <a:pt x="35306" y="24892"/>
                  </a:cubicBezTo>
                  <a:lnTo>
                    <a:pt x="51816" y="44069"/>
                  </a:lnTo>
                  <a:cubicBezTo>
                    <a:pt x="35560" y="58166"/>
                    <a:pt x="25400" y="78740"/>
                    <a:pt x="25400" y="101600"/>
                  </a:cubicBezTo>
                  <a:close/>
                </a:path>
              </a:pathLst>
            </a:custGeom>
            <a:solidFill>
              <a:srgbClr val="9AA6B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11498761" y="5915025"/>
            <a:ext cx="78194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6B7A8F"/>
                </a:solidFill>
                <a:latin typeface="IBM Plex Sans"/>
                <a:ea typeface="IBM Plex Sans"/>
                <a:cs typeface="IBM Plex Sans"/>
                <a:sym typeface="IBM Plex Sans"/>
              </a:rPr>
              <a:t>14</a:t>
            </a:r>
          </a:p>
        </p:txBody>
      </p:sp>
      <p:grpSp>
        <p:nvGrpSpPr>
          <p:cNvPr id="64" name="Group 64"/>
          <p:cNvGrpSpPr/>
          <p:nvPr/>
        </p:nvGrpSpPr>
        <p:grpSpPr>
          <a:xfrm>
            <a:off x="12318797" y="5838825"/>
            <a:ext cx="743845" cy="542925"/>
            <a:chOff x="0" y="0"/>
            <a:chExt cx="991794" cy="72390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991743" cy="723900"/>
            </a:xfrm>
            <a:custGeom>
              <a:avLst/>
              <a:gdLst/>
              <a:ahLst/>
              <a:cxnLst/>
              <a:rect l="l" t="t" r="r" b="b"/>
              <a:pathLst>
                <a:path w="991743" h="723900">
                  <a:moveTo>
                    <a:pt x="139954" y="0"/>
                  </a:moveTo>
                  <a:lnTo>
                    <a:pt x="216154" y="0"/>
                  </a:lnTo>
                  <a:lnTo>
                    <a:pt x="216154" y="25400"/>
                  </a:lnTo>
                  <a:lnTo>
                    <a:pt x="139954" y="25400"/>
                  </a:lnTo>
                  <a:close/>
                  <a:moveTo>
                    <a:pt x="317754" y="25400"/>
                  </a:moveTo>
                  <a:lnTo>
                    <a:pt x="393954" y="25400"/>
                  </a:lnTo>
                  <a:lnTo>
                    <a:pt x="317754" y="25400"/>
                  </a:lnTo>
                  <a:close/>
                  <a:moveTo>
                    <a:pt x="495554" y="25400"/>
                  </a:moveTo>
                  <a:lnTo>
                    <a:pt x="571754" y="25400"/>
                  </a:lnTo>
                  <a:lnTo>
                    <a:pt x="495554" y="25400"/>
                  </a:lnTo>
                  <a:close/>
                  <a:moveTo>
                    <a:pt x="673354" y="25400"/>
                  </a:moveTo>
                  <a:lnTo>
                    <a:pt x="749554" y="25400"/>
                  </a:lnTo>
                  <a:lnTo>
                    <a:pt x="673354" y="25400"/>
                  </a:lnTo>
                  <a:close/>
                  <a:moveTo>
                    <a:pt x="851154" y="25400"/>
                  </a:moveTo>
                  <a:lnTo>
                    <a:pt x="889381" y="25400"/>
                  </a:lnTo>
                  <a:lnTo>
                    <a:pt x="889381" y="12700"/>
                  </a:lnTo>
                  <a:lnTo>
                    <a:pt x="889381" y="0"/>
                  </a:lnTo>
                  <a:cubicBezTo>
                    <a:pt x="904367" y="0"/>
                    <a:pt x="918591" y="3175"/>
                    <a:pt x="931418" y="8890"/>
                  </a:cubicBezTo>
                  <a:lnTo>
                    <a:pt x="921004" y="32131"/>
                  </a:lnTo>
                  <a:cubicBezTo>
                    <a:pt x="911352" y="27813"/>
                    <a:pt x="900557" y="25400"/>
                    <a:pt x="889254" y="25400"/>
                  </a:cubicBezTo>
                  <a:lnTo>
                    <a:pt x="851154" y="25400"/>
                  </a:lnTo>
                  <a:close/>
                  <a:moveTo>
                    <a:pt x="991743" y="100711"/>
                  </a:moveTo>
                  <a:cubicBezTo>
                    <a:pt x="991743" y="100965"/>
                    <a:pt x="991743" y="101346"/>
                    <a:pt x="991743" y="101600"/>
                  </a:cubicBezTo>
                  <a:lnTo>
                    <a:pt x="979043" y="101600"/>
                  </a:lnTo>
                  <a:lnTo>
                    <a:pt x="991743" y="101600"/>
                  </a:lnTo>
                  <a:lnTo>
                    <a:pt x="991743" y="177038"/>
                  </a:lnTo>
                  <a:lnTo>
                    <a:pt x="966343" y="177038"/>
                  </a:lnTo>
                  <a:lnTo>
                    <a:pt x="966343" y="101600"/>
                  </a:lnTo>
                  <a:cubicBezTo>
                    <a:pt x="966343" y="101346"/>
                    <a:pt x="966343" y="101219"/>
                    <a:pt x="966343" y="100965"/>
                  </a:cubicBezTo>
                  <a:close/>
                  <a:moveTo>
                    <a:pt x="966343" y="278892"/>
                  </a:moveTo>
                  <a:lnTo>
                    <a:pt x="966343" y="355092"/>
                  </a:lnTo>
                  <a:lnTo>
                    <a:pt x="940943" y="355092"/>
                  </a:lnTo>
                  <a:lnTo>
                    <a:pt x="940943" y="278892"/>
                  </a:lnTo>
                  <a:close/>
                  <a:moveTo>
                    <a:pt x="940943" y="456692"/>
                  </a:moveTo>
                  <a:lnTo>
                    <a:pt x="940943" y="532892"/>
                  </a:lnTo>
                  <a:lnTo>
                    <a:pt x="915543" y="532892"/>
                  </a:lnTo>
                  <a:lnTo>
                    <a:pt x="915543" y="456692"/>
                  </a:lnTo>
                  <a:close/>
                  <a:moveTo>
                    <a:pt x="914654" y="636270"/>
                  </a:moveTo>
                  <a:cubicBezTo>
                    <a:pt x="910590" y="666115"/>
                    <a:pt x="893572" y="691769"/>
                    <a:pt x="869442" y="707517"/>
                  </a:cubicBezTo>
                  <a:lnTo>
                    <a:pt x="855599" y="686308"/>
                  </a:lnTo>
                  <a:cubicBezTo>
                    <a:pt x="873760" y="674370"/>
                    <a:pt x="886587" y="655193"/>
                    <a:pt x="889508" y="632968"/>
                  </a:cubicBezTo>
                  <a:close/>
                  <a:moveTo>
                    <a:pt x="839851" y="723900"/>
                  </a:moveTo>
                  <a:lnTo>
                    <a:pt x="763651" y="723900"/>
                  </a:lnTo>
                  <a:lnTo>
                    <a:pt x="763651" y="698500"/>
                  </a:lnTo>
                  <a:lnTo>
                    <a:pt x="839851" y="698500"/>
                  </a:lnTo>
                  <a:close/>
                  <a:moveTo>
                    <a:pt x="662051" y="698500"/>
                  </a:moveTo>
                  <a:lnTo>
                    <a:pt x="585851" y="698500"/>
                  </a:lnTo>
                  <a:lnTo>
                    <a:pt x="662051" y="698500"/>
                  </a:lnTo>
                  <a:close/>
                  <a:moveTo>
                    <a:pt x="484251" y="698500"/>
                  </a:moveTo>
                  <a:lnTo>
                    <a:pt x="408051" y="698500"/>
                  </a:lnTo>
                  <a:lnTo>
                    <a:pt x="484251" y="698500"/>
                  </a:lnTo>
                  <a:close/>
                  <a:moveTo>
                    <a:pt x="306451" y="698500"/>
                  </a:moveTo>
                  <a:lnTo>
                    <a:pt x="230251" y="698500"/>
                  </a:lnTo>
                  <a:lnTo>
                    <a:pt x="306451" y="698500"/>
                  </a:lnTo>
                  <a:close/>
                  <a:moveTo>
                    <a:pt x="128651" y="698500"/>
                  </a:moveTo>
                  <a:lnTo>
                    <a:pt x="102489" y="698500"/>
                  </a:lnTo>
                  <a:lnTo>
                    <a:pt x="102489" y="711200"/>
                  </a:lnTo>
                  <a:lnTo>
                    <a:pt x="102489" y="723900"/>
                  </a:lnTo>
                  <a:cubicBezTo>
                    <a:pt x="82677" y="723900"/>
                    <a:pt x="64008" y="718312"/>
                    <a:pt x="48387" y="708533"/>
                  </a:cubicBezTo>
                  <a:lnTo>
                    <a:pt x="61722" y="686943"/>
                  </a:lnTo>
                  <a:cubicBezTo>
                    <a:pt x="73533" y="694309"/>
                    <a:pt x="87503" y="698500"/>
                    <a:pt x="102489" y="698500"/>
                  </a:cubicBezTo>
                  <a:lnTo>
                    <a:pt x="128778" y="698500"/>
                  </a:lnTo>
                  <a:close/>
                  <a:moveTo>
                    <a:pt x="0" y="611124"/>
                  </a:moveTo>
                  <a:lnTo>
                    <a:pt x="0" y="534924"/>
                  </a:lnTo>
                  <a:lnTo>
                    <a:pt x="25400" y="534924"/>
                  </a:lnTo>
                  <a:lnTo>
                    <a:pt x="25400" y="611124"/>
                  </a:lnTo>
                  <a:close/>
                  <a:moveTo>
                    <a:pt x="25400" y="433324"/>
                  </a:moveTo>
                  <a:lnTo>
                    <a:pt x="25400" y="357124"/>
                  </a:lnTo>
                  <a:lnTo>
                    <a:pt x="25400" y="433324"/>
                  </a:lnTo>
                  <a:close/>
                  <a:moveTo>
                    <a:pt x="25400" y="255524"/>
                  </a:moveTo>
                  <a:lnTo>
                    <a:pt x="25400" y="179324"/>
                  </a:lnTo>
                  <a:lnTo>
                    <a:pt x="25400" y="255524"/>
                  </a:lnTo>
                  <a:close/>
                  <a:moveTo>
                    <a:pt x="0" y="101600"/>
                  </a:moveTo>
                  <a:cubicBezTo>
                    <a:pt x="0" y="70993"/>
                    <a:pt x="13716" y="43434"/>
                    <a:pt x="35306" y="24892"/>
                  </a:cubicBezTo>
                  <a:lnTo>
                    <a:pt x="51816" y="44069"/>
                  </a:lnTo>
                  <a:cubicBezTo>
                    <a:pt x="35560" y="58166"/>
                    <a:pt x="25400" y="78740"/>
                    <a:pt x="25400" y="101600"/>
                  </a:cubicBezTo>
                  <a:close/>
                </a:path>
              </a:pathLst>
            </a:custGeom>
            <a:solidFill>
              <a:srgbClr val="9AA6B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12299747" y="5915025"/>
            <a:ext cx="78194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6B7A8F"/>
                </a:solidFill>
                <a:latin typeface="IBM Plex Sans"/>
                <a:ea typeface="IBM Plex Sans"/>
                <a:cs typeface="IBM Plex Sans"/>
                <a:sym typeface="IBM Plex Sans"/>
              </a:rPr>
              <a:t>15</a:t>
            </a:r>
          </a:p>
        </p:txBody>
      </p:sp>
      <p:grpSp>
        <p:nvGrpSpPr>
          <p:cNvPr id="67" name="Group 67"/>
          <p:cNvGrpSpPr/>
          <p:nvPr/>
        </p:nvGrpSpPr>
        <p:grpSpPr>
          <a:xfrm>
            <a:off x="13119792" y="5838825"/>
            <a:ext cx="743845" cy="542925"/>
            <a:chOff x="0" y="0"/>
            <a:chExt cx="991794" cy="72390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991743" cy="723900"/>
            </a:xfrm>
            <a:custGeom>
              <a:avLst/>
              <a:gdLst/>
              <a:ahLst/>
              <a:cxnLst/>
              <a:rect l="l" t="t" r="r" b="b"/>
              <a:pathLst>
                <a:path w="991743" h="723900">
                  <a:moveTo>
                    <a:pt x="139954" y="0"/>
                  </a:moveTo>
                  <a:lnTo>
                    <a:pt x="216154" y="0"/>
                  </a:lnTo>
                  <a:lnTo>
                    <a:pt x="216154" y="25400"/>
                  </a:lnTo>
                  <a:lnTo>
                    <a:pt x="139954" y="25400"/>
                  </a:lnTo>
                  <a:close/>
                  <a:moveTo>
                    <a:pt x="317754" y="25400"/>
                  </a:moveTo>
                  <a:lnTo>
                    <a:pt x="393954" y="25400"/>
                  </a:lnTo>
                  <a:lnTo>
                    <a:pt x="317754" y="25400"/>
                  </a:lnTo>
                  <a:close/>
                  <a:moveTo>
                    <a:pt x="495554" y="25400"/>
                  </a:moveTo>
                  <a:lnTo>
                    <a:pt x="571754" y="25400"/>
                  </a:lnTo>
                  <a:lnTo>
                    <a:pt x="495554" y="25400"/>
                  </a:lnTo>
                  <a:close/>
                  <a:moveTo>
                    <a:pt x="673354" y="25400"/>
                  </a:moveTo>
                  <a:lnTo>
                    <a:pt x="749554" y="25400"/>
                  </a:lnTo>
                  <a:lnTo>
                    <a:pt x="673354" y="25400"/>
                  </a:lnTo>
                  <a:close/>
                  <a:moveTo>
                    <a:pt x="851154" y="25400"/>
                  </a:moveTo>
                  <a:lnTo>
                    <a:pt x="889381" y="25400"/>
                  </a:lnTo>
                  <a:lnTo>
                    <a:pt x="889381" y="12700"/>
                  </a:lnTo>
                  <a:lnTo>
                    <a:pt x="889381" y="0"/>
                  </a:lnTo>
                  <a:cubicBezTo>
                    <a:pt x="904367" y="0"/>
                    <a:pt x="918591" y="3175"/>
                    <a:pt x="931418" y="8890"/>
                  </a:cubicBezTo>
                  <a:lnTo>
                    <a:pt x="921004" y="32131"/>
                  </a:lnTo>
                  <a:cubicBezTo>
                    <a:pt x="911352" y="27813"/>
                    <a:pt x="900557" y="25400"/>
                    <a:pt x="889254" y="25400"/>
                  </a:cubicBezTo>
                  <a:lnTo>
                    <a:pt x="851154" y="25400"/>
                  </a:lnTo>
                  <a:close/>
                  <a:moveTo>
                    <a:pt x="991743" y="100711"/>
                  </a:moveTo>
                  <a:cubicBezTo>
                    <a:pt x="991743" y="100965"/>
                    <a:pt x="991743" y="101346"/>
                    <a:pt x="991743" y="101600"/>
                  </a:cubicBezTo>
                  <a:lnTo>
                    <a:pt x="979043" y="101600"/>
                  </a:lnTo>
                  <a:lnTo>
                    <a:pt x="991743" y="101600"/>
                  </a:lnTo>
                  <a:lnTo>
                    <a:pt x="991743" y="177038"/>
                  </a:lnTo>
                  <a:lnTo>
                    <a:pt x="966343" y="177038"/>
                  </a:lnTo>
                  <a:lnTo>
                    <a:pt x="966343" y="101600"/>
                  </a:lnTo>
                  <a:cubicBezTo>
                    <a:pt x="966343" y="101346"/>
                    <a:pt x="966343" y="101219"/>
                    <a:pt x="966343" y="100965"/>
                  </a:cubicBezTo>
                  <a:close/>
                  <a:moveTo>
                    <a:pt x="966343" y="278892"/>
                  </a:moveTo>
                  <a:lnTo>
                    <a:pt x="966343" y="355092"/>
                  </a:lnTo>
                  <a:lnTo>
                    <a:pt x="940943" y="355092"/>
                  </a:lnTo>
                  <a:lnTo>
                    <a:pt x="940943" y="278892"/>
                  </a:lnTo>
                  <a:close/>
                  <a:moveTo>
                    <a:pt x="940943" y="456692"/>
                  </a:moveTo>
                  <a:lnTo>
                    <a:pt x="940943" y="532892"/>
                  </a:lnTo>
                  <a:lnTo>
                    <a:pt x="915543" y="532892"/>
                  </a:lnTo>
                  <a:lnTo>
                    <a:pt x="915543" y="456692"/>
                  </a:lnTo>
                  <a:close/>
                  <a:moveTo>
                    <a:pt x="914654" y="636270"/>
                  </a:moveTo>
                  <a:cubicBezTo>
                    <a:pt x="910590" y="666115"/>
                    <a:pt x="893572" y="691769"/>
                    <a:pt x="869442" y="707517"/>
                  </a:cubicBezTo>
                  <a:lnTo>
                    <a:pt x="855599" y="686308"/>
                  </a:lnTo>
                  <a:cubicBezTo>
                    <a:pt x="873760" y="674370"/>
                    <a:pt x="886587" y="655193"/>
                    <a:pt x="889508" y="632968"/>
                  </a:cubicBezTo>
                  <a:close/>
                  <a:moveTo>
                    <a:pt x="839851" y="723900"/>
                  </a:moveTo>
                  <a:lnTo>
                    <a:pt x="763651" y="723900"/>
                  </a:lnTo>
                  <a:lnTo>
                    <a:pt x="763651" y="698500"/>
                  </a:lnTo>
                  <a:lnTo>
                    <a:pt x="839851" y="698500"/>
                  </a:lnTo>
                  <a:close/>
                  <a:moveTo>
                    <a:pt x="662051" y="698500"/>
                  </a:moveTo>
                  <a:lnTo>
                    <a:pt x="585851" y="698500"/>
                  </a:lnTo>
                  <a:lnTo>
                    <a:pt x="662051" y="698500"/>
                  </a:lnTo>
                  <a:close/>
                  <a:moveTo>
                    <a:pt x="484251" y="698500"/>
                  </a:moveTo>
                  <a:lnTo>
                    <a:pt x="408051" y="698500"/>
                  </a:lnTo>
                  <a:lnTo>
                    <a:pt x="484251" y="698500"/>
                  </a:lnTo>
                  <a:close/>
                  <a:moveTo>
                    <a:pt x="306451" y="698500"/>
                  </a:moveTo>
                  <a:lnTo>
                    <a:pt x="230251" y="698500"/>
                  </a:lnTo>
                  <a:lnTo>
                    <a:pt x="306451" y="698500"/>
                  </a:lnTo>
                  <a:close/>
                  <a:moveTo>
                    <a:pt x="128651" y="698500"/>
                  </a:moveTo>
                  <a:lnTo>
                    <a:pt x="102489" y="698500"/>
                  </a:lnTo>
                  <a:lnTo>
                    <a:pt x="102489" y="711200"/>
                  </a:lnTo>
                  <a:lnTo>
                    <a:pt x="102489" y="723900"/>
                  </a:lnTo>
                  <a:cubicBezTo>
                    <a:pt x="82677" y="723900"/>
                    <a:pt x="64008" y="718312"/>
                    <a:pt x="48387" y="708533"/>
                  </a:cubicBezTo>
                  <a:lnTo>
                    <a:pt x="61722" y="686943"/>
                  </a:lnTo>
                  <a:cubicBezTo>
                    <a:pt x="73533" y="694309"/>
                    <a:pt x="87503" y="698500"/>
                    <a:pt x="102489" y="698500"/>
                  </a:cubicBezTo>
                  <a:lnTo>
                    <a:pt x="128778" y="698500"/>
                  </a:lnTo>
                  <a:close/>
                  <a:moveTo>
                    <a:pt x="0" y="611124"/>
                  </a:moveTo>
                  <a:lnTo>
                    <a:pt x="0" y="534924"/>
                  </a:lnTo>
                  <a:lnTo>
                    <a:pt x="25400" y="534924"/>
                  </a:lnTo>
                  <a:lnTo>
                    <a:pt x="25400" y="611124"/>
                  </a:lnTo>
                  <a:close/>
                  <a:moveTo>
                    <a:pt x="25400" y="433324"/>
                  </a:moveTo>
                  <a:lnTo>
                    <a:pt x="25400" y="357124"/>
                  </a:lnTo>
                  <a:lnTo>
                    <a:pt x="25400" y="433324"/>
                  </a:lnTo>
                  <a:close/>
                  <a:moveTo>
                    <a:pt x="25400" y="255524"/>
                  </a:moveTo>
                  <a:lnTo>
                    <a:pt x="25400" y="179324"/>
                  </a:lnTo>
                  <a:lnTo>
                    <a:pt x="25400" y="255524"/>
                  </a:lnTo>
                  <a:close/>
                  <a:moveTo>
                    <a:pt x="0" y="101600"/>
                  </a:moveTo>
                  <a:cubicBezTo>
                    <a:pt x="0" y="70993"/>
                    <a:pt x="13716" y="43434"/>
                    <a:pt x="35306" y="24892"/>
                  </a:cubicBezTo>
                  <a:lnTo>
                    <a:pt x="51816" y="44069"/>
                  </a:lnTo>
                  <a:cubicBezTo>
                    <a:pt x="35560" y="58166"/>
                    <a:pt x="25400" y="78740"/>
                    <a:pt x="25400" y="101600"/>
                  </a:cubicBezTo>
                  <a:close/>
                </a:path>
              </a:pathLst>
            </a:custGeom>
            <a:solidFill>
              <a:srgbClr val="9AA6B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13100742" y="5915025"/>
            <a:ext cx="78194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6B7A8F"/>
                </a:solidFill>
                <a:latin typeface="IBM Plex Sans"/>
                <a:ea typeface="IBM Plex Sans"/>
                <a:cs typeface="IBM Plex Sans"/>
                <a:sym typeface="IBM Plex Sans"/>
              </a:rPr>
              <a:t>16</a:t>
            </a:r>
          </a:p>
        </p:txBody>
      </p:sp>
      <p:grpSp>
        <p:nvGrpSpPr>
          <p:cNvPr id="70" name="Group 70"/>
          <p:cNvGrpSpPr/>
          <p:nvPr/>
        </p:nvGrpSpPr>
        <p:grpSpPr>
          <a:xfrm>
            <a:off x="13920788" y="5838825"/>
            <a:ext cx="743845" cy="542925"/>
            <a:chOff x="0" y="0"/>
            <a:chExt cx="991794" cy="72390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991743" cy="723900"/>
            </a:xfrm>
            <a:custGeom>
              <a:avLst/>
              <a:gdLst/>
              <a:ahLst/>
              <a:cxnLst/>
              <a:rect l="l" t="t" r="r" b="b"/>
              <a:pathLst>
                <a:path w="991743" h="723900">
                  <a:moveTo>
                    <a:pt x="139954" y="0"/>
                  </a:moveTo>
                  <a:lnTo>
                    <a:pt x="216154" y="0"/>
                  </a:lnTo>
                  <a:lnTo>
                    <a:pt x="216154" y="25400"/>
                  </a:lnTo>
                  <a:lnTo>
                    <a:pt x="139954" y="25400"/>
                  </a:lnTo>
                  <a:close/>
                  <a:moveTo>
                    <a:pt x="317754" y="25400"/>
                  </a:moveTo>
                  <a:lnTo>
                    <a:pt x="393954" y="25400"/>
                  </a:lnTo>
                  <a:lnTo>
                    <a:pt x="317754" y="25400"/>
                  </a:lnTo>
                  <a:close/>
                  <a:moveTo>
                    <a:pt x="495554" y="25400"/>
                  </a:moveTo>
                  <a:lnTo>
                    <a:pt x="571754" y="25400"/>
                  </a:lnTo>
                  <a:lnTo>
                    <a:pt x="495554" y="25400"/>
                  </a:lnTo>
                  <a:close/>
                  <a:moveTo>
                    <a:pt x="673354" y="25400"/>
                  </a:moveTo>
                  <a:lnTo>
                    <a:pt x="749554" y="25400"/>
                  </a:lnTo>
                  <a:lnTo>
                    <a:pt x="673354" y="25400"/>
                  </a:lnTo>
                  <a:close/>
                  <a:moveTo>
                    <a:pt x="851154" y="25400"/>
                  </a:moveTo>
                  <a:lnTo>
                    <a:pt x="889381" y="25400"/>
                  </a:lnTo>
                  <a:lnTo>
                    <a:pt x="889381" y="12700"/>
                  </a:lnTo>
                  <a:lnTo>
                    <a:pt x="889381" y="0"/>
                  </a:lnTo>
                  <a:cubicBezTo>
                    <a:pt x="904367" y="0"/>
                    <a:pt x="918591" y="3175"/>
                    <a:pt x="931418" y="8890"/>
                  </a:cubicBezTo>
                  <a:lnTo>
                    <a:pt x="921004" y="32131"/>
                  </a:lnTo>
                  <a:cubicBezTo>
                    <a:pt x="911352" y="27813"/>
                    <a:pt x="900557" y="25400"/>
                    <a:pt x="889254" y="25400"/>
                  </a:cubicBezTo>
                  <a:lnTo>
                    <a:pt x="851154" y="25400"/>
                  </a:lnTo>
                  <a:close/>
                  <a:moveTo>
                    <a:pt x="991743" y="100711"/>
                  </a:moveTo>
                  <a:cubicBezTo>
                    <a:pt x="991743" y="100965"/>
                    <a:pt x="991743" y="101346"/>
                    <a:pt x="991743" y="101600"/>
                  </a:cubicBezTo>
                  <a:lnTo>
                    <a:pt x="979043" y="101600"/>
                  </a:lnTo>
                  <a:lnTo>
                    <a:pt x="991743" y="101600"/>
                  </a:lnTo>
                  <a:lnTo>
                    <a:pt x="991743" y="177038"/>
                  </a:lnTo>
                  <a:lnTo>
                    <a:pt x="966343" y="177038"/>
                  </a:lnTo>
                  <a:lnTo>
                    <a:pt x="966343" y="101600"/>
                  </a:lnTo>
                  <a:cubicBezTo>
                    <a:pt x="966343" y="101346"/>
                    <a:pt x="966343" y="101219"/>
                    <a:pt x="966343" y="100965"/>
                  </a:cubicBezTo>
                  <a:close/>
                  <a:moveTo>
                    <a:pt x="966343" y="278892"/>
                  </a:moveTo>
                  <a:lnTo>
                    <a:pt x="966343" y="355092"/>
                  </a:lnTo>
                  <a:lnTo>
                    <a:pt x="940943" y="355092"/>
                  </a:lnTo>
                  <a:lnTo>
                    <a:pt x="940943" y="278892"/>
                  </a:lnTo>
                  <a:close/>
                  <a:moveTo>
                    <a:pt x="940943" y="456692"/>
                  </a:moveTo>
                  <a:lnTo>
                    <a:pt x="940943" y="532892"/>
                  </a:lnTo>
                  <a:lnTo>
                    <a:pt x="915543" y="532892"/>
                  </a:lnTo>
                  <a:lnTo>
                    <a:pt x="915543" y="456692"/>
                  </a:lnTo>
                  <a:close/>
                  <a:moveTo>
                    <a:pt x="914654" y="636270"/>
                  </a:moveTo>
                  <a:cubicBezTo>
                    <a:pt x="910590" y="666115"/>
                    <a:pt x="893572" y="691769"/>
                    <a:pt x="869442" y="707517"/>
                  </a:cubicBezTo>
                  <a:lnTo>
                    <a:pt x="855599" y="686308"/>
                  </a:lnTo>
                  <a:cubicBezTo>
                    <a:pt x="873760" y="674370"/>
                    <a:pt x="886587" y="655193"/>
                    <a:pt x="889508" y="632968"/>
                  </a:cubicBezTo>
                  <a:close/>
                  <a:moveTo>
                    <a:pt x="839851" y="723900"/>
                  </a:moveTo>
                  <a:lnTo>
                    <a:pt x="763651" y="723900"/>
                  </a:lnTo>
                  <a:lnTo>
                    <a:pt x="763651" y="698500"/>
                  </a:lnTo>
                  <a:lnTo>
                    <a:pt x="839851" y="698500"/>
                  </a:lnTo>
                  <a:close/>
                  <a:moveTo>
                    <a:pt x="662051" y="698500"/>
                  </a:moveTo>
                  <a:lnTo>
                    <a:pt x="585851" y="698500"/>
                  </a:lnTo>
                  <a:lnTo>
                    <a:pt x="662051" y="698500"/>
                  </a:lnTo>
                  <a:close/>
                  <a:moveTo>
                    <a:pt x="484251" y="698500"/>
                  </a:moveTo>
                  <a:lnTo>
                    <a:pt x="408051" y="698500"/>
                  </a:lnTo>
                  <a:lnTo>
                    <a:pt x="484251" y="698500"/>
                  </a:lnTo>
                  <a:close/>
                  <a:moveTo>
                    <a:pt x="306451" y="698500"/>
                  </a:moveTo>
                  <a:lnTo>
                    <a:pt x="230251" y="698500"/>
                  </a:lnTo>
                  <a:lnTo>
                    <a:pt x="306451" y="698500"/>
                  </a:lnTo>
                  <a:close/>
                  <a:moveTo>
                    <a:pt x="128651" y="698500"/>
                  </a:moveTo>
                  <a:lnTo>
                    <a:pt x="102489" y="698500"/>
                  </a:lnTo>
                  <a:lnTo>
                    <a:pt x="102489" y="711200"/>
                  </a:lnTo>
                  <a:lnTo>
                    <a:pt x="102489" y="723900"/>
                  </a:lnTo>
                  <a:cubicBezTo>
                    <a:pt x="82677" y="723900"/>
                    <a:pt x="64008" y="718312"/>
                    <a:pt x="48387" y="708533"/>
                  </a:cubicBezTo>
                  <a:lnTo>
                    <a:pt x="61722" y="686943"/>
                  </a:lnTo>
                  <a:cubicBezTo>
                    <a:pt x="73533" y="694309"/>
                    <a:pt x="87503" y="698500"/>
                    <a:pt x="102489" y="698500"/>
                  </a:cubicBezTo>
                  <a:lnTo>
                    <a:pt x="128778" y="698500"/>
                  </a:lnTo>
                  <a:close/>
                  <a:moveTo>
                    <a:pt x="0" y="611124"/>
                  </a:moveTo>
                  <a:lnTo>
                    <a:pt x="0" y="534924"/>
                  </a:lnTo>
                  <a:lnTo>
                    <a:pt x="25400" y="534924"/>
                  </a:lnTo>
                  <a:lnTo>
                    <a:pt x="25400" y="611124"/>
                  </a:lnTo>
                  <a:close/>
                  <a:moveTo>
                    <a:pt x="25400" y="433324"/>
                  </a:moveTo>
                  <a:lnTo>
                    <a:pt x="25400" y="357124"/>
                  </a:lnTo>
                  <a:lnTo>
                    <a:pt x="25400" y="433324"/>
                  </a:lnTo>
                  <a:close/>
                  <a:moveTo>
                    <a:pt x="25400" y="255524"/>
                  </a:moveTo>
                  <a:lnTo>
                    <a:pt x="25400" y="179324"/>
                  </a:lnTo>
                  <a:lnTo>
                    <a:pt x="25400" y="255524"/>
                  </a:lnTo>
                  <a:close/>
                  <a:moveTo>
                    <a:pt x="0" y="101600"/>
                  </a:moveTo>
                  <a:cubicBezTo>
                    <a:pt x="0" y="70993"/>
                    <a:pt x="13716" y="43434"/>
                    <a:pt x="35306" y="24892"/>
                  </a:cubicBezTo>
                  <a:lnTo>
                    <a:pt x="51816" y="44069"/>
                  </a:lnTo>
                  <a:cubicBezTo>
                    <a:pt x="35560" y="58166"/>
                    <a:pt x="25400" y="78740"/>
                    <a:pt x="25400" y="101600"/>
                  </a:cubicBezTo>
                  <a:close/>
                </a:path>
              </a:pathLst>
            </a:custGeom>
            <a:solidFill>
              <a:srgbClr val="9AA6B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2" name="TextBox 72"/>
          <p:cNvSpPr txBox="1"/>
          <p:nvPr/>
        </p:nvSpPr>
        <p:spPr>
          <a:xfrm>
            <a:off x="13901738" y="5915025"/>
            <a:ext cx="78194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6B7A8F"/>
                </a:solidFill>
                <a:latin typeface="IBM Plex Sans"/>
                <a:ea typeface="IBM Plex Sans"/>
                <a:cs typeface="IBM Plex Sans"/>
                <a:sym typeface="IBM Plex Sans"/>
              </a:rPr>
              <a:t>17</a:t>
            </a:r>
          </a:p>
        </p:txBody>
      </p:sp>
      <p:grpSp>
        <p:nvGrpSpPr>
          <p:cNvPr id="73" name="Group 73"/>
          <p:cNvGrpSpPr/>
          <p:nvPr/>
        </p:nvGrpSpPr>
        <p:grpSpPr>
          <a:xfrm>
            <a:off x="14721783" y="5838825"/>
            <a:ext cx="743845" cy="542925"/>
            <a:chOff x="0" y="0"/>
            <a:chExt cx="991794" cy="72390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991743" cy="723900"/>
            </a:xfrm>
            <a:custGeom>
              <a:avLst/>
              <a:gdLst/>
              <a:ahLst/>
              <a:cxnLst/>
              <a:rect l="l" t="t" r="r" b="b"/>
              <a:pathLst>
                <a:path w="991743" h="723900">
                  <a:moveTo>
                    <a:pt x="139954" y="0"/>
                  </a:moveTo>
                  <a:lnTo>
                    <a:pt x="216154" y="0"/>
                  </a:lnTo>
                  <a:lnTo>
                    <a:pt x="216154" y="25400"/>
                  </a:lnTo>
                  <a:lnTo>
                    <a:pt x="139954" y="25400"/>
                  </a:lnTo>
                  <a:close/>
                  <a:moveTo>
                    <a:pt x="317754" y="25400"/>
                  </a:moveTo>
                  <a:lnTo>
                    <a:pt x="393954" y="25400"/>
                  </a:lnTo>
                  <a:lnTo>
                    <a:pt x="317754" y="25400"/>
                  </a:lnTo>
                  <a:close/>
                  <a:moveTo>
                    <a:pt x="495554" y="25400"/>
                  </a:moveTo>
                  <a:lnTo>
                    <a:pt x="571754" y="25400"/>
                  </a:lnTo>
                  <a:lnTo>
                    <a:pt x="495554" y="25400"/>
                  </a:lnTo>
                  <a:close/>
                  <a:moveTo>
                    <a:pt x="673354" y="25400"/>
                  </a:moveTo>
                  <a:lnTo>
                    <a:pt x="749554" y="25400"/>
                  </a:lnTo>
                  <a:lnTo>
                    <a:pt x="673354" y="25400"/>
                  </a:lnTo>
                  <a:close/>
                  <a:moveTo>
                    <a:pt x="851154" y="25400"/>
                  </a:moveTo>
                  <a:lnTo>
                    <a:pt x="889381" y="25400"/>
                  </a:lnTo>
                  <a:lnTo>
                    <a:pt x="889381" y="12700"/>
                  </a:lnTo>
                  <a:lnTo>
                    <a:pt x="889381" y="0"/>
                  </a:lnTo>
                  <a:cubicBezTo>
                    <a:pt x="904367" y="0"/>
                    <a:pt x="918591" y="3175"/>
                    <a:pt x="931418" y="8890"/>
                  </a:cubicBezTo>
                  <a:lnTo>
                    <a:pt x="921004" y="32131"/>
                  </a:lnTo>
                  <a:cubicBezTo>
                    <a:pt x="911352" y="27813"/>
                    <a:pt x="900557" y="25400"/>
                    <a:pt x="889254" y="25400"/>
                  </a:cubicBezTo>
                  <a:lnTo>
                    <a:pt x="851154" y="25400"/>
                  </a:lnTo>
                  <a:close/>
                  <a:moveTo>
                    <a:pt x="991743" y="100711"/>
                  </a:moveTo>
                  <a:cubicBezTo>
                    <a:pt x="991743" y="100965"/>
                    <a:pt x="991743" y="101346"/>
                    <a:pt x="991743" y="101600"/>
                  </a:cubicBezTo>
                  <a:lnTo>
                    <a:pt x="979043" y="101600"/>
                  </a:lnTo>
                  <a:lnTo>
                    <a:pt x="991743" y="101600"/>
                  </a:lnTo>
                  <a:lnTo>
                    <a:pt x="991743" y="177038"/>
                  </a:lnTo>
                  <a:lnTo>
                    <a:pt x="966343" y="177038"/>
                  </a:lnTo>
                  <a:lnTo>
                    <a:pt x="966343" y="101600"/>
                  </a:lnTo>
                  <a:cubicBezTo>
                    <a:pt x="966343" y="101346"/>
                    <a:pt x="966343" y="101219"/>
                    <a:pt x="966343" y="100965"/>
                  </a:cubicBezTo>
                  <a:close/>
                  <a:moveTo>
                    <a:pt x="966343" y="278892"/>
                  </a:moveTo>
                  <a:lnTo>
                    <a:pt x="966343" y="355092"/>
                  </a:lnTo>
                  <a:lnTo>
                    <a:pt x="940943" y="355092"/>
                  </a:lnTo>
                  <a:lnTo>
                    <a:pt x="940943" y="278892"/>
                  </a:lnTo>
                  <a:close/>
                  <a:moveTo>
                    <a:pt x="940943" y="456692"/>
                  </a:moveTo>
                  <a:lnTo>
                    <a:pt x="940943" y="532892"/>
                  </a:lnTo>
                  <a:lnTo>
                    <a:pt x="915543" y="532892"/>
                  </a:lnTo>
                  <a:lnTo>
                    <a:pt x="915543" y="456692"/>
                  </a:lnTo>
                  <a:close/>
                  <a:moveTo>
                    <a:pt x="914654" y="636270"/>
                  </a:moveTo>
                  <a:cubicBezTo>
                    <a:pt x="910590" y="666115"/>
                    <a:pt x="893572" y="691769"/>
                    <a:pt x="869442" y="707517"/>
                  </a:cubicBezTo>
                  <a:lnTo>
                    <a:pt x="855599" y="686308"/>
                  </a:lnTo>
                  <a:cubicBezTo>
                    <a:pt x="873760" y="674370"/>
                    <a:pt x="886587" y="655193"/>
                    <a:pt x="889508" y="632968"/>
                  </a:cubicBezTo>
                  <a:close/>
                  <a:moveTo>
                    <a:pt x="839851" y="723900"/>
                  </a:moveTo>
                  <a:lnTo>
                    <a:pt x="763651" y="723900"/>
                  </a:lnTo>
                  <a:lnTo>
                    <a:pt x="763651" y="698500"/>
                  </a:lnTo>
                  <a:lnTo>
                    <a:pt x="839851" y="698500"/>
                  </a:lnTo>
                  <a:close/>
                  <a:moveTo>
                    <a:pt x="662051" y="698500"/>
                  </a:moveTo>
                  <a:lnTo>
                    <a:pt x="585851" y="698500"/>
                  </a:lnTo>
                  <a:lnTo>
                    <a:pt x="662051" y="698500"/>
                  </a:lnTo>
                  <a:close/>
                  <a:moveTo>
                    <a:pt x="484251" y="698500"/>
                  </a:moveTo>
                  <a:lnTo>
                    <a:pt x="408051" y="698500"/>
                  </a:lnTo>
                  <a:lnTo>
                    <a:pt x="484251" y="698500"/>
                  </a:lnTo>
                  <a:close/>
                  <a:moveTo>
                    <a:pt x="306451" y="698500"/>
                  </a:moveTo>
                  <a:lnTo>
                    <a:pt x="230251" y="698500"/>
                  </a:lnTo>
                  <a:lnTo>
                    <a:pt x="306451" y="698500"/>
                  </a:lnTo>
                  <a:close/>
                  <a:moveTo>
                    <a:pt x="128651" y="698500"/>
                  </a:moveTo>
                  <a:lnTo>
                    <a:pt x="102489" y="698500"/>
                  </a:lnTo>
                  <a:lnTo>
                    <a:pt x="102489" y="711200"/>
                  </a:lnTo>
                  <a:lnTo>
                    <a:pt x="102489" y="723900"/>
                  </a:lnTo>
                  <a:cubicBezTo>
                    <a:pt x="82677" y="723900"/>
                    <a:pt x="64008" y="718312"/>
                    <a:pt x="48387" y="708533"/>
                  </a:cubicBezTo>
                  <a:lnTo>
                    <a:pt x="61722" y="686943"/>
                  </a:lnTo>
                  <a:cubicBezTo>
                    <a:pt x="73533" y="694309"/>
                    <a:pt x="87503" y="698500"/>
                    <a:pt x="102489" y="698500"/>
                  </a:cubicBezTo>
                  <a:lnTo>
                    <a:pt x="128778" y="698500"/>
                  </a:lnTo>
                  <a:close/>
                  <a:moveTo>
                    <a:pt x="0" y="611124"/>
                  </a:moveTo>
                  <a:lnTo>
                    <a:pt x="0" y="534924"/>
                  </a:lnTo>
                  <a:lnTo>
                    <a:pt x="25400" y="534924"/>
                  </a:lnTo>
                  <a:lnTo>
                    <a:pt x="25400" y="611124"/>
                  </a:lnTo>
                  <a:close/>
                  <a:moveTo>
                    <a:pt x="25400" y="433324"/>
                  </a:moveTo>
                  <a:lnTo>
                    <a:pt x="25400" y="357124"/>
                  </a:lnTo>
                  <a:lnTo>
                    <a:pt x="25400" y="433324"/>
                  </a:lnTo>
                  <a:close/>
                  <a:moveTo>
                    <a:pt x="25400" y="255524"/>
                  </a:moveTo>
                  <a:lnTo>
                    <a:pt x="25400" y="179324"/>
                  </a:lnTo>
                  <a:lnTo>
                    <a:pt x="25400" y="255524"/>
                  </a:lnTo>
                  <a:close/>
                  <a:moveTo>
                    <a:pt x="0" y="101600"/>
                  </a:moveTo>
                  <a:cubicBezTo>
                    <a:pt x="0" y="70993"/>
                    <a:pt x="13716" y="43434"/>
                    <a:pt x="35306" y="24892"/>
                  </a:cubicBezTo>
                  <a:lnTo>
                    <a:pt x="51816" y="44069"/>
                  </a:lnTo>
                  <a:cubicBezTo>
                    <a:pt x="35560" y="58166"/>
                    <a:pt x="25400" y="78740"/>
                    <a:pt x="25400" y="101600"/>
                  </a:cubicBezTo>
                  <a:close/>
                </a:path>
              </a:pathLst>
            </a:custGeom>
            <a:solidFill>
              <a:srgbClr val="9AA6B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5" name="TextBox 75"/>
          <p:cNvSpPr txBox="1"/>
          <p:nvPr/>
        </p:nvSpPr>
        <p:spPr>
          <a:xfrm>
            <a:off x="14702733" y="5915025"/>
            <a:ext cx="78194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6B7A8F"/>
                </a:solidFill>
                <a:latin typeface="IBM Plex Sans"/>
                <a:ea typeface="IBM Plex Sans"/>
                <a:cs typeface="IBM Plex Sans"/>
                <a:sym typeface="IBM Plex Sans"/>
              </a:rPr>
              <a:t>18</a:t>
            </a:r>
          </a:p>
        </p:txBody>
      </p:sp>
      <p:grpSp>
        <p:nvGrpSpPr>
          <p:cNvPr id="76" name="Group 76"/>
          <p:cNvGrpSpPr/>
          <p:nvPr/>
        </p:nvGrpSpPr>
        <p:grpSpPr>
          <a:xfrm>
            <a:off x="15522778" y="5838825"/>
            <a:ext cx="743845" cy="542925"/>
            <a:chOff x="0" y="0"/>
            <a:chExt cx="991794" cy="72390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991743" cy="723900"/>
            </a:xfrm>
            <a:custGeom>
              <a:avLst/>
              <a:gdLst/>
              <a:ahLst/>
              <a:cxnLst/>
              <a:rect l="l" t="t" r="r" b="b"/>
              <a:pathLst>
                <a:path w="991743" h="723900">
                  <a:moveTo>
                    <a:pt x="139954" y="0"/>
                  </a:moveTo>
                  <a:lnTo>
                    <a:pt x="216154" y="0"/>
                  </a:lnTo>
                  <a:lnTo>
                    <a:pt x="216154" y="25400"/>
                  </a:lnTo>
                  <a:lnTo>
                    <a:pt x="139954" y="25400"/>
                  </a:lnTo>
                  <a:close/>
                  <a:moveTo>
                    <a:pt x="317754" y="25400"/>
                  </a:moveTo>
                  <a:lnTo>
                    <a:pt x="393954" y="25400"/>
                  </a:lnTo>
                  <a:lnTo>
                    <a:pt x="317754" y="25400"/>
                  </a:lnTo>
                  <a:close/>
                  <a:moveTo>
                    <a:pt x="495554" y="25400"/>
                  </a:moveTo>
                  <a:lnTo>
                    <a:pt x="571754" y="25400"/>
                  </a:lnTo>
                  <a:lnTo>
                    <a:pt x="495554" y="25400"/>
                  </a:lnTo>
                  <a:close/>
                  <a:moveTo>
                    <a:pt x="673354" y="25400"/>
                  </a:moveTo>
                  <a:lnTo>
                    <a:pt x="749554" y="25400"/>
                  </a:lnTo>
                  <a:lnTo>
                    <a:pt x="673354" y="25400"/>
                  </a:lnTo>
                  <a:close/>
                  <a:moveTo>
                    <a:pt x="851154" y="25400"/>
                  </a:moveTo>
                  <a:lnTo>
                    <a:pt x="889381" y="25400"/>
                  </a:lnTo>
                  <a:lnTo>
                    <a:pt x="889381" y="12700"/>
                  </a:lnTo>
                  <a:lnTo>
                    <a:pt x="889381" y="0"/>
                  </a:lnTo>
                  <a:cubicBezTo>
                    <a:pt x="904367" y="0"/>
                    <a:pt x="918591" y="3175"/>
                    <a:pt x="931418" y="8890"/>
                  </a:cubicBezTo>
                  <a:lnTo>
                    <a:pt x="921004" y="32131"/>
                  </a:lnTo>
                  <a:cubicBezTo>
                    <a:pt x="911352" y="27813"/>
                    <a:pt x="900557" y="25400"/>
                    <a:pt x="889254" y="25400"/>
                  </a:cubicBezTo>
                  <a:lnTo>
                    <a:pt x="851154" y="25400"/>
                  </a:lnTo>
                  <a:close/>
                  <a:moveTo>
                    <a:pt x="991743" y="100711"/>
                  </a:moveTo>
                  <a:cubicBezTo>
                    <a:pt x="991743" y="100965"/>
                    <a:pt x="991743" y="101346"/>
                    <a:pt x="991743" y="101600"/>
                  </a:cubicBezTo>
                  <a:lnTo>
                    <a:pt x="979043" y="101600"/>
                  </a:lnTo>
                  <a:lnTo>
                    <a:pt x="991743" y="101600"/>
                  </a:lnTo>
                  <a:lnTo>
                    <a:pt x="991743" y="177038"/>
                  </a:lnTo>
                  <a:lnTo>
                    <a:pt x="966343" y="177038"/>
                  </a:lnTo>
                  <a:lnTo>
                    <a:pt x="966343" y="101600"/>
                  </a:lnTo>
                  <a:cubicBezTo>
                    <a:pt x="966343" y="101346"/>
                    <a:pt x="966343" y="101219"/>
                    <a:pt x="966343" y="100965"/>
                  </a:cubicBezTo>
                  <a:close/>
                  <a:moveTo>
                    <a:pt x="966343" y="278892"/>
                  </a:moveTo>
                  <a:lnTo>
                    <a:pt x="966343" y="355092"/>
                  </a:lnTo>
                  <a:lnTo>
                    <a:pt x="940943" y="355092"/>
                  </a:lnTo>
                  <a:lnTo>
                    <a:pt x="940943" y="278892"/>
                  </a:lnTo>
                  <a:close/>
                  <a:moveTo>
                    <a:pt x="940943" y="456692"/>
                  </a:moveTo>
                  <a:lnTo>
                    <a:pt x="940943" y="532892"/>
                  </a:lnTo>
                  <a:lnTo>
                    <a:pt x="915543" y="532892"/>
                  </a:lnTo>
                  <a:lnTo>
                    <a:pt x="915543" y="456692"/>
                  </a:lnTo>
                  <a:close/>
                  <a:moveTo>
                    <a:pt x="914654" y="636270"/>
                  </a:moveTo>
                  <a:cubicBezTo>
                    <a:pt x="910590" y="666115"/>
                    <a:pt x="893572" y="691769"/>
                    <a:pt x="869442" y="707517"/>
                  </a:cubicBezTo>
                  <a:lnTo>
                    <a:pt x="855599" y="686308"/>
                  </a:lnTo>
                  <a:cubicBezTo>
                    <a:pt x="873760" y="674370"/>
                    <a:pt x="886587" y="655193"/>
                    <a:pt x="889508" y="632968"/>
                  </a:cubicBezTo>
                  <a:close/>
                  <a:moveTo>
                    <a:pt x="839851" y="723900"/>
                  </a:moveTo>
                  <a:lnTo>
                    <a:pt x="763651" y="723900"/>
                  </a:lnTo>
                  <a:lnTo>
                    <a:pt x="763651" y="698500"/>
                  </a:lnTo>
                  <a:lnTo>
                    <a:pt x="839851" y="698500"/>
                  </a:lnTo>
                  <a:close/>
                  <a:moveTo>
                    <a:pt x="662051" y="698500"/>
                  </a:moveTo>
                  <a:lnTo>
                    <a:pt x="585851" y="698500"/>
                  </a:lnTo>
                  <a:lnTo>
                    <a:pt x="662051" y="698500"/>
                  </a:lnTo>
                  <a:close/>
                  <a:moveTo>
                    <a:pt x="484251" y="698500"/>
                  </a:moveTo>
                  <a:lnTo>
                    <a:pt x="408051" y="698500"/>
                  </a:lnTo>
                  <a:lnTo>
                    <a:pt x="484251" y="698500"/>
                  </a:lnTo>
                  <a:close/>
                  <a:moveTo>
                    <a:pt x="306451" y="698500"/>
                  </a:moveTo>
                  <a:lnTo>
                    <a:pt x="230251" y="698500"/>
                  </a:lnTo>
                  <a:lnTo>
                    <a:pt x="306451" y="698500"/>
                  </a:lnTo>
                  <a:close/>
                  <a:moveTo>
                    <a:pt x="128651" y="698500"/>
                  </a:moveTo>
                  <a:lnTo>
                    <a:pt x="102489" y="698500"/>
                  </a:lnTo>
                  <a:lnTo>
                    <a:pt x="102489" y="711200"/>
                  </a:lnTo>
                  <a:lnTo>
                    <a:pt x="102489" y="723900"/>
                  </a:lnTo>
                  <a:cubicBezTo>
                    <a:pt x="82677" y="723900"/>
                    <a:pt x="64008" y="718312"/>
                    <a:pt x="48387" y="708533"/>
                  </a:cubicBezTo>
                  <a:lnTo>
                    <a:pt x="61722" y="686943"/>
                  </a:lnTo>
                  <a:cubicBezTo>
                    <a:pt x="73533" y="694309"/>
                    <a:pt x="87503" y="698500"/>
                    <a:pt x="102489" y="698500"/>
                  </a:cubicBezTo>
                  <a:lnTo>
                    <a:pt x="128778" y="698500"/>
                  </a:lnTo>
                  <a:close/>
                  <a:moveTo>
                    <a:pt x="0" y="611124"/>
                  </a:moveTo>
                  <a:lnTo>
                    <a:pt x="0" y="534924"/>
                  </a:lnTo>
                  <a:lnTo>
                    <a:pt x="25400" y="534924"/>
                  </a:lnTo>
                  <a:lnTo>
                    <a:pt x="25400" y="611124"/>
                  </a:lnTo>
                  <a:close/>
                  <a:moveTo>
                    <a:pt x="25400" y="433324"/>
                  </a:moveTo>
                  <a:lnTo>
                    <a:pt x="25400" y="357124"/>
                  </a:lnTo>
                  <a:lnTo>
                    <a:pt x="25400" y="433324"/>
                  </a:lnTo>
                  <a:close/>
                  <a:moveTo>
                    <a:pt x="25400" y="255524"/>
                  </a:moveTo>
                  <a:lnTo>
                    <a:pt x="25400" y="179324"/>
                  </a:lnTo>
                  <a:lnTo>
                    <a:pt x="25400" y="255524"/>
                  </a:lnTo>
                  <a:close/>
                  <a:moveTo>
                    <a:pt x="0" y="101600"/>
                  </a:moveTo>
                  <a:cubicBezTo>
                    <a:pt x="0" y="70993"/>
                    <a:pt x="13716" y="43434"/>
                    <a:pt x="35306" y="24892"/>
                  </a:cubicBezTo>
                  <a:lnTo>
                    <a:pt x="51816" y="44069"/>
                  </a:lnTo>
                  <a:cubicBezTo>
                    <a:pt x="35560" y="58166"/>
                    <a:pt x="25400" y="78740"/>
                    <a:pt x="25400" y="101600"/>
                  </a:cubicBezTo>
                  <a:close/>
                </a:path>
              </a:pathLst>
            </a:custGeom>
            <a:solidFill>
              <a:srgbClr val="9AA6B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8" name="TextBox 78"/>
          <p:cNvSpPr txBox="1"/>
          <p:nvPr/>
        </p:nvSpPr>
        <p:spPr>
          <a:xfrm>
            <a:off x="15503728" y="5915025"/>
            <a:ext cx="78194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6B7A8F"/>
                </a:solidFill>
                <a:latin typeface="IBM Plex Sans"/>
                <a:ea typeface="IBM Plex Sans"/>
                <a:cs typeface="IBM Plex Sans"/>
                <a:sym typeface="IBM Plex Sans"/>
              </a:rPr>
              <a:t>19</a:t>
            </a:r>
          </a:p>
        </p:txBody>
      </p:sp>
      <p:grpSp>
        <p:nvGrpSpPr>
          <p:cNvPr id="79" name="Group 79"/>
          <p:cNvGrpSpPr/>
          <p:nvPr/>
        </p:nvGrpSpPr>
        <p:grpSpPr>
          <a:xfrm>
            <a:off x="16323764" y="5838825"/>
            <a:ext cx="743845" cy="542925"/>
            <a:chOff x="0" y="0"/>
            <a:chExt cx="991794" cy="72390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991743" cy="723900"/>
            </a:xfrm>
            <a:custGeom>
              <a:avLst/>
              <a:gdLst/>
              <a:ahLst/>
              <a:cxnLst/>
              <a:rect l="l" t="t" r="r" b="b"/>
              <a:pathLst>
                <a:path w="991743" h="723900">
                  <a:moveTo>
                    <a:pt x="139954" y="0"/>
                  </a:moveTo>
                  <a:lnTo>
                    <a:pt x="216154" y="0"/>
                  </a:lnTo>
                  <a:lnTo>
                    <a:pt x="216154" y="25400"/>
                  </a:lnTo>
                  <a:lnTo>
                    <a:pt x="139954" y="25400"/>
                  </a:lnTo>
                  <a:close/>
                  <a:moveTo>
                    <a:pt x="317754" y="25400"/>
                  </a:moveTo>
                  <a:lnTo>
                    <a:pt x="393954" y="25400"/>
                  </a:lnTo>
                  <a:lnTo>
                    <a:pt x="317754" y="25400"/>
                  </a:lnTo>
                  <a:close/>
                  <a:moveTo>
                    <a:pt x="495554" y="25400"/>
                  </a:moveTo>
                  <a:lnTo>
                    <a:pt x="571754" y="25400"/>
                  </a:lnTo>
                  <a:lnTo>
                    <a:pt x="495554" y="25400"/>
                  </a:lnTo>
                  <a:close/>
                  <a:moveTo>
                    <a:pt x="673354" y="25400"/>
                  </a:moveTo>
                  <a:lnTo>
                    <a:pt x="749554" y="25400"/>
                  </a:lnTo>
                  <a:lnTo>
                    <a:pt x="673354" y="25400"/>
                  </a:lnTo>
                  <a:close/>
                  <a:moveTo>
                    <a:pt x="851154" y="25400"/>
                  </a:moveTo>
                  <a:lnTo>
                    <a:pt x="889381" y="25400"/>
                  </a:lnTo>
                  <a:lnTo>
                    <a:pt x="889381" y="12700"/>
                  </a:lnTo>
                  <a:lnTo>
                    <a:pt x="889381" y="0"/>
                  </a:lnTo>
                  <a:cubicBezTo>
                    <a:pt x="904367" y="0"/>
                    <a:pt x="918591" y="3175"/>
                    <a:pt x="931418" y="8890"/>
                  </a:cubicBezTo>
                  <a:lnTo>
                    <a:pt x="921004" y="32131"/>
                  </a:lnTo>
                  <a:cubicBezTo>
                    <a:pt x="911352" y="27813"/>
                    <a:pt x="900557" y="25400"/>
                    <a:pt x="889254" y="25400"/>
                  </a:cubicBezTo>
                  <a:lnTo>
                    <a:pt x="851154" y="25400"/>
                  </a:lnTo>
                  <a:close/>
                  <a:moveTo>
                    <a:pt x="991743" y="100711"/>
                  </a:moveTo>
                  <a:cubicBezTo>
                    <a:pt x="991743" y="100965"/>
                    <a:pt x="991743" y="101346"/>
                    <a:pt x="991743" y="101600"/>
                  </a:cubicBezTo>
                  <a:lnTo>
                    <a:pt x="979043" y="101600"/>
                  </a:lnTo>
                  <a:lnTo>
                    <a:pt x="991743" y="101600"/>
                  </a:lnTo>
                  <a:lnTo>
                    <a:pt x="991743" y="177038"/>
                  </a:lnTo>
                  <a:lnTo>
                    <a:pt x="966343" y="177038"/>
                  </a:lnTo>
                  <a:lnTo>
                    <a:pt x="966343" y="101600"/>
                  </a:lnTo>
                  <a:cubicBezTo>
                    <a:pt x="966343" y="101346"/>
                    <a:pt x="966343" y="101219"/>
                    <a:pt x="966343" y="100965"/>
                  </a:cubicBezTo>
                  <a:close/>
                  <a:moveTo>
                    <a:pt x="966343" y="278892"/>
                  </a:moveTo>
                  <a:lnTo>
                    <a:pt x="966343" y="355092"/>
                  </a:lnTo>
                  <a:lnTo>
                    <a:pt x="940943" y="355092"/>
                  </a:lnTo>
                  <a:lnTo>
                    <a:pt x="940943" y="278892"/>
                  </a:lnTo>
                  <a:close/>
                  <a:moveTo>
                    <a:pt x="940943" y="456692"/>
                  </a:moveTo>
                  <a:lnTo>
                    <a:pt x="940943" y="532892"/>
                  </a:lnTo>
                  <a:lnTo>
                    <a:pt x="915543" y="532892"/>
                  </a:lnTo>
                  <a:lnTo>
                    <a:pt x="915543" y="456692"/>
                  </a:lnTo>
                  <a:close/>
                  <a:moveTo>
                    <a:pt x="914654" y="636270"/>
                  </a:moveTo>
                  <a:cubicBezTo>
                    <a:pt x="910590" y="666115"/>
                    <a:pt x="893572" y="691769"/>
                    <a:pt x="869442" y="707517"/>
                  </a:cubicBezTo>
                  <a:lnTo>
                    <a:pt x="855599" y="686308"/>
                  </a:lnTo>
                  <a:cubicBezTo>
                    <a:pt x="873760" y="674370"/>
                    <a:pt x="886587" y="655193"/>
                    <a:pt x="889508" y="632968"/>
                  </a:cubicBezTo>
                  <a:close/>
                  <a:moveTo>
                    <a:pt x="839851" y="723900"/>
                  </a:moveTo>
                  <a:lnTo>
                    <a:pt x="763651" y="723900"/>
                  </a:lnTo>
                  <a:lnTo>
                    <a:pt x="763651" y="698500"/>
                  </a:lnTo>
                  <a:lnTo>
                    <a:pt x="839851" y="698500"/>
                  </a:lnTo>
                  <a:close/>
                  <a:moveTo>
                    <a:pt x="662051" y="698500"/>
                  </a:moveTo>
                  <a:lnTo>
                    <a:pt x="585851" y="698500"/>
                  </a:lnTo>
                  <a:lnTo>
                    <a:pt x="662051" y="698500"/>
                  </a:lnTo>
                  <a:close/>
                  <a:moveTo>
                    <a:pt x="484251" y="698500"/>
                  </a:moveTo>
                  <a:lnTo>
                    <a:pt x="408051" y="698500"/>
                  </a:lnTo>
                  <a:lnTo>
                    <a:pt x="484251" y="698500"/>
                  </a:lnTo>
                  <a:close/>
                  <a:moveTo>
                    <a:pt x="306451" y="698500"/>
                  </a:moveTo>
                  <a:lnTo>
                    <a:pt x="230251" y="698500"/>
                  </a:lnTo>
                  <a:lnTo>
                    <a:pt x="306451" y="698500"/>
                  </a:lnTo>
                  <a:close/>
                  <a:moveTo>
                    <a:pt x="128651" y="698500"/>
                  </a:moveTo>
                  <a:lnTo>
                    <a:pt x="102489" y="698500"/>
                  </a:lnTo>
                  <a:lnTo>
                    <a:pt x="102489" y="711200"/>
                  </a:lnTo>
                  <a:lnTo>
                    <a:pt x="102489" y="723900"/>
                  </a:lnTo>
                  <a:cubicBezTo>
                    <a:pt x="82677" y="723900"/>
                    <a:pt x="64008" y="718312"/>
                    <a:pt x="48387" y="708533"/>
                  </a:cubicBezTo>
                  <a:lnTo>
                    <a:pt x="61722" y="686943"/>
                  </a:lnTo>
                  <a:cubicBezTo>
                    <a:pt x="73533" y="694309"/>
                    <a:pt x="87503" y="698500"/>
                    <a:pt x="102489" y="698500"/>
                  </a:cubicBezTo>
                  <a:lnTo>
                    <a:pt x="128778" y="698500"/>
                  </a:lnTo>
                  <a:close/>
                  <a:moveTo>
                    <a:pt x="0" y="611124"/>
                  </a:moveTo>
                  <a:lnTo>
                    <a:pt x="0" y="534924"/>
                  </a:lnTo>
                  <a:lnTo>
                    <a:pt x="25400" y="534924"/>
                  </a:lnTo>
                  <a:lnTo>
                    <a:pt x="25400" y="611124"/>
                  </a:lnTo>
                  <a:close/>
                  <a:moveTo>
                    <a:pt x="25400" y="433324"/>
                  </a:moveTo>
                  <a:lnTo>
                    <a:pt x="25400" y="357124"/>
                  </a:lnTo>
                  <a:lnTo>
                    <a:pt x="25400" y="433324"/>
                  </a:lnTo>
                  <a:close/>
                  <a:moveTo>
                    <a:pt x="25400" y="255524"/>
                  </a:moveTo>
                  <a:lnTo>
                    <a:pt x="25400" y="179324"/>
                  </a:lnTo>
                  <a:lnTo>
                    <a:pt x="25400" y="255524"/>
                  </a:lnTo>
                  <a:close/>
                  <a:moveTo>
                    <a:pt x="0" y="101600"/>
                  </a:moveTo>
                  <a:cubicBezTo>
                    <a:pt x="0" y="70993"/>
                    <a:pt x="13716" y="43434"/>
                    <a:pt x="35306" y="24892"/>
                  </a:cubicBezTo>
                  <a:lnTo>
                    <a:pt x="51816" y="44069"/>
                  </a:lnTo>
                  <a:cubicBezTo>
                    <a:pt x="35560" y="58166"/>
                    <a:pt x="25400" y="78740"/>
                    <a:pt x="25400" y="101600"/>
                  </a:cubicBezTo>
                  <a:close/>
                </a:path>
              </a:pathLst>
            </a:custGeom>
            <a:solidFill>
              <a:srgbClr val="9AA6B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1" name="TextBox 81"/>
          <p:cNvSpPr txBox="1"/>
          <p:nvPr/>
        </p:nvSpPr>
        <p:spPr>
          <a:xfrm>
            <a:off x="16304714" y="5915025"/>
            <a:ext cx="78194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6B7A8F"/>
                </a:solidFill>
                <a:latin typeface="IBM Plex Sans"/>
                <a:ea typeface="IBM Plex Sans"/>
                <a:cs typeface="IBM Plex Sans"/>
                <a:sym typeface="IBM Plex Sans"/>
              </a:rPr>
              <a:t>20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1219200" y="6610350"/>
            <a:ext cx="16325088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0F1B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History list: grows by one node for every completed request (m nodes)</a:t>
            </a:r>
          </a:p>
        </p:txBody>
      </p:sp>
      <p:grpSp>
        <p:nvGrpSpPr>
          <p:cNvPr id="83" name="Group 83"/>
          <p:cNvGrpSpPr/>
          <p:nvPr/>
        </p:nvGrpSpPr>
        <p:grpSpPr>
          <a:xfrm>
            <a:off x="1219200" y="7038975"/>
            <a:ext cx="1428750" cy="542925"/>
            <a:chOff x="0" y="0"/>
            <a:chExt cx="1905000" cy="72390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1905000" cy="723900"/>
            </a:xfrm>
            <a:custGeom>
              <a:avLst/>
              <a:gdLst/>
              <a:ahLst/>
              <a:cxnLst/>
              <a:rect l="l" t="t" r="r" b="b"/>
              <a:pathLst>
                <a:path w="1905000" h="7239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1803400" y="0"/>
                  </a:lnTo>
                  <a:cubicBezTo>
                    <a:pt x="1859534" y="0"/>
                    <a:pt x="1905000" y="45466"/>
                    <a:pt x="1905000" y="101600"/>
                  </a:cubicBezTo>
                  <a:lnTo>
                    <a:pt x="1905000" y="622300"/>
                  </a:lnTo>
                  <a:cubicBezTo>
                    <a:pt x="1905000" y="678434"/>
                    <a:pt x="1859534" y="723900"/>
                    <a:pt x="1803400" y="723900"/>
                  </a:cubicBezTo>
                  <a:lnTo>
                    <a:pt x="101600" y="723900"/>
                  </a:lnTo>
                  <a:cubicBezTo>
                    <a:pt x="45466" y="723900"/>
                    <a:pt x="0" y="678434"/>
                    <a:pt x="0" y="622300"/>
                  </a:cubicBezTo>
                  <a:close/>
                </a:path>
              </a:pathLst>
            </a:custGeom>
            <a:solidFill>
              <a:srgbClr val="1F7A6D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5" name="TextBox 85"/>
          <p:cNvSpPr txBox="1"/>
          <p:nvPr/>
        </p:nvSpPr>
        <p:spPr>
          <a:xfrm>
            <a:off x="1181100" y="7115175"/>
            <a:ext cx="150495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node 1</a:t>
            </a:r>
          </a:p>
        </p:txBody>
      </p:sp>
      <p:grpSp>
        <p:nvGrpSpPr>
          <p:cNvPr id="86" name="Group 86"/>
          <p:cNvGrpSpPr/>
          <p:nvPr/>
        </p:nvGrpSpPr>
        <p:grpSpPr>
          <a:xfrm>
            <a:off x="2705100" y="7038975"/>
            <a:ext cx="1428750" cy="542925"/>
            <a:chOff x="0" y="0"/>
            <a:chExt cx="1905000" cy="723900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1905000" cy="723900"/>
            </a:xfrm>
            <a:custGeom>
              <a:avLst/>
              <a:gdLst/>
              <a:ahLst/>
              <a:cxnLst/>
              <a:rect l="l" t="t" r="r" b="b"/>
              <a:pathLst>
                <a:path w="1905000" h="7239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1803400" y="0"/>
                  </a:lnTo>
                  <a:cubicBezTo>
                    <a:pt x="1859534" y="0"/>
                    <a:pt x="1905000" y="45466"/>
                    <a:pt x="1905000" y="101600"/>
                  </a:cubicBezTo>
                  <a:lnTo>
                    <a:pt x="1905000" y="622300"/>
                  </a:lnTo>
                  <a:cubicBezTo>
                    <a:pt x="1905000" y="678434"/>
                    <a:pt x="1859534" y="723900"/>
                    <a:pt x="1803400" y="723900"/>
                  </a:cubicBezTo>
                  <a:lnTo>
                    <a:pt x="101600" y="723900"/>
                  </a:lnTo>
                  <a:cubicBezTo>
                    <a:pt x="45466" y="723900"/>
                    <a:pt x="0" y="678434"/>
                    <a:pt x="0" y="622300"/>
                  </a:cubicBezTo>
                  <a:close/>
                </a:path>
              </a:pathLst>
            </a:custGeom>
            <a:solidFill>
              <a:srgbClr val="1F7A6D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8" name="TextBox 88"/>
          <p:cNvSpPr txBox="1"/>
          <p:nvPr/>
        </p:nvSpPr>
        <p:spPr>
          <a:xfrm>
            <a:off x="2667000" y="7115175"/>
            <a:ext cx="150495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node 2</a:t>
            </a:r>
          </a:p>
        </p:txBody>
      </p:sp>
      <p:grpSp>
        <p:nvGrpSpPr>
          <p:cNvPr id="89" name="Group 89"/>
          <p:cNvGrpSpPr/>
          <p:nvPr/>
        </p:nvGrpSpPr>
        <p:grpSpPr>
          <a:xfrm>
            <a:off x="4191000" y="7038975"/>
            <a:ext cx="1428750" cy="542925"/>
            <a:chOff x="0" y="0"/>
            <a:chExt cx="1905000" cy="723900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1905000" cy="723900"/>
            </a:xfrm>
            <a:custGeom>
              <a:avLst/>
              <a:gdLst/>
              <a:ahLst/>
              <a:cxnLst/>
              <a:rect l="l" t="t" r="r" b="b"/>
              <a:pathLst>
                <a:path w="1905000" h="7239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1803400" y="0"/>
                  </a:lnTo>
                  <a:cubicBezTo>
                    <a:pt x="1859534" y="0"/>
                    <a:pt x="1905000" y="45466"/>
                    <a:pt x="1905000" y="101600"/>
                  </a:cubicBezTo>
                  <a:lnTo>
                    <a:pt x="1905000" y="622300"/>
                  </a:lnTo>
                  <a:cubicBezTo>
                    <a:pt x="1905000" y="678434"/>
                    <a:pt x="1859534" y="723900"/>
                    <a:pt x="1803400" y="723900"/>
                  </a:cubicBezTo>
                  <a:lnTo>
                    <a:pt x="101600" y="723900"/>
                  </a:lnTo>
                  <a:cubicBezTo>
                    <a:pt x="45466" y="723900"/>
                    <a:pt x="0" y="678434"/>
                    <a:pt x="0" y="622300"/>
                  </a:cubicBezTo>
                  <a:close/>
                </a:path>
              </a:pathLst>
            </a:custGeom>
            <a:solidFill>
              <a:srgbClr val="1F7A6D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1" name="TextBox 91"/>
          <p:cNvSpPr txBox="1"/>
          <p:nvPr/>
        </p:nvSpPr>
        <p:spPr>
          <a:xfrm>
            <a:off x="4152900" y="7115175"/>
            <a:ext cx="150495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node 3</a:t>
            </a:r>
          </a:p>
        </p:txBody>
      </p:sp>
      <p:grpSp>
        <p:nvGrpSpPr>
          <p:cNvPr id="92" name="Group 92"/>
          <p:cNvGrpSpPr/>
          <p:nvPr/>
        </p:nvGrpSpPr>
        <p:grpSpPr>
          <a:xfrm>
            <a:off x="5676900" y="7038975"/>
            <a:ext cx="1428750" cy="542925"/>
            <a:chOff x="0" y="0"/>
            <a:chExt cx="1905000" cy="723900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1905127" cy="723900"/>
            </a:xfrm>
            <a:custGeom>
              <a:avLst/>
              <a:gdLst/>
              <a:ahLst/>
              <a:cxnLst/>
              <a:rect l="l" t="t" r="r" b="b"/>
              <a:pathLst>
                <a:path w="1905127" h="723900">
                  <a:moveTo>
                    <a:pt x="140208" y="0"/>
                  </a:moveTo>
                  <a:lnTo>
                    <a:pt x="216408" y="0"/>
                  </a:lnTo>
                  <a:lnTo>
                    <a:pt x="216408" y="25400"/>
                  </a:lnTo>
                  <a:lnTo>
                    <a:pt x="140208" y="25400"/>
                  </a:lnTo>
                  <a:close/>
                  <a:moveTo>
                    <a:pt x="318008" y="25400"/>
                  </a:moveTo>
                  <a:lnTo>
                    <a:pt x="394208" y="25400"/>
                  </a:lnTo>
                  <a:lnTo>
                    <a:pt x="318008" y="25400"/>
                  </a:lnTo>
                  <a:close/>
                  <a:moveTo>
                    <a:pt x="495808" y="25400"/>
                  </a:moveTo>
                  <a:lnTo>
                    <a:pt x="572008" y="25400"/>
                  </a:lnTo>
                  <a:lnTo>
                    <a:pt x="495808" y="25400"/>
                  </a:lnTo>
                  <a:close/>
                  <a:moveTo>
                    <a:pt x="673608" y="25400"/>
                  </a:moveTo>
                  <a:lnTo>
                    <a:pt x="749808" y="25400"/>
                  </a:lnTo>
                  <a:lnTo>
                    <a:pt x="673608" y="25400"/>
                  </a:lnTo>
                  <a:close/>
                  <a:moveTo>
                    <a:pt x="851408" y="25400"/>
                  </a:moveTo>
                  <a:lnTo>
                    <a:pt x="927608" y="25400"/>
                  </a:lnTo>
                  <a:lnTo>
                    <a:pt x="851408" y="25400"/>
                  </a:lnTo>
                  <a:close/>
                  <a:moveTo>
                    <a:pt x="1029208" y="25400"/>
                  </a:moveTo>
                  <a:lnTo>
                    <a:pt x="1105408" y="25400"/>
                  </a:lnTo>
                  <a:lnTo>
                    <a:pt x="1029208" y="25400"/>
                  </a:lnTo>
                  <a:close/>
                  <a:moveTo>
                    <a:pt x="1207008" y="25400"/>
                  </a:moveTo>
                  <a:lnTo>
                    <a:pt x="1283208" y="25400"/>
                  </a:lnTo>
                  <a:lnTo>
                    <a:pt x="1207008" y="25400"/>
                  </a:lnTo>
                  <a:close/>
                  <a:moveTo>
                    <a:pt x="1384808" y="25400"/>
                  </a:moveTo>
                  <a:lnTo>
                    <a:pt x="1461008" y="25400"/>
                  </a:lnTo>
                  <a:lnTo>
                    <a:pt x="1384808" y="25400"/>
                  </a:lnTo>
                  <a:close/>
                  <a:moveTo>
                    <a:pt x="1562608" y="25400"/>
                  </a:moveTo>
                  <a:lnTo>
                    <a:pt x="1638808" y="25400"/>
                  </a:lnTo>
                  <a:lnTo>
                    <a:pt x="1562608" y="25400"/>
                  </a:lnTo>
                  <a:close/>
                  <a:moveTo>
                    <a:pt x="1740408" y="25400"/>
                  </a:moveTo>
                  <a:lnTo>
                    <a:pt x="1801495" y="25400"/>
                  </a:lnTo>
                  <a:lnTo>
                    <a:pt x="1801495" y="12700"/>
                  </a:lnTo>
                  <a:lnTo>
                    <a:pt x="1801495" y="0"/>
                  </a:lnTo>
                  <a:cubicBezTo>
                    <a:pt x="1807337" y="0"/>
                    <a:pt x="1813052" y="508"/>
                    <a:pt x="1818640" y="1397"/>
                  </a:cubicBezTo>
                  <a:lnTo>
                    <a:pt x="1814576" y="26416"/>
                  </a:lnTo>
                  <a:cubicBezTo>
                    <a:pt x="1810385" y="25781"/>
                    <a:pt x="1805940" y="25400"/>
                    <a:pt x="1801495" y="25400"/>
                  </a:cubicBezTo>
                  <a:lnTo>
                    <a:pt x="1740408" y="25400"/>
                  </a:lnTo>
                  <a:close/>
                  <a:moveTo>
                    <a:pt x="1901190" y="99314"/>
                  </a:moveTo>
                  <a:cubicBezTo>
                    <a:pt x="1903730" y="108077"/>
                    <a:pt x="1905127" y="117475"/>
                    <a:pt x="1905127" y="127000"/>
                  </a:cubicBezTo>
                  <a:lnTo>
                    <a:pt x="1892427" y="127000"/>
                  </a:lnTo>
                  <a:lnTo>
                    <a:pt x="1905127" y="127000"/>
                  </a:lnTo>
                  <a:lnTo>
                    <a:pt x="1905127" y="178689"/>
                  </a:lnTo>
                  <a:lnTo>
                    <a:pt x="1879727" y="178689"/>
                  </a:lnTo>
                  <a:lnTo>
                    <a:pt x="1879727" y="101600"/>
                  </a:lnTo>
                  <a:cubicBezTo>
                    <a:pt x="1879727" y="94361"/>
                    <a:pt x="1878711" y="87503"/>
                    <a:pt x="1876806" y="80899"/>
                  </a:cubicBezTo>
                  <a:close/>
                  <a:moveTo>
                    <a:pt x="1905000" y="254889"/>
                  </a:moveTo>
                  <a:lnTo>
                    <a:pt x="1905000" y="331089"/>
                  </a:lnTo>
                  <a:lnTo>
                    <a:pt x="1879600" y="331089"/>
                  </a:lnTo>
                  <a:lnTo>
                    <a:pt x="1879600" y="254889"/>
                  </a:lnTo>
                  <a:close/>
                  <a:moveTo>
                    <a:pt x="1879600" y="432689"/>
                  </a:moveTo>
                  <a:lnTo>
                    <a:pt x="1879600" y="508889"/>
                  </a:lnTo>
                  <a:lnTo>
                    <a:pt x="1854200" y="508889"/>
                  </a:lnTo>
                  <a:lnTo>
                    <a:pt x="1854200" y="432689"/>
                  </a:lnTo>
                  <a:close/>
                  <a:moveTo>
                    <a:pt x="1854200" y="610489"/>
                  </a:moveTo>
                  <a:lnTo>
                    <a:pt x="1854200" y="622300"/>
                  </a:lnTo>
                  <a:lnTo>
                    <a:pt x="1841500" y="622300"/>
                  </a:lnTo>
                  <a:lnTo>
                    <a:pt x="1854200" y="622300"/>
                  </a:lnTo>
                  <a:cubicBezTo>
                    <a:pt x="1854200" y="648081"/>
                    <a:pt x="1844421" y="671703"/>
                    <a:pt x="1828292" y="689610"/>
                  </a:cubicBezTo>
                  <a:lnTo>
                    <a:pt x="1809369" y="672592"/>
                  </a:lnTo>
                  <a:cubicBezTo>
                    <a:pt x="1872361" y="659130"/>
                    <a:pt x="1879600" y="641477"/>
                    <a:pt x="1879600" y="622300"/>
                  </a:cubicBezTo>
                  <a:lnTo>
                    <a:pt x="1879600" y="610489"/>
                  </a:lnTo>
                  <a:close/>
                  <a:moveTo>
                    <a:pt x="1776603" y="723900"/>
                  </a:moveTo>
                  <a:lnTo>
                    <a:pt x="1700403" y="723900"/>
                  </a:lnTo>
                  <a:lnTo>
                    <a:pt x="1700403" y="698500"/>
                  </a:lnTo>
                  <a:lnTo>
                    <a:pt x="1776603" y="698500"/>
                  </a:lnTo>
                  <a:close/>
                  <a:moveTo>
                    <a:pt x="1598803" y="698500"/>
                  </a:moveTo>
                  <a:lnTo>
                    <a:pt x="1522603" y="698500"/>
                  </a:lnTo>
                  <a:lnTo>
                    <a:pt x="1598803" y="698500"/>
                  </a:lnTo>
                  <a:close/>
                  <a:moveTo>
                    <a:pt x="1421003" y="698500"/>
                  </a:moveTo>
                  <a:lnTo>
                    <a:pt x="1344803" y="698500"/>
                  </a:lnTo>
                  <a:lnTo>
                    <a:pt x="1421003" y="698500"/>
                  </a:lnTo>
                  <a:close/>
                  <a:moveTo>
                    <a:pt x="1243203" y="698500"/>
                  </a:moveTo>
                  <a:lnTo>
                    <a:pt x="1167003" y="698500"/>
                  </a:lnTo>
                  <a:lnTo>
                    <a:pt x="1243203" y="698500"/>
                  </a:lnTo>
                  <a:close/>
                  <a:moveTo>
                    <a:pt x="1065403" y="698500"/>
                  </a:moveTo>
                  <a:lnTo>
                    <a:pt x="989203" y="698500"/>
                  </a:lnTo>
                  <a:lnTo>
                    <a:pt x="1065403" y="698500"/>
                  </a:lnTo>
                  <a:close/>
                  <a:moveTo>
                    <a:pt x="887603" y="698500"/>
                  </a:moveTo>
                  <a:lnTo>
                    <a:pt x="811403" y="698500"/>
                  </a:lnTo>
                  <a:lnTo>
                    <a:pt x="887603" y="698500"/>
                  </a:lnTo>
                  <a:close/>
                  <a:moveTo>
                    <a:pt x="709803" y="698500"/>
                  </a:moveTo>
                  <a:lnTo>
                    <a:pt x="633603" y="698500"/>
                  </a:lnTo>
                  <a:lnTo>
                    <a:pt x="709803" y="698500"/>
                  </a:lnTo>
                  <a:close/>
                  <a:moveTo>
                    <a:pt x="532003" y="698500"/>
                  </a:moveTo>
                  <a:lnTo>
                    <a:pt x="455803" y="698500"/>
                  </a:lnTo>
                  <a:lnTo>
                    <a:pt x="532003" y="698500"/>
                  </a:lnTo>
                  <a:close/>
                  <a:moveTo>
                    <a:pt x="354203" y="698500"/>
                  </a:moveTo>
                  <a:lnTo>
                    <a:pt x="278003" y="698500"/>
                  </a:lnTo>
                  <a:lnTo>
                    <a:pt x="354203" y="698500"/>
                  </a:lnTo>
                  <a:close/>
                  <a:moveTo>
                    <a:pt x="176403" y="698500"/>
                  </a:moveTo>
                  <a:lnTo>
                    <a:pt x="103632" y="698500"/>
                  </a:lnTo>
                  <a:lnTo>
                    <a:pt x="103632" y="711200"/>
                  </a:lnTo>
                  <a:lnTo>
                    <a:pt x="103632" y="723900"/>
                  </a:lnTo>
                  <a:cubicBezTo>
                    <a:pt x="102362" y="723900"/>
                    <a:pt x="100965" y="723900"/>
                    <a:pt x="99695" y="723773"/>
                  </a:cubicBezTo>
                  <a:lnTo>
                    <a:pt x="100584" y="698373"/>
                  </a:lnTo>
                  <a:cubicBezTo>
                    <a:pt x="101600" y="698373"/>
                    <a:pt x="102616" y="698373"/>
                    <a:pt x="103505" y="698373"/>
                  </a:cubicBezTo>
                  <a:lnTo>
                    <a:pt x="176276" y="698373"/>
                  </a:lnTo>
                  <a:close/>
                  <a:moveTo>
                    <a:pt x="8509" y="662686"/>
                  </a:moveTo>
                  <a:cubicBezTo>
                    <a:pt x="3048" y="650240"/>
                    <a:pt x="0" y="636651"/>
                    <a:pt x="0" y="622300"/>
                  </a:cubicBezTo>
                  <a:lnTo>
                    <a:pt x="0" y="582295"/>
                  </a:lnTo>
                  <a:lnTo>
                    <a:pt x="25400" y="582295"/>
                  </a:lnTo>
                  <a:lnTo>
                    <a:pt x="25400" y="622300"/>
                  </a:lnTo>
                  <a:lnTo>
                    <a:pt x="12700" y="622300"/>
                  </a:lnTo>
                  <a:lnTo>
                    <a:pt x="25400" y="622300"/>
                  </a:lnTo>
                  <a:cubicBezTo>
                    <a:pt x="25400" y="632968"/>
                    <a:pt x="27686" y="643128"/>
                    <a:pt x="31750" y="652399"/>
                  </a:cubicBezTo>
                  <a:close/>
                  <a:moveTo>
                    <a:pt x="0" y="480695"/>
                  </a:moveTo>
                  <a:lnTo>
                    <a:pt x="0" y="404495"/>
                  </a:lnTo>
                  <a:lnTo>
                    <a:pt x="25400" y="404495"/>
                  </a:lnTo>
                  <a:lnTo>
                    <a:pt x="25400" y="480695"/>
                  </a:lnTo>
                  <a:close/>
                  <a:moveTo>
                    <a:pt x="25400" y="302895"/>
                  </a:moveTo>
                  <a:lnTo>
                    <a:pt x="25400" y="226695"/>
                  </a:lnTo>
                  <a:lnTo>
                    <a:pt x="25400" y="302895"/>
                  </a:lnTo>
                  <a:close/>
                  <a:moveTo>
                    <a:pt x="25400" y="125095"/>
                  </a:moveTo>
                  <a:lnTo>
                    <a:pt x="25400" y="101600"/>
                  </a:lnTo>
                  <a:lnTo>
                    <a:pt x="12700" y="101600"/>
                  </a:lnTo>
                  <a:lnTo>
                    <a:pt x="0" y="101600"/>
                  </a:lnTo>
                  <a:cubicBezTo>
                    <a:pt x="0" y="70993"/>
                    <a:pt x="13843" y="43561"/>
                    <a:pt x="35560" y="25019"/>
                  </a:cubicBezTo>
                  <a:lnTo>
                    <a:pt x="52070" y="44323"/>
                  </a:lnTo>
                  <a:cubicBezTo>
                    <a:pt x="35687" y="58293"/>
                    <a:pt x="25400" y="78867"/>
                    <a:pt x="25400" y="101600"/>
                  </a:cubicBezTo>
                  <a:lnTo>
                    <a:pt x="25400" y="125095"/>
                  </a:lnTo>
                  <a:close/>
                </a:path>
              </a:pathLst>
            </a:custGeom>
            <a:solidFill>
              <a:srgbClr val="1F7A6D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4" name="TextBox 94"/>
          <p:cNvSpPr txBox="1"/>
          <p:nvPr/>
        </p:nvSpPr>
        <p:spPr>
          <a:xfrm>
            <a:off x="5657850" y="7115175"/>
            <a:ext cx="146685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1F7A6D"/>
                </a:solidFill>
                <a:latin typeface="IBM Plex Sans"/>
                <a:ea typeface="IBM Plex Sans"/>
                <a:cs typeface="IBM Plex Sans"/>
                <a:sym typeface="IBM Plex Sans"/>
              </a:rPr>
              <a:t>node 4 …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7315200" y="7115175"/>
            <a:ext cx="2377621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3B4A5E"/>
                </a:solidFill>
                <a:latin typeface="IBM Plex Sans"/>
                <a:ea typeface="IBM Plex Sans"/>
                <a:cs typeface="IBM Plex Sans"/>
                <a:sym typeface="IBM Plex Sans"/>
              </a:rPr>
              <a:t>no fixed upper limit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1219200" y="9324975"/>
            <a:ext cx="16325088" cy="299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6B7A8F"/>
                </a:solidFill>
                <a:latin typeface="IBM Plex Sans"/>
                <a:ea typeface="IBM Plex Sans"/>
                <a:cs typeface="IBM Plex Sans"/>
                <a:sym typeface="IBM Plex Sans"/>
              </a:rPr>
              <a:t>Elevator Request Management System · 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19200" y="1181100"/>
            <a:ext cx="16325088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225">
                <a:solidFill>
                  <a:srgbClr val="E8A33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INITIAL FLOOR = 1 · REQUESTS 2 → 7, 5 → 1, 8 → 10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19200" y="1819275"/>
            <a:ext cx="16325088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4200" b="1">
                <a:solidFill>
                  <a:srgbClr val="F5F3E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Complete Working Example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19200" y="2714625"/>
            <a:ext cx="3063183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F5F3E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Initial queue, FIFO order: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4282383" y="2676525"/>
            <a:ext cx="903237" cy="495300"/>
            <a:chOff x="0" y="0"/>
            <a:chExt cx="1204316" cy="660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04341" cy="660400"/>
            </a:xfrm>
            <a:custGeom>
              <a:avLst/>
              <a:gdLst/>
              <a:ahLst/>
              <a:cxnLst/>
              <a:rect l="l" t="t" r="r" b="b"/>
              <a:pathLst>
                <a:path w="1204341" h="6604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1077341" y="0"/>
                  </a:lnTo>
                  <a:cubicBezTo>
                    <a:pt x="1147445" y="0"/>
                    <a:pt x="1204341" y="56896"/>
                    <a:pt x="1204341" y="127000"/>
                  </a:cubicBezTo>
                  <a:lnTo>
                    <a:pt x="1204341" y="533400"/>
                  </a:lnTo>
                  <a:cubicBezTo>
                    <a:pt x="1204341" y="603504"/>
                    <a:pt x="1147445" y="660400"/>
                    <a:pt x="1077341" y="660400"/>
                  </a:cubicBezTo>
                  <a:lnTo>
                    <a:pt x="127000" y="660400"/>
                  </a:lnTo>
                  <a:cubicBezTo>
                    <a:pt x="56896" y="660400"/>
                    <a:pt x="0" y="603504"/>
                    <a:pt x="0" y="533400"/>
                  </a:cubicBezTo>
                  <a:close/>
                </a:path>
              </a:pathLst>
            </a:custGeom>
            <a:solidFill>
              <a:srgbClr val="B9C6D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04316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1950" b="1">
                  <a:solidFill>
                    <a:srgbClr val="0F1B2D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front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338020" y="2676525"/>
            <a:ext cx="1569834" cy="495300"/>
            <a:chOff x="0" y="0"/>
            <a:chExt cx="2093112" cy="660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93087" cy="660400"/>
            </a:xfrm>
            <a:custGeom>
              <a:avLst/>
              <a:gdLst/>
              <a:ahLst/>
              <a:cxnLst/>
              <a:rect l="l" t="t" r="r" b="b"/>
              <a:pathLst>
                <a:path w="2093087" h="6604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1966087" y="0"/>
                  </a:lnTo>
                  <a:cubicBezTo>
                    <a:pt x="2036191" y="0"/>
                    <a:pt x="2093087" y="56896"/>
                    <a:pt x="2093087" y="127000"/>
                  </a:cubicBezTo>
                  <a:lnTo>
                    <a:pt x="2093087" y="533400"/>
                  </a:lnTo>
                  <a:cubicBezTo>
                    <a:pt x="2093087" y="603504"/>
                    <a:pt x="2036191" y="660400"/>
                    <a:pt x="1966087" y="660400"/>
                  </a:cubicBezTo>
                  <a:lnTo>
                    <a:pt x="127000" y="660400"/>
                  </a:lnTo>
                  <a:cubicBezTo>
                    <a:pt x="56896" y="660400"/>
                    <a:pt x="0" y="603504"/>
                    <a:pt x="0" y="533400"/>
                  </a:cubicBezTo>
                  <a:close/>
                </a:path>
              </a:pathLst>
            </a:custGeom>
            <a:solidFill>
              <a:srgbClr val="2F6FB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093112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1950" b="1">
                  <a:solidFill>
                    <a:srgbClr val="FFFFFF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1: 2 → 7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060254" y="2676525"/>
            <a:ext cx="1569834" cy="495300"/>
            <a:chOff x="0" y="0"/>
            <a:chExt cx="2093112" cy="660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93087" cy="660400"/>
            </a:xfrm>
            <a:custGeom>
              <a:avLst/>
              <a:gdLst/>
              <a:ahLst/>
              <a:cxnLst/>
              <a:rect l="l" t="t" r="r" b="b"/>
              <a:pathLst>
                <a:path w="2093087" h="6604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1966087" y="0"/>
                  </a:lnTo>
                  <a:cubicBezTo>
                    <a:pt x="2036191" y="0"/>
                    <a:pt x="2093087" y="56896"/>
                    <a:pt x="2093087" y="127000"/>
                  </a:cubicBezTo>
                  <a:lnTo>
                    <a:pt x="2093087" y="533400"/>
                  </a:lnTo>
                  <a:cubicBezTo>
                    <a:pt x="2093087" y="603504"/>
                    <a:pt x="2036191" y="660400"/>
                    <a:pt x="1966087" y="660400"/>
                  </a:cubicBezTo>
                  <a:lnTo>
                    <a:pt x="127000" y="660400"/>
                  </a:lnTo>
                  <a:cubicBezTo>
                    <a:pt x="56896" y="660400"/>
                    <a:pt x="0" y="603504"/>
                    <a:pt x="0" y="533400"/>
                  </a:cubicBezTo>
                  <a:close/>
                </a:path>
              </a:pathLst>
            </a:custGeom>
            <a:solidFill>
              <a:srgbClr val="2F6FB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093112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1950" b="1">
                  <a:solidFill>
                    <a:srgbClr val="FFFFFF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2: 5 → 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782498" y="2676525"/>
            <a:ext cx="1718367" cy="495300"/>
            <a:chOff x="0" y="0"/>
            <a:chExt cx="2291156" cy="660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291207" cy="660400"/>
            </a:xfrm>
            <a:custGeom>
              <a:avLst/>
              <a:gdLst/>
              <a:ahLst/>
              <a:cxnLst/>
              <a:rect l="l" t="t" r="r" b="b"/>
              <a:pathLst>
                <a:path w="2291207" h="6604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2164207" y="0"/>
                  </a:lnTo>
                  <a:cubicBezTo>
                    <a:pt x="2234311" y="0"/>
                    <a:pt x="2291207" y="56896"/>
                    <a:pt x="2291207" y="127000"/>
                  </a:cubicBezTo>
                  <a:lnTo>
                    <a:pt x="2291207" y="533400"/>
                  </a:lnTo>
                  <a:cubicBezTo>
                    <a:pt x="2291207" y="603504"/>
                    <a:pt x="2234311" y="660400"/>
                    <a:pt x="2164207" y="660400"/>
                  </a:cubicBezTo>
                  <a:lnTo>
                    <a:pt x="127000" y="660400"/>
                  </a:lnTo>
                  <a:cubicBezTo>
                    <a:pt x="56896" y="660400"/>
                    <a:pt x="0" y="603504"/>
                    <a:pt x="0" y="533400"/>
                  </a:cubicBezTo>
                  <a:close/>
                </a:path>
              </a:pathLst>
            </a:custGeom>
            <a:solidFill>
              <a:srgbClr val="2F6FB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291156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1950" b="1">
                  <a:solidFill>
                    <a:srgbClr val="FFFFFF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3: 8 → 10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653265" y="2676525"/>
            <a:ext cx="813044" cy="495300"/>
            <a:chOff x="0" y="0"/>
            <a:chExt cx="1084059" cy="660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84072" cy="660400"/>
            </a:xfrm>
            <a:custGeom>
              <a:avLst/>
              <a:gdLst/>
              <a:ahLst/>
              <a:cxnLst/>
              <a:rect l="l" t="t" r="r" b="b"/>
              <a:pathLst>
                <a:path w="1084072" h="6604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957072" y="0"/>
                  </a:lnTo>
                  <a:cubicBezTo>
                    <a:pt x="1027176" y="0"/>
                    <a:pt x="1084072" y="56896"/>
                    <a:pt x="1084072" y="127000"/>
                  </a:cubicBezTo>
                  <a:lnTo>
                    <a:pt x="1084072" y="533400"/>
                  </a:lnTo>
                  <a:cubicBezTo>
                    <a:pt x="1084072" y="603504"/>
                    <a:pt x="1027176" y="660400"/>
                    <a:pt x="957072" y="660400"/>
                  </a:cubicBezTo>
                  <a:lnTo>
                    <a:pt x="127000" y="660400"/>
                  </a:lnTo>
                  <a:cubicBezTo>
                    <a:pt x="56896" y="660400"/>
                    <a:pt x="0" y="603504"/>
                    <a:pt x="0" y="533400"/>
                  </a:cubicBezTo>
                  <a:close/>
                </a:path>
              </a:pathLst>
            </a:custGeom>
            <a:solidFill>
              <a:srgbClr val="B9C6D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084059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1950" b="1">
                  <a:solidFill>
                    <a:srgbClr val="0F1B2D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rear</a:t>
              </a:r>
            </a:p>
          </p:txBody>
        </p:sp>
      </p:grpSp>
      <p:graphicFrame>
        <p:nvGraphicFramePr>
          <p:cNvPr id="20" name="Table 20"/>
          <p:cNvGraphicFramePr>
            <a:graphicFrameLocks noGrp="1"/>
          </p:cNvGraphicFramePr>
          <p:nvPr/>
        </p:nvGraphicFramePr>
        <p:xfrm>
          <a:off x="1238250" y="3457575"/>
          <a:ext cx="15792451" cy="2895601"/>
        </p:xfrm>
        <a:graphic>
          <a:graphicData uri="http://schemas.openxmlformats.org/drawingml/2006/table">
            <a:tbl>
              <a:tblPr/>
              <a:tblGrid>
                <a:gridCol w="19101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3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0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08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80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5825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Step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8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8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B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Elevator movement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5C8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8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8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B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Queue after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5C8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8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8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B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History after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5C8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8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8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B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Floor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5C8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C8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C8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6592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5F3EC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Process request 1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8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B9C6D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1→2 (to source), passenger enters; 2→3→4→5→6→7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8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B9C6D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[2: 5→1] [3: 8→10]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8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B9C6D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[1: 2→7]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8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E8A3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7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C8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6592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5F3EC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Process request 2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B9C6D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7→6→5, passenger enters; 5→4→3→2→1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B9C6D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[3: 8→10]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B9C6D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[1: 2→7] → [2: 5→1]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E8A3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6592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5F3EC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Process request 3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B9C6D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1→2→…→8, passenger enters; 8→9→10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B9C6D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empty, front = rear = -1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B9C6D8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[1: 2→7] → [2: 5→1] → [3: 8→10]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E8A33D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10</a:t>
                      </a:r>
                      <a:endParaRPr lang="en-US" sz="1100"/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F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58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1" name="Group 21"/>
          <p:cNvGrpSpPr/>
          <p:nvPr/>
        </p:nvGrpSpPr>
        <p:grpSpPr>
          <a:xfrm>
            <a:off x="1219200" y="6645773"/>
            <a:ext cx="15849600" cy="714375"/>
            <a:chOff x="0" y="0"/>
            <a:chExt cx="21132800" cy="9525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132800" cy="952500"/>
            </a:xfrm>
            <a:custGeom>
              <a:avLst/>
              <a:gdLst/>
              <a:ahLst/>
              <a:cxnLst/>
              <a:rect l="l" t="t" r="r" b="b"/>
              <a:pathLst>
                <a:path w="21132800" h="9525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20929600" y="0"/>
                  </a:lnTo>
                  <a:cubicBezTo>
                    <a:pt x="21041868" y="0"/>
                    <a:pt x="21132800" y="90932"/>
                    <a:pt x="21132800" y="203200"/>
                  </a:cubicBezTo>
                  <a:lnTo>
                    <a:pt x="21132800" y="749300"/>
                  </a:lnTo>
                  <a:cubicBezTo>
                    <a:pt x="21132800" y="861568"/>
                    <a:pt x="21041868" y="952500"/>
                    <a:pt x="20929600" y="952500"/>
                  </a:cubicBezTo>
                  <a:lnTo>
                    <a:pt x="203200" y="952500"/>
                  </a:lnTo>
                  <a:cubicBezTo>
                    <a:pt x="90932" y="952500"/>
                    <a:pt x="0" y="861568"/>
                    <a:pt x="0" y="749300"/>
                  </a:cubicBezTo>
                  <a:close/>
                </a:path>
              </a:pathLst>
            </a:custGeom>
            <a:solidFill>
              <a:srgbClr val="B9C6D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21132800" cy="100012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0F1B2D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Final: history [1: 2→7] → [2: 5→1] → [3: 8→10] → NULL · current floor 10 · floors travelled 1 + 5 + 2 + 4 + 7 + 2 = 21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219200" y="9324975"/>
            <a:ext cx="16325088" cy="299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7F93B2"/>
                </a:solidFill>
                <a:latin typeface="IBM Plex Sans"/>
                <a:ea typeface="IBM Plex Sans"/>
                <a:cs typeface="IBM Plex Sans"/>
                <a:sym typeface="IBM Plex Sans"/>
              </a:rPr>
              <a:t>Elevator Request Management System · 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19200" y="1181100"/>
            <a:ext cx="16325088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225">
                <a:solidFill>
                  <a:srgbClr val="2F6FB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SUMMARY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19200" y="1819275"/>
            <a:ext cx="16325088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4200" b="1">
                <a:solidFill>
                  <a:srgbClr val="0F1B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Conclusion and Key Takeaways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219200" y="2676525"/>
            <a:ext cx="3819525" cy="1600200"/>
            <a:chOff x="0" y="0"/>
            <a:chExt cx="5092700" cy="2133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092700" cy="2133600"/>
            </a:xfrm>
            <a:custGeom>
              <a:avLst/>
              <a:gdLst/>
              <a:ahLst/>
              <a:cxnLst/>
              <a:rect l="l" t="t" r="r" b="b"/>
              <a:pathLst>
                <a:path w="5092700" h="21336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4889500" y="0"/>
                  </a:lnTo>
                  <a:cubicBezTo>
                    <a:pt x="5001768" y="0"/>
                    <a:pt x="5092700" y="90932"/>
                    <a:pt x="5092700" y="203200"/>
                  </a:cubicBezTo>
                  <a:lnTo>
                    <a:pt x="5092700" y="1930400"/>
                  </a:lnTo>
                  <a:cubicBezTo>
                    <a:pt x="5092700" y="2042668"/>
                    <a:pt x="5001768" y="2133600"/>
                    <a:pt x="4889500" y="2133600"/>
                  </a:cubicBezTo>
                  <a:lnTo>
                    <a:pt x="203200" y="2133600"/>
                  </a:lnTo>
                  <a:cubicBezTo>
                    <a:pt x="90932" y="2133600"/>
                    <a:pt x="0" y="2042668"/>
                    <a:pt x="0" y="1930400"/>
                  </a:cubicBezTo>
                  <a:close/>
                </a:path>
              </a:pathLst>
            </a:custGeom>
            <a:solidFill>
              <a:srgbClr val="0F1B2D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485900" y="2943225"/>
            <a:ext cx="3384709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5F3E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Problem solved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85900" y="3343275"/>
            <a:ext cx="3384709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B9C6D8"/>
                </a:solidFill>
                <a:latin typeface="IBM Plex Sans"/>
                <a:ea typeface="IBM Plex Sans"/>
                <a:cs typeface="IBM Plex Sans"/>
                <a:sym typeface="IBM Plex Sans"/>
              </a:rPr>
              <a:t>Orderly handling of many requests for a single elevator.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229225" y="2676525"/>
            <a:ext cx="3819525" cy="1600200"/>
            <a:chOff x="0" y="0"/>
            <a:chExt cx="5092700" cy="2133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92700" cy="2133600"/>
            </a:xfrm>
            <a:custGeom>
              <a:avLst/>
              <a:gdLst/>
              <a:ahLst/>
              <a:cxnLst/>
              <a:rect l="l" t="t" r="r" b="b"/>
              <a:pathLst>
                <a:path w="5092700" h="21336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4889500" y="0"/>
                  </a:lnTo>
                  <a:cubicBezTo>
                    <a:pt x="5001768" y="0"/>
                    <a:pt x="5092700" y="90932"/>
                    <a:pt x="5092700" y="203200"/>
                  </a:cubicBezTo>
                  <a:lnTo>
                    <a:pt x="5092700" y="1930400"/>
                  </a:lnTo>
                  <a:cubicBezTo>
                    <a:pt x="5092700" y="2042668"/>
                    <a:pt x="5001768" y="2133600"/>
                    <a:pt x="4889500" y="2133600"/>
                  </a:cubicBezTo>
                  <a:lnTo>
                    <a:pt x="203200" y="2133600"/>
                  </a:lnTo>
                  <a:cubicBezTo>
                    <a:pt x="90932" y="2133600"/>
                    <a:pt x="0" y="2042668"/>
                    <a:pt x="0" y="1930400"/>
                  </a:cubicBezTo>
                  <a:close/>
                </a:path>
              </a:pathLst>
            </a:custGeom>
            <a:solidFill>
              <a:srgbClr val="0F1B2D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495925" y="2943225"/>
            <a:ext cx="3384709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5F3E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Queue (FIFO)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95925" y="3343275"/>
            <a:ext cx="3384709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B9C6D8"/>
                </a:solidFill>
                <a:latin typeface="IBM Plex Sans"/>
                <a:ea typeface="IBM Plex Sans"/>
                <a:cs typeface="IBM Plex Sans"/>
                <a:sym typeface="IBM Plex Sans"/>
              </a:rPr>
              <a:t>Pending requests are served in arrival order.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239250" y="2676525"/>
            <a:ext cx="3819525" cy="1600200"/>
            <a:chOff x="0" y="0"/>
            <a:chExt cx="5092700" cy="21336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092700" cy="2133600"/>
            </a:xfrm>
            <a:custGeom>
              <a:avLst/>
              <a:gdLst/>
              <a:ahLst/>
              <a:cxnLst/>
              <a:rect l="l" t="t" r="r" b="b"/>
              <a:pathLst>
                <a:path w="5092700" h="21336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4889500" y="0"/>
                  </a:lnTo>
                  <a:cubicBezTo>
                    <a:pt x="5001768" y="0"/>
                    <a:pt x="5092700" y="90932"/>
                    <a:pt x="5092700" y="203200"/>
                  </a:cubicBezTo>
                  <a:lnTo>
                    <a:pt x="5092700" y="1930400"/>
                  </a:lnTo>
                  <a:cubicBezTo>
                    <a:pt x="5092700" y="2042668"/>
                    <a:pt x="5001768" y="2133600"/>
                    <a:pt x="4889500" y="2133600"/>
                  </a:cubicBezTo>
                  <a:lnTo>
                    <a:pt x="203200" y="2133600"/>
                  </a:lnTo>
                  <a:cubicBezTo>
                    <a:pt x="90932" y="2133600"/>
                    <a:pt x="0" y="2042668"/>
                    <a:pt x="0" y="1930400"/>
                  </a:cubicBezTo>
                  <a:close/>
                </a:path>
              </a:pathLst>
            </a:custGeom>
            <a:solidFill>
              <a:srgbClr val="0F1B2D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505950" y="2943225"/>
            <a:ext cx="3384709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5F3E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Array queue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505950" y="3343275"/>
            <a:ext cx="3384709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B9C6D8"/>
                </a:solidFill>
                <a:latin typeface="IBM Plex Sans"/>
                <a:ea typeface="IBM Plex Sans"/>
                <a:cs typeface="IBM Plex Sans"/>
                <a:sym typeface="IBM Plex Sans"/>
              </a:rPr>
              <a:t>Simple fixed capacity (20), at the cost of O(n) shifting.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3249275" y="2676525"/>
            <a:ext cx="3819525" cy="1600200"/>
            <a:chOff x="0" y="0"/>
            <a:chExt cx="5092700" cy="21336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092700" cy="2133600"/>
            </a:xfrm>
            <a:custGeom>
              <a:avLst/>
              <a:gdLst/>
              <a:ahLst/>
              <a:cxnLst/>
              <a:rect l="l" t="t" r="r" b="b"/>
              <a:pathLst>
                <a:path w="5092700" h="21336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4889500" y="0"/>
                  </a:lnTo>
                  <a:cubicBezTo>
                    <a:pt x="5001768" y="0"/>
                    <a:pt x="5092700" y="90932"/>
                    <a:pt x="5092700" y="203200"/>
                  </a:cubicBezTo>
                  <a:lnTo>
                    <a:pt x="5092700" y="1930400"/>
                  </a:lnTo>
                  <a:cubicBezTo>
                    <a:pt x="5092700" y="2042668"/>
                    <a:pt x="5001768" y="2133600"/>
                    <a:pt x="4889500" y="2133600"/>
                  </a:cubicBezTo>
                  <a:lnTo>
                    <a:pt x="203200" y="2133600"/>
                  </a:lnTo>
                  <a:cubicBezTo>
                    <a:pt x="90932" y="2133600"/>
                    <a:pt x="0" y="2042668"/>
                    <a:pt x="0" y="1930400"/>
                  </a:cubicBezTo>
                  <a:close/>
                </a:path>
              </a:pathLst>
            </a:custGeom>
            <a:solidFill>
              <a:srgbClr val="0F1B2D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3515975" y="2943225"/>
            <a:ext cx="3384709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5F3E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Linked list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515975" y="3343275"/>
            <a:ext cx="3384709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B9C6D8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Completed requests kept in completion order.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219200" y="4467225"/>
            <a:ext cx="3819525" cy="1914525"/>
            <a:chOff x="0" y="0"/>
            <a:chExt cx="5092700" cy="25527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092700" cy="2552700"/>
            </a:xfrm>
            <a:custGeom>
              <a:avLst/>
              <a:gdLst/>
              <a:ahLst/>
              <a:cxnLst/>
              <a:rect l="l" t="t" r="r" b="b"/>
              <a:pathLst>
                <a:path w="5092700" h="25527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4889500" y="0"/>
                  </a:lnTo>
                  <a:cubicBezTo>
                    <a:pt x="5001768" y="0"/>
                    <a:pt x="5092700" y="90932"/>
                    <a:pt x="5092700" y="203200"/>
                  </a:cubicBezTo>
                  <a:lnTo>
                    <a:pt x="5092700" y="2349500"/>
                  </a:lnTo>
                  <a:cubicBezTo>
                    <a:pt x="5092700" y="2461768"/>
                    <a:pt x="5001768" y="2552700"/>
                    <a:pt x="4889500" y="2552700"/>
                  </a:cubicBezTo>
                  <a:lnTo>
                    <a:pt x="203200" y="2552700"/>
                  </a:lnTo>
                  <a:cubicBezTo>
                    <a:pt x="90932" y="2552700"/>
                    <a:pt x="0" y="2461768"/>
                    <a:pt x="0" y="2349500"/>
                  </a:cubicBezTo>
                  <a:close/>
                </a:path>
              </a:pathLst>
            </a:custGeom>
            <a:solidFill>
              <a:srgbClr val="2F6FB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485900" y="4733925"/>
            <a:ext cx="3384709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Movement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85900" y="5133975"/>
            <a:ext cx="3384709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EAF1F9"/>
                </a:solidFill>
                <a:latin typeface="IBM Plex Sans"/>
                <a:ea typeface="IBM Plex Sans"/>
                <a:cs typeface="IBM Plex Sans"/>
                <a:sym typeface="IBM Plex Sans"/>
              </a:rPr>
              <a:t>Floor by floor, driven by currentFloor.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5229225" y="4467225"/>
            <a:ext cx="3819525" cy="1914525"/>
            <a:chOff x="0" y="0"/>
            <a:chExt cx="5092700" cy="25527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092700" cy="2552700"/>
            </a:xfrm>
            <a:custGeom>
              <a:avLst/>
              <a:gdLst/>
              <a:ahLst/>
              <a:cxnLst/>
              <a:rect l="l" t="t" r="r" b="b"/>
              <a:pathLst>
                <a:path w="5092700" h="25527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4889500" y="0"/>
                  </a:lnTo>
                  <a:cubicBezTo>
                    <a:pt x="5001768" y="0"/>
                    <a:pt x="5092700" y="90932"/>
                    <a:pt x="5092700" y="203200"/>
                  </a:cubicBezTo>
                  <a:lnTo>
                    <a:pt x="5092700" y="2349500"/>
                  </a:lnTo>
                  <a:cubicBezTo>
                    <a:pt x="5092700" y="2461768"/>
                    <a:pt x="5001768" y="2552700"/>
                    <a:pt x="4889500" y="2552700"/>
                  </a:cubicBezTo>
                  <a:lnTo>
                    <a:pt x="203200" y="2552700"/>
                  </a:lnTo>
                  <a:cubicBezTo>
                    <a:pt x="90932" y="2552700"/>
                    <a:pt x="0" y="2461768"/>
                    <a:pt x="0" y="2349500"/>
                  </a:cubicBezTo>
                  <a:close/>
                </a:path>
              </a:pathLst>
            </a:custGeom>
            <a:solidFill>
              <a:srgbClr val="2F6FB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5495925" y="4733925"/>
            <a:ext cx="3384709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Checks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495925" y="5133975"/>
            <a:ext cx="3384709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EAF1F9"/>
                </a:solidFill>
                <a:latin typeface="IBM Plex Sans"/>
                <a:ea typeface="IBM Plex Sans"/>
                <a:cs typeface="IBM Plex Sans"/>
                <a:sym typeface="IBM Plex Sans"/>
              </a:rPr>
              <a:t>Floor, same-floor, capacity and empty checks; cancel by search + shift.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239250" y="4467225"/>
            <a:ext cx="3819525" cy="1914525"/>
            <a:chOff x="0" y="0"/>
            <a:chExt cx="5092700" cy="25527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092700" cy="2552700"/>
            </a:xfrm>
            <a:custGeom>
              <a:avLst/>
              <a:gdLst/>
              <a:ahLst/>
              <a:cxnLst/>
              <a:rect l="l" t="t" r="r" b="b"/>
              <a:pathLst>
                <a:path w="5092700" h="25527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4889500" y="0"/>
                  </a:lnTo>
                  <a:cubicBezTo>
                    <a:pt x="5001768" y="0"/>
                    <a:pt x="5092700" y="90932"/>
                    <a:pt x="5092700" y="203200"/>
                  </a:cubicBezTo>
                  <a:lnTo>
                    <a:pt x="5092700" y="2349500"/>
                  </a:lnTo>
                  <a:cubicBezTo>
                    <a:pt x="5092700" y="2461768"/>
                    <a:pt x="5001768" y="2552700"/>
                    <a:pt x="4889500" y="2552700"/>
                  </a:cubicBezTo>
                  <a:lnTo>
                    <a:pt x="203200" y="2552700"/>
                  </a:lnTo>
                  <a:cubicBezTo>
                    <a:pt x="90932" y="2552700"/>
                    <a:pt x="0" y="2461768"/>
                    <a:pt x="0" y="2349500"/>
                  </a:cubicBezTo>
                  <a:close/>
                </a:path>
              </a:pathLst>
            </a:custGeom>
            <a:solidFill>
              <a:srgbClr val="2F6FB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9505950" y="4733925"/>
            <a:ext cx="3384709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Complexity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505950" y="5133975"/>
            <a:ext cx="3384709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EAF1F9"/>
                </a:solidFill>
                <a:latin typeface="IBM Plex Sans"/>
                <a:ea typeface="IBM Plex Sans"/>
                <a:cs typeface="IBM Plex Sans"/>
                <a:sym typeface="IBM Plex Sans"/>
              </a:rPr>
              <a:t>Time O(1) to O(n) as analysed; space O(n + m).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3249275" y="4467225"/>
            <a:ext cx="3819525" cy="1914525"/>
            <a:chOff x="0" y="0"/>
            <a:chExt cx="5092700" cy="25527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092700" cy="2552700"/>
            </a:xfrm>
            <a:custGeom>
              <a:avLst/>
              <a:gdLst/>
              <a:ahLst/>
              <a:cxnLst/>
              <a:rect l="l" t="t" r="r" b="b"/>
              <a:pathLst>
                <a:path w="5092700" h="25527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4889500" y="0"/>
                  </a:lnTo>
                  <a:cubicBezTo>
                    <a:pt x="5001768" y="0"/>
                    <a:pt x="5092700" y="90932"/>
                    <a:pt x="5092700" y="203200"/>
                  </a:cubicBezTo>
                  <a:lnTo>
                    <a:pt x="5092700" y="2349500"/>
                  </a:lnTo>
                  <a:cubicBezTo>
                    <a:pt x="5092700" y="2461768"/>
                    <a:pt x="5001768" y="2552700"/>
                    <a:pt x="4889500" y="2552700"/>
                  </a:cubicBezTo>
                  <a:lnTo>
                    <a:pt x="203200" y="2552700"/>
                  </a:lnTo>
                  <a:cubicBezTo>
                    <a:pt x="90932" y="2552700"/>
                    <a:pt x="0" y="2461768"/>
                    <a:pt x="0" y="2349500"/>
                  </a:cubicBezTo>
                  <a:close/>
                </a:path>
              </a:pathLst>
            </a:custGeom>
            <a:solidFill>
              <a:srgbClr val="2F6FB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3515975" y="4733925"/>
            <a:ext cx="3384709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DSA takeaway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515975" y="5133975"/>
            <a:ext cx="3384709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EAF1F9"/>
                </a:solidFill>
                <a:latin typeface="IBM Plex Sans"/>
                <a:ea typeface="IBM Plex Sans"/>
                <a:cs typeface="IBM Plex Sans"/>
                <a:sym typeface="IBM Plex Sans"/>
              </a:rPr>
              <a:t>Basic structures solve real-world-style problems.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19200" y="9324975"/>
            <a:ext cx="16325088" cy="299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6B7A8F"/>
                </a:solidFill>
                <a:latin typeface="IBM Plex Sans"/>
                <a:ea typeface="IBM Plex Sans"/>
                <a:cs typeface="IBM Plex Sans"/>
                <a:sym typeface="IBM Plex Sans"/>
              </a:rPr>
              <a:t>Elevator Request Management System · 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rect">
            <a:fillToRect l="100000" t="100000"/>
          </a:path>
          <a:tileRect r="-100000" b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366A7A-6A3A-5E49-993E-FE490BCFF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5C0EEEB5-D2FC-0752-322D-CD796652B65C}"/>
              </a:ext>
            </a:extLst>
          </p:cNvPr>
          <p:cNvSpPr txBox="1"/>
          <p:nvPr/>
        </p:nvSpPr>
        <p:spPr>
          <a:xfrm>
            <a:off x="1600200" y="1243013"/>
            <a:ext cx="16325088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4200" b="1" dirty="0">
                <a:solidFill>
                  <a:srgbClr val="0F1B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GIT HUB REPOSITORY LINK</a:t>
            </a: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B60E419D-82AE-2453-C19B-E3A14C6E0D4B}"/>
              </a:ext>
            </a:extLst>
          </p:cNvPr>
          <p:cNvGrpSpPr/>
          <p:nvPr/>
        </p:nvGrpSpPr>
        <p:grpSpPr>
          <a:xfrm>
            <a:off x="1371600" y="2171700"/>
            <a:ext cx="11810999" cy="5257800"/>
            <a:chOff x="0" y="0"/>
            <a:chExt cx="5125769" cy="24384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BC417494-9F1C-ACD4-148C-6C309B82D7E3}"/>
                </a:ext>
              </a:extLst>
            </p:cNvPr>
            <p:cNvSpPr/>
            <p:nvPr/>
          </p:nvSpPr>
          <p:spPr>
            <a:xfrm>
              <a:off x="0" y="0"/>
              <a:ext cx="5125769" cy="2438400"/>
            </a:xfrm>
            <a:custGeom>
              <a:avLst/>
              <a:gdLst/>
              <a:ahLst/>
              <a:cxnLst/>
              <a:rect l="l" t="t" r="r" b="b"/>
              <a:pathLst>
                <a:path w="5092700" h="21336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4889500" y="0"/>
                  </a:lnTo>
                  <a:cubicBezTo>
                    <a:pt x="5001768" y="0"/>
                    <a:pt x="5092700" y="90932"/>
                    <a:pt x="5092700" y="203200"/>
                  </a:cubicBezTo>
                  <a:lnTo>
                    <a:pt x="5092700" y="1930400"/>
                  </a:lnTo>
                  <a:cubicBezTo>
                    <a:pt x="5092700" y="2042668"/>
                    <a:pt x="5001768" y="2133600"/>
                    <a:pt x="4889500" y="2133600"/>
                  </a:cubicBezTo>
                  <a:lnTo>
                    <a:pt x="203200" y="2133600"/>
                  </a:lnTo>
                  <a:cubicBezTo>
                    <a:pt x="90932" y="2133600"/>
                    <a:pt x="0" y="2042668"/>
                    <a:pt x="0" y="1930400"/>
                  </a:cubicBezTo>
                  <a:close/>
                </a:path>
              </a:pathLst>
            </a:custGeom>
            <a:solidFill>
              <a:srgbClr val="0F1B2D"/>
            </a:solid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36" name="TextBox 36">
            <a:extLst>
              <a:ext uri="{FF2B5EF4-FFF2-40B4-BE49-F238E27FC236}">
                <a16:creationId xmlns:a16="http://schemas.microsoft.com/office/drawing/2014/main" id="{B46F7DCF-DC51-3AE6-4320-9C5976FC6279}"/>
              </a:ext>
            </a:extLst>
          </p:cNvPr>
          <p:cNvSpPr txBox="1"/>
          <p:nvPr/>
        </p:nvSpPr>
        <p:spPr>
          <a:xfrm>
            <a:off x="1219200" y="9324975"/>
            <a:ext cx="16325088" cy="299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6B7A8F"/>
                </a:solidFill>
                <a:latin typeface="IBM Plex Sans"/>
                <a:ea typeface="IBM Plex Sans"/>
                <a:cs typeface="IBM Plex Sans"/>
                <a:sym typeface="IBM Plex Sans"/>
              </a:rPr>
              <a:t>Elevator Request Management System · 19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4E7118B-B20F-103B-5B47-753FFAC1DBBB}"/>
              </a:ext>
            </a:extLst>
          </p:cNvPr>
          <p:cNvSpPr txBox="1"/>
          <p:nvPr/>
        </p:nvSpPr>
        <p:spPr>
          <a:xfrm>
            <a:off x="3352800" y="3771900"/>
            <a:ext cx="4876800" cy="1981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6675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19200" y="9324975"/>
            <a:ext cx="16325088" cy="299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6B7A8F"/>
                </a:solidFill>
                <a:latin typeface="IBM Plex Sans"/>
                <a:ea typeface="IBM Plex Sans"/>
                <a:cs typeface="IBM Plex Sans"/>
                <a:sym typeface="IBM Plex Sans"/>
              </a:rPr>
              <a:t>Elevator Request Management System · </a:t>
            </a:r>
            <a:r>
              <a:rPr lang="en-US" dirty="0">
                <a:solidFill>
                  <a:srgbClr val="6B7A8F"/>
                </a:solidFill>
                <a:latin typeface="IBM Plex Sans"/>
                <a:ea typeface="IBM Plex Sans"/>
                <a:cs typeface="IBM Plex Sans"/>
                <a:sym typeface="IBM Plex Sans"/>
              </a:rPr>
              <a:t>19</a:t>
            </a:r>
            <a:endParaRPr lang="en-US" sz="1800" dirty="0">
              <a:solidFill>
                <a:srgbClr val="6B7A8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4403448" y="4062064"/>
            <a:ext cx="10379352" cy="22313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7430"/>
              </a:lnSpc>
            </a:pPr>
            <a:r>
              <a:rPr lang="en-US" sz="15157" b="1" dirty="0">
                <a:solidFill>
                  <a:srgbClr val="0F1B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AE2A6CFB12E5469BC53FE4417C91C8" ma:contentTypeVersion="5" ma:contentTypeDescription="Create a new document." ma:contentTypeScope="" ma:versionID="0a23cee9e83f44573ffd12cfcc7f0ab8">
  <xsd:schema xmlns:xsd="http://www.w3.org/2001/XMLSchema" xmlns:xs="http://www.w3.org/2001/XMLSchema" xmlns:p="http://schemas.microsoft.com/office/2006/metadata/properties" xmlns:ns3="80be7388-b076-401e-8b30-41023147d9c5" targetNamespace="http://schemas.microsoft.com/office/2006/metadata/properties" ma:root="true" ma:fieldsID="5ee1f8fd20b14c43d2a473f012bfbc17" ns3:_="">
    <xsd:import namespace="80be7388-b076-401e-8b30-41023147d9c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be7388-b076-401e-8b30-41023147d9c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0be7388-b076-401e-8b30-41023147d9c5" xsi:nil="true"/>
  </documentManagement>
</p:properties>
</file>

<file path=customXml/itemProps1.xml><?xml version="1.0" encoding="utf-8"?>
<ds:datastoreItem xmlns:ds="http://schemas.openxmlformats.org/officeDocument/2006/customXml" ds:itemID="{621818AE-9A1F-42C5-8B62-881FEA379AA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0be7388-b076-401e-8b30-41023147d9c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CB5FBE7-FD64-4B79-8D55-E8E18EDEAC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AB21B8E-7FF3-4407-9EA2-6AB1C9D67F9A}">
  <ds:schemaRefs>
    <ds:schemaRef ds:uri="http://www.w3.org/XML/1998/namespace"/>
    <ds:schemaRef ds:uri="http://schemas.microsoft.com/office/infopath/2007/PartnerControls"/>
    <ds:schemaRef ds:uri="http://purl.org/dc/dcmitype/"/>
    <ds:schemaRef ds:uri="http://purl.org/dc/elements/1.1/"/>
    <ds:schemaRef ds:uri="80be7388-b076-401e-8b30-41023147d9c5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2249</Words>
  <Application>Microsoft Office PowerPoint</Application>
  <PresentationFormat>Custom</PresentationFormat>
  <Paragraphs>499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JetBrains Mono Bold</vt:lpstr>
      <vt:lpstr>IBM Plex Sans Bold</vt:lpstr>
      <vt:lpstr>JetBrains Mono</vt:lpstr>
      <vt:lpstr>IBM Plex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dsa mini project final</dc:title>
  <dc:creator>Aditya</dc:creator>
  <cp:lastModifiedBy>SOUMYA GUPTA - 70562500151</cp:lastModifiedBy>
  <cp:revision>4</cp:revision>
  <dcterms:created xsi:type="dcterms:W3CDTF">2006-08-16T00:00:00Z</dcterms:created>
  <dcterms:modified xsi:type="dcterms:W3CDTF">2026-10-15T06:54:00Z</dcterms:modified>
  <dc:identifier>DAHXWslNWSk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0x01010053AE2A6CFB12E5469BC53FE4417C91C8</vt:lpwstr>
  </property>
</Properties>
</file>